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cerca de 1 min] ABERTURA Boa noite, pessoal! Antes de começar, uma pergunta rápida: levanta a mão quem já recebeu um alerta de erro 500 em produção e a primeira coisa que fez foi abrir o servidor e dar um tail no log. (esperar as mãos subirem, sorrir) Pois é. Eu já fiz isso muitas vezes, e é exatamente por isso que essa palestra existe. Meu nome é Jhousyfran. Nos próximos 50 minutos a gente vai sair do “var_dump e reza” para enxergar de verdade o que acontece dentro de uma aplicação PHP em produção. Vai ter conceito, vai ter ferramenta, vai ter uma live demo com Laravel e, no final, um caminho prático para vocês começarem na segunda-feira. DICA DE PALCO Não leia o slide. Deixe o título aparecer, faça a pergunta e só depois avance. A mão levantada da plateia é o seu primeiro ponto de conexão.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cerca de 1,5 min] Rapidinho sobre mim, porque isso explica por que eu estou falando de PHP num tema de observabilidade. Comecei como dev: PHP, JavaScript, Node, React. Escrevi muito código que foi para produção. Depois migrei para infraestrutura, com Kubernetes, Terraform e GitOps, e hoje trabalho como DevOps e SRE, com observabilidade e FinOps no centro do trabalho: Datadog, Grafana, OpenTelemetry. [AJUSTE PESSOAL: troque a frase abaixo por um caso real seu. Um incidente concreto de PHP em produção, com o horário e a sensação, vale mais do que qualquer slide.] O ponto que eu quero deixar é que eu vivi os dois lados da mesa. Sei como é ser o dev que recebe o chamado “está lento” sem nenhuma pista. E sei como é ser o SRE que precisa responder “onde exatamente?” com dado, e não com palpite. TRANSIÇÃO Então, da minha experiência para a de vocês: isso aqui vai soar familiar. DICA DE PALCO Não passe de 90 segundos neste slide. A plateia quer chegar na parte prática.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cerca de 1,5 min] Deixa eu mostrar uma tela que provavelmente todo mundo aqui já viu. (apontar para o terminal) Três da manhã, alguém avisou no grupo que o sistema caiu. Você abre o servidor, dá um tail no log e encontra isso: Server Error, Server Error, Server Error. O log confirma que existe um problema. Só que ele não responde nenhuma das perguntas que importam: qual request? Qual usuário? Qual serviço? Em que ponto da requisição o tempo foi embora? E aí começam as frases do lado direito. (ler com humor, uma por uma) “Funciona na minha máquina.” “Ontem estava rápido.” “Deve ser o banco.” Todas elas são palpites. A gente passa horas debatendo palpites porque não tem dado para decidir. Esse é o problema que eu quero resolver com vocês hoje. DICA DE PALCO Faça uma pausa depois de “Deve ser o banco”. Normalmente a plateia ri, e isso quebra o gelo.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 · cerca de 1 min] Então essa é a promessa da palestra. Ao final, vocês vão sair sabendo onde está o problema, e não apenas que ele existe. A diferença entre essas duas frases é a diferença entre três horas de call de madrugada e cinco minutos olhando um gráfico. O combinado é o seguinte. Primeiro, o conceito, sem jargão. Depois, a ferramenta, que é o OpenTelemetry e como ele se encaixa em Laravel e Symfony. Depois a demo, ao vivo, onde a gente instrumenta uma aplicação e encontra o culpado. Por fim, o primeiro passo para vocês levarem para o time na segunda-feira. Pode perguntar durante a demo. Se eu travar, a culpa é do Wi-Fi. TRANSIÇÃO Vamos começar pelo problema, com uma distinção que parece detalhe, mas muda tudo. DICA DE PALCO Este é o slide de impacto da abertura. Fale a frase principal devagar, olhando para a plateia, antes de avançar.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 · cerca de 2 min] Vamos começar pela distinção que parece frescura de nomenclatura, mas muda a forma como a gente trabalha. Monitoring, ou monitoramento, é saber que quebrou. Você define de antemão o que importa: CPU, memória, taxa de erro 500. Quando um número cruza o limite, o alerta dispara. Isso é essencial e ninguém está dizendo para abandonar. O limite do monitoring é que ele só responde perguntas que você já previu. É como a luz de óleo acesa no painel do carro: ela avisa que tem um problema, mas não diz qual. Observability, ou observabilidade, é a capacidade de entender o que está acontecendo dentro do sistema olhando apenas para o que ele emite. Em vez de “está lento?”, a pergunta passa a ser “por que esta request específica ficou lenta?”. É o mecânico com o scanner ligado no motor. A frase que resume: monitoring responde o que você previu; observability responde o que você ainda não sabia perguntar. PONTO DE ATENÇÃO Evite a armadilha de apresentar observability como substituta do monitoring. Uma complementa a outra. Alertas continuam necessários. TRANSIÇÃO E como a gente consegue esse “scanner”? Com três tipos de dado, os famosos pilares.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 cerca de 2 min] Os três pilares. Provavelmente vocês já ouviram isso, então vou ser direto e conectar cada um com a realidade de quem escreve PHP. Logs: o que aconteceu. São registros de eventos, e a maioria de vocês já tem isso com Monolog, o logger padrão do Laravel e muito usado no Symfony. O problema é quando o log é uma linha solta, sem contexto sobre de qual request veio. Métricas: quanto e com que frequência. Número agregado ao longo do tempo: requests por segundo, latência no percentil 95, taxa de erro. São baratas, ótimas para alertar e para ver tendência. Mas elas não dizem qual request foi a lenta. Traces: por onde a request passou. Um trace é a viagem completa de uma requisição, dividida em etapas chamadas spans: o controller, a query no banco, a chamada à API externa, o cache. Cada span tem início, fim e duração. A mensagem principal vem no rodapé: um pilar sozinho conta um pedaço. A mágica acontece quando eles estão correlacionados, ou seja, quando do trace eu consigo pular para o log daquela exata request. Guardem essa ideia, porque ela volta na demo. TRANSIÇÃO Agora, por que fazer isso em PHP é um desafio específico?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 · cerca de 2 min] Aqui entra o que é específico do nosso mundo. Quatro dificuldades. Primeira, PHP é stateless. No modelo clássico com PHP-FPM, cada request nasce, executa e morre. Não existe um processo de longa duração guardando contexto como existiria numa aplicação que vive na memória. Então o contexto de observabilidade, que é o “quem sou eu e de quem eu vim”, precisa ser criado e carregado de forma explícita. (Nota: com Octane, Swoole ou RoadRunner o modelo muda, mas a maioria das aplicações que eu vejo ainda roda em FPM.) Segunda, filas e workers. O Job que você despacha no controller roda segundos ou minutos depois, em outro processo, às vezes em outra máquina. Se nada liga os dois, quando o job falha você não sabe qual request o originou. Terceira, muitas dependências. Uma request de checkout típica toca banco, cache, uma API de pagamento, talvez outro serviço interno. O tempo pode estar em qualquer um desses lugares. Quarta, logs soltos. Sem um identificador comum, cada linha de log é uma ilha. Essas quatro dores têm uma resposta em comum, e ela é o trace_id. TRANSIÇÃO Vou mostrar isso num cenário que provavelmente vocês reconhecem.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[11:00 · cerca de 2 min] Vamos a um cenário concreto. Um endpoint de checkout. O usuário clica em comprar, a request volta com 200 OK, ou seja, tudo certo do ponto de vista do HTTP, mas demora demais. Olhem o caminho que essa request faz: passa pelo Laravel, consulta o Redis, vai ao MySQL, chama a API do gateway de pagamento e ainda despacha um job para a fila. Cinco lugares onde o tempo pode ter ido embora. Agora a pergunta para a plateia: qual desses cinco é o culpado? (pausa, deixar chutarem, alguém sempre fala “banco”) Sem trace, o debate vira disputa de opinião. O dev de backend jura que o código está bom, o DBA jura que o banco está bom, o time da integração jura que o gateway está bom. Cada caixa é um suspeito e todo mundo tem um álibi. Com trace, a conversa muda para “o span do MySQL levou tanto, vamos olhar essa query”. A discussão sai do campo da opinião e entra no campo do dado. [AJUSTE PESSOAL: se você tiver uma história real de uma discussão assim, de um incidente em que dois times passaram horas se acusando, conte aqui em 20 segundos. É o ponto de maior identificação.] TRANSIÇÃO E o que faz essas caixas virarem uma história única? Um identificador.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cerca de 1 min] Se eu pudesse levar uma única ideia desta primeira metade para casa com vocês, seria esta: o trace_id. Funciona assim. Quando a request chega, é gerado um identificador único, o trace_id. Cada etapa que acontece dentro dessa request, o controller, a query, a chamada ao gateway, vira um span, e todos os spans carregam o mesmo trace_id. Quando a request precisa chamar outro serviço, esse identificador viaja junto num cabeçalho HTTP. Existe um padrão para isso, definido pelo W3C, chamado Trace Context, e o cabeçalho se chama traceparent. O resultado é que, dado um trace_id, eu consigo reconstruir a viagem inteira: o caminho, os tempos e, se eu colocar o mesmo identificador nos logs, as mensagens daquela request específica. É isso que transforma cinco caixas soltas numa história com começo, meio e fim. TRANSIÇÃO Agora a pergunta prática: como a gente gera tudo isso em PHP sem reescrever a aplicação? A resposta se chama OpenTelemetry.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 · cerca de 2 min] OpenTelemetry, ou OTel para os íntimos. Vou ser breve porque o importante é o que ele faz por nós. O que é: um padrão aberto, projeto da CNCF, a mesma fundação do Kubernetes, resultado da fusão de dois projetos anteriores, o OpenTracing e o OpenCensus. Ele define como gerar telemetria, ou seja, traces, métricas e logs, e como transportá-la, com um protocolo chamado OTLP. A grande vantagem, e eu falo isso como quem já pagou conta de ferramenta de observabilidade: você instrumenta uma vez. Hoje você manda para o Grafana, amanhã sua empresa decide migrar para o Datadog, ou o contrário. O código da aplicação não muda. Só muda para onde os dados são enviados. Isso tira a dependência de fornecedor da sua base de código. Uma observação importante de honestidade: o OpenTelemetry gera e transporta dados. Ele não é uma tela bonita. Você ainda precisa de um backend para armazenar e visualizar, e é isso que veremos mais adiante. PONTO DE ATENÇÃO Se alguém perguntar “OTel substitui o Datadog?”, a resposta é: não, ele substitui o agente proprietário de instrumentação, não o produto de visualização. TRANSIÇÃO Ok, mas e em PHP? Porque eu sei que tem gente na plateia pensando: “isso é coisa de Java e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 · cerca de 1,5 min] Respondendo a quem pensou “isso é coisa de Java e Go”: a documentação oficial do OpenTelemetry para PHP lista traces, métricas e logs como estáveis. Estável, nessa linguagem de especificação, significa que as APIs que você escreve hoje não vão quebrar por baixo de você. É o selo de que dá para colocar em produção sem medo de refatorar tudo no mês que vem. Segundo ponto: auto-instrumentação. Ela funciona por meio de uma extensão nativa em C, a ext-opentelemetry, que permite colocar “ganchos” em funções e métodos sem editar o código. Instala com PECL ou, em Docker, com o php-extension-installer. A documentação oficial pede PHP 8.0 ou superior para auto-instrumentação, e os pacotes de Laravel e Symfony que a gente vai ver pedem PHP 8.1 ou superior. Terceiro: as peças já existem no Composer. Você instala o pacote do seu framework e os spans começam a aparecer. PONTO DE ATENÇÃO Mencione a fonte do slide. Quem for conferir depois vai achar a mesma tabela de status na documentação oficial. CHECAGEM ANTES DE SUBIR NO PALCO Dê uma olhada em opentelemetry.io/docs/languages/php uns dias antes. Status e versões podem mudar, e o slide diz “estável” com base na página consultada em outubro de 2026. TRANSIÇÃO Vamos ver como isso se encaixa no Laravel e no Symfony.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[17:30 · cerca de 2 min] Na prática, a integração é uma linha de Composer. Para Laravel, o pacote open-telemetry/opentelemetry-auto-laravel. Para Symfony, o open-telemetry/opentelemetry-auto-symfony. Eles usam a extensão que instalamos antes para pendurar ganchos no ciclo de vida do framework, e a partir daí os spans de request, de banco, de cache e de chamadas HTTP aparecem sem você reescrever o código de negócio. No momento em que eu preparei esta palestra, o pacote do Laravel declarava suporte do Laravel 6 até o 13. Para logs, o pacote auto-psr3. Ele conversa com qualquer logger que siga a interface PSR-3, o que inclui o Monolog. Ele tem dois modos. No modo inject, ele acrescenta o trace_id e o span_id às suas mensagens de log. No modo export, ele também converte a mensagem para o formato de log do OpenTelemetry para enviar a um backend compatível. É o que dá a correlação que mencionei: do trace eu pulo para o log daquela request. Em Symfony a lógica é a mesma: o pacote registra o hook no HttpKernel, cria o span raiz e cuida da propagação. Não precisa decorar nome de pacote. Os slides ficam com vocês e a lista de links está no final. PONTO DE ATENÇÃO O que é “automático” cobre o que o framework e as bibliotecas conhecidas fazem. Regra de negócio sua, como “calcular frete”, só vira span se você marcar manualmente. Tem um atributo para isso, o WithSpan, e a gente pode ver na demo se sobrar tempo. CHECAGEM ANTES DE SUBIR NO PALCO Confirme no Packagist a versão do pacote e as versões de Laravel/Symfony que a sua demo usa. TRANSIÇÃO Falta o ponto que mais dá dor de cabeça em PHP: o contexto atravessando processos.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[19:30 · cerca de 2 min] Esse é o slide mais importante do bloco técnico, porque propagação é onde as implementações costumam quebrar. Propagar contexto é fazer o trace_id sobreviver à fronteira entre processos. Vejam as três linhas. Primeira linha, Laravel chamando outro serviço por HTTP. É o caso mais simples: o contexto vai num cabeçalho, o traceparent, definido pelo W3C. As bibliotecas HTTP instrumentadas fazem isso por você, e o serviço B, se também estiver instrumentado, continua o mesmo trace. Segunda linha, a fila. Esse é o ponto de atenção, e eu prefiro ser honesto aqui em vez de prometer mágica. Um job roda em outro processo, depois. Para ele continuar o mesmo trace, o contexto precisa viajar dentro do payload do job. Dependendo da sua versão e da sua fila, parte disso pode já ser feito pela instrumentação, parte pode exigir que você injete o traceparent ao despachar e o extraia ao executar. Teste na sua stack antes de assumir. Terceira linha, o log. Com o pacote PSR-3, o trace_id e o span_id entram na linha de log, e é isso que permite sair do trace direto para a mensagem daquela request. CHECAGEM ANTES DE SUBIR NO PALCO Valide no seu ambiente de demo se o trace atravessa o job. Se atravessar, vale mostrar. Se não atravessar, use este slide para ensinar o caminho manual, que também é uma boa história. TRANSIÇÃO Juntando as peças, o desenho geral é simples.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[21:30 · cerca de 1,5 min] Juntando as peças, o desenho tem três caixas. Caixa um, a aplicação PHP. A extensão e o SDK geram os spans e os empacotam no formato OTLP, o protocolo padrão do OpenTelemetry. Caixa dois, o Collector. É um serviço do próprio projeto OpenTelemetry que recebe os dados, pode filtrar, amostrar, acrescentar atributos e roteá-los para um ou mais destinos. Tecnicamente ele é opcional: a aplicação pode exportar direto para o backend. Mas eu recomendo ter um, e em PHP isso pesa ainda mais, por um motivo: como a request morre rápido, você quer que o envio dos spans seja o mais curto possível. Um Collector perto da aplicação, na mesma rede ou como sidecar, recebe rápido e cuida de retentativas e envio em lote para o destino. Caixa três, o backend, que armazena e mostra. Qualquer um que entenda OTLP serve. A vantagem prática: se amanhã o time decidir mudar de ferramenta, a aplicação não muda. Só o Collector passa a apontar para outro lugar. DICA DE PALCO Se tiver um quadro ou ponteiro, aponte as caixas uma a uma. Este é um slide em que o gesto ajuda mais que o texto. TRANSIÇÃO E quais são as opções reais para essa terceira caixa?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[23:00 · cerca de 2 min] Sobre a terceira caixa, o backend. Eu vou ser pragmático e neutro, porque a escolha depende de contexto. Grafana com Tempo para traces e Loki para logs: é uma stack aberta, que reúne os três sinais no mesmo lugar e permite pular de um para o outro. A contrapartida é que você, ou seu time de plataforma, opera e escala isso. Datadog: SaaS completo, com pouca operação para o seu time e uma experiência muito polida. A contrapartida é o custo, que cresce com o volume de dados ingeridos. Jaeger: ótimo para começar, rodar em docker na sua máquina e só olhar traces. É um bom ponto de partida de estudo. Ele é focado em traces, então logs e métricas ficam por sua conta. Uma observação de quem trabalha com FinOps no dia a dia: observabilidade pode virar uma das maiores linhas da conta de nuvem sem ninguém notar. O volume de spans e de logs que você envia define o custo. Por isso o Collector e a amostragem, que é enviar só uma parte dos traces, valem a conversa desde cedo. Instrumente tudo, mas decida conscientemente o que guardar. [AJUSTE PESSOAL: se você tiver uma história de custo de observabilidade que surpreendeu um time, sem expor dados da sua empresa, este é o lugar.] PARA A DEMO Eu sugiro a stack Grafana com Tempo, porque é o seu terreno e aparece bem no projetor. Se preferir menos infraestrutura para subir, o Jaeger é mais leve. Escolha um só e ensaie. TRANSIÇÃO Chega de slide. Vamos ver isso funcionando.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 demo completa: cerca de 18 a 20 min, até 44:00] CHECKLIST ANTES DA PALESTRA (faça no hotel ou no camarim, não no palco) - docker compose rodando: app Laravel, Collector e o backend escolhido (Grafana com Tempo, por exemplo). - Os endpoints da demo respondem. Faça pelo menos uma request em cada, para aquecer o cache. - Fonte do terminal e do editor em tamanho grande (20 pt ou mais). Tema escuro costuma aparecer melhor no projetor. - Notificações do sistema desligadas. - PLANO B: um vídeo de 2 minutos da demo funcionando, e prints de cada etapa. Se a rede ou o Docker falharem, você não perde o fio. COMO ABRIR Pessoal, agora é a parte em que eu corro o risco de o Wi-Fi me trair. (sorrir) Vamos fazer em cinco passos: ver a app, provocar uma request lenta, instrumentar, olhar o trace e achar o culpado. DICA DE PALCO Narre o que você vai fazer antes de fazer. Fale em voz alta cada comando. Quem está no fundo da sala só acompanha se você disser o que está acontecendo. TRANSIÇÃO Primeiro, a aplicação.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[25:00 · cerca de 2 min] NA TELA Fique neste slide enquanto explica. Aponte as caixas da esquerda para a direita, seguindo as setas. O QUE DIZER “Antes de abrir a aplicação, um mapa rápido do que está rodando aqui. São cinco peças e cada uma tem um papel só.” 1. Laravel. É a nossa aplicação: PHP-FPM com a extensão do OpenTelemetry e o SDK. Ela gera os traces e os logs, e só isso. Não guarda nada e não mostra nada. 2. Collector. É a única peça que a aplicação conhece. Ela manda tudo para ele em OTLP, pela porta 4318, e ele roteia: os traces vão para o Tempo e os logs vão para o Loki. Se amanhã a gente trocar de backend, a mudança acontece aqui, não no código da aplicação. 3. Tempo. É onde os traces moram. Guarda e permite buscar por trace_id ou por serviço. 4. Loki. É o equivalente para logs. Em vez de indexar o texto inteiro de cada mensagem, ele indexa só rótulos, como o serviço e o nível do log, e isso o deixa barato de operar. 5. Grafana. É a tela, e não guarda dado nenhum. Ele consulta o Tempo e o Loki, e por isso a seta volta. É ele que deixa pular do trace para o log da mesma request. Frase de fechamento: “A aplicação só fala com o Collector. O resto pode ser trocado sem tocar no código.” PONTO DE ATENÇÃO - A seta do Grafana aponta para os bancos porque ele consulta; ninguém envia dados para o Grafana. É um ponto que costuma confundir. - Esta stack é de estudo: Tempo e Loki em modo single binary, com armazenamento local. Em produção você pensaria em armazenamento de objetos, retenção e alta disponibilidade. - Se alguém perguntar “e no Datadog?”, a resposta é que tudo isso é uma caixa só, paga por volume. A ideia aqui é mostrar as partes para a plateia entender o que acontece por baixo. CHECAGEM ANTES DE SUBIR NO PALCO Confirme no seu compose que os logs chegam ao Loki pelo Collector (pacote PSR-3 em modo export). Se na sua demo os logs forem lidos do arquivo por outro agente, como o Alloy, mude a seta de logs no slide para sair dele. TRANSIÇÃO “Agora sim, vamos olhar a aplicação.”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 · cerca de 1,5 min] NO TERMINAL / NA TELA 1. Mostre rapidamente o docker compose ps com os cinco serviços de pé: app, collector, tempo, loki e grafana. 2. Abra o navegador (ou use curl) em GET /api/pedidos e mostre que a resposta vem. O QUE DIZER “Aqui está nossa aplicação. É um Laravel simples, um endpoint de pedidos que devolve o nome do cliente e a quantidade de itens de cada pedido. Do lado dela, a stack que acabei de mostrar: Collector, Tempo, Loki e Grafana. Nada de mágico: é o que a gente vai ter em qualquer ambiente real.” (Mostre o Grafana vazio por 5 segundos. “Ainda não chegou nenhum trace. Isso vai mudar.”) PONTO DE ATENÇÃO Não explique o docker compose linha a linha. Quem precisa saber disso vai olhar o repositório depois. [AJUSTE: se você for publicar o repositório da demo, deixe o link para o slide de recursos.] TRANSIÇÃO “Agora vamos fazer ela sofrer um pouco.”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[27:00 · cerca de 3 min] NA TELA 1. Mostre este código no editor (ou deixe o slide). 2. Chame GET /api/pedidos algumas vezes e mostre o tempo de resposta. Anote o número que aparecer: você vai comparar depois. 3. Abra o laravel.log e mostre que não tem nenhum erro. O QUE DIZER “Esse é o código. Um controller de oito linhas. Pega cem pedidos, e para cada um devolve o nome do cliente e a contagem de itens. Alguém aqui já vê o problema?” (pausa; em plateia de devs PHP, sempre aparece alguém que grita “N+1”. Se aparecer, elogie e diga “vamos ver se o dado confirma”.) “Repara que não tem erro nenhum. O log está limpo. A request responde 200. Só que demora. E é exatamente aqui que a maioria das equipes entra no modo palpite: ‘será que é o servidor? será que é o banco?’” PONTO DE ATENÇÃO O N+1 está em cliente e itens: sem eager loading, cada pedido dispara consultas extras para o cliente e para os itens. Não revele isso ainda. Deixe o trace mostrar. TRANSIÇÃO “Em vez de adivinhar, vamos colocar instrumentação.”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 · cerca de 5 min] ANTES DE SUBIR NO PALCO Deixe a extensão já instalada na imagem Docker e os pacotes já no composer.json. Instalar ao vivo costuma demorar e depende de rede. O que você mostra ao vivo é o resultado: o diff do composer.json e do .env. Se o Composer estiver com cache e a internet estiver boa, aí sim vale rodar o composer require na frente da plateia, que impressiona. Nota técnica: dependendo da combinação de pacotes, o SDK pede um cliente HTTP compatível com PSR-18 e fábricas PSR-17, como guzzlehttp/guzzle e nyholm/psr7. Teste o composer install do zero no seu ambiente de demo. NA TELA 1. Mostre o composer.json com os três pacotes: sdk, exporter-otlp e opentelemetry-auto-laravel. 2. Mostre a extensão carregada: php --ri opentelemetry (ou php -m | grep opentelemetry). 3. Mostre o .env com as cinco variáveis. 4. Reinicie o container da app para as variáveis valerem. 5. Mostre o controller de novo, sem nenhuma alteração. O QUE DIZER “Três coisas. A extensão, os pacotes do Composer e algumas variáveis de ambiente que dizem quem é o serviço e para onde mandar os dados. Reparem que eu não toquei no controller. Nenhuma linha de código de negócio mudou. É o framework sendo instrumentado por fora.” “As variáveis: OTEL_PHP_AUTOLOAD_ENABLED liga o SDK automaticamente. OTEL_SERVICE_NAME é o nome que vai aparecer no dashboard. O resto diz que o protocolo é OTLP e aponta para o Collector.” PLANO B Se algo falhar nesse passo, não debugue no palco. Diga “isso aqui eu deixei pronto”, troque para o ambiente que já estava funcionando, ou passe para os prints. TRANSIÇÃO “Agora a parte boa: fazer a request de novo e olhar o Grafana.”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[35:00 · cerca de 4 min] NA TELA 1. Faça GET /api/pedidos duas ou três vezes. 2. Abra o Grafana, vá em Explore e escolha a fonte Tempo. 3. Busque pelo serviço. Em TraceQL, algo como: { resource.service.name = "demo-pedidos" } 4. Abra o trace mais recente. 5. Percorra a cascata de cima para baixo: o span raiz da request, depois os filhos. O QUE DIZER “Chegou. Este é o trace dessa request. A barra de cima é a request inteira. Cada barra abaixo é um span, uma etapa. O comprimento é o tempo.” (Dê tempo para a plateia absorver. Depois aponte os blocos repetidos.) “Reparem nessa escadinha de queries. Não é uma consulta ao banco, são dezenas, uma atrás da outra. Eu não precisei adivinhar, eu consigo contar.” O MOMENTO “AHA” É aqui que a sala sente a diferença entre palpite e dado. Faça uma pausa, deixe o silêncio trabalhar. O slide é uma ilustração para o caso de o Grafana falhar. Se o Grafana estiver funcionando, volte do slide para a tela real e nem mostre este. PLANO B Se o trace não aparecer: verifique rapidamente se o Collector está de pé (docker compose ps) e se o exporter aponta para a porta 4318. Se não resolver em 30 segundos, use o print do trace e siga em frente. Não debugue no palco. TRANSIÇÃO “Agora vamos nomear o culpado.”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[39:00 · cerca de 3 min] NA TELA 1. No trace, conte (ou deixe o Grafana contar) os spans de banco. Com limit(100), a conta é: 1 query de pedidos, 100 de clientes e 100 de itens, 201 no total. Se você mudar o limit ou o código, ajuste o número do slide. 2. No controller, troque a primeira linha para usar eager loading: Pedido::with(['cliente', 'itens'])-&gt;limit(100)-&gt;get() 3. Chame o endpoint de novo e compare com o tempo que você anotou no passo 2. 4. Abra o novo trace: agora são 3 queries. O QUE DIZER “Aí está o culpado. É um N+1. A gente pede os pedidos numa query, e depois, para cada pedido, uma query para o cliente e outra para os itens. Cem pedidos, duzentas queries extras. E olhem que nenhum log reclamou disso, porque tecnicamente não tem erro nenhum.” “Corrigi com uma linha: eager loading. De 201 para 3 queries. E o melhor: eu não precisei de achismo, nem de discussão sobre ser o banco ou o servidor. O trace apontou o lugar exato.” DICA EXTRA PARA DEVS LARAVEL Mencione que o Laravel tem Model::preventLazyLoading(), que lança exceção em desenvolvimento quando alguém faz lazy loading. É uma boa defesa preventiva. O trace é a defesa em produção. PONTO DE ATENÇÃO O ponto da demo não é “ensinar eager loading”, que todo mundo aqui já conhece. É mostrar que, sem observabilidade, esse problema passaria despercebido até virar incidente. TRANSIÇÃO “Se ainda houver tempo, um bônus que une os três pilares.”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[42:00 · cerca de 2 min · CORTE ESTE SLIDE SE ESTIVER ATRASADO] ANTES DE SUBIR NO PALCO Este bônus só vale se você testou antes. O pacote opentelemetry-auto-psr3 tem dois modos, inject e export. O modo inject troca os marcadores {trace_id} e {span_id} da mensagem pelos valores reais. Teste com o Log do Laravel na sua versão e confirme que o trace_id que aparece no log é o mesmo do trace no Grafana. Os identificadores do slide são exemplos. Se você tiver tempo e quiser fechar o ciclo no Grafana, configure no datasource do Loki o campo derivado para o trace_id, que liga o log ao Tempo com um clique. É um acabamento bonito, mas dá trabalho: só faça se já estiver pronto. NA TELA 1. Mostre a linha adicionada no controller (só esta). 2. Faça a request. 3. Abra o laravel.log (ou o Loki) e mostre a linha com o trace_id. 4. Copie o trace_id e cole na busca do Tempo. Aparece o mesmo trace que acabamos de ver. O QUE DIZER “Lembram dos três pilares? Aqui eles se encontram. O log agora carrega o trace_id. Eu pego o identificador, colo no Tempo e chego na viagem completa daquela request. Ou faço o caminho inverso: estou no trace, vejo um span estranho, e pulo para as mensagens de log dessa mesma request. Isso é o que chamamos de correlação, e é o que transforma três ferramentas soltas num único raciocínio.” TRANSIÇÃO “Terminamos a parte técnica. Vamos falar de dinheiro e de tempo.”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1 de 7 · cerca de 1,5 min] ABERTURA DO BLOCO “Até aqui a gente viu como gerar os dados. Agora uma pergunta bem prática: quando eu abro um dashboard, o que preciso ler para saber se a aplicação está saudável?” O QUE DIZER O Google resumiu isso no livro de SRE em quatro sinais, os “quatro sinais de ouro”. - Latência: quanto tempo a aplicação leva para responder. - Tráfego: quanta demanda está chegando, normalmente em requests por segundo. - Erros: que parte das requests falha. - Saturação: quão perto dos limites a aplicação está, como workers, CPU, memória e conexões. “E o trace? Os quatro sinais dizem que algo mudou. O trace diz onde e por quê.” SE PERGUNTAREM Existem versões mais curtas da mesma ideia: o RED, de Rate, Errors e Duration, pensado para serviços, e o USE, de Utilization, Saturation e Errors, pensado para recursos como CPU e disco. É a mesma família de ideias. TRANSIÇÃO “Vamos passar pelos sinais, e eu quero começar pelo que mais engana: a latência.”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2 de 7 · cerca de 1,5 min] O QUE DIZER “Latência é o tempo entre a request chegar e a resposta sair. Simples. O difícil é como a gente resume esse tempo.” (Aponte o gráfico.) “Cada barra é um grupo de requests parecidas. A maior parte é rápida, à esquerda. Mas existe uma cauda comprida à direita: poucas requests, muito lentas.” “Se eu pegar a média, ela é puxada pela cauda e cai num ponto onde quase nenhuma request está. Ela não descreve a maioria e esconde a cauda.” “As cores mostram o outro caminho. O verde escuro é a metade mais rápida, o verde claro vai até 95% das requests, e o laranja são os 5% mais lentos. É essa divisão que os percentis fazem.” PONTO DE ATENÇÃO Meça a latência das requests com sucesso separada da das que falharam. Um erro 500 que volta em 5 ms parece uma resposta rápida e na verdade é uma falha. Misturar as duas deixa o gráfico bonito e errado. A distribuição do slide é uma ilustração, não um dado real. Diga isso se perguntarem. TRANSIÇÃO “E como a gente descreve essa cauda? Com percentis. Vou mostrar com um exemplo bem pequeno.”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3 de 7 · cerca de 2 min] O QUE DIZER “Imagina que a gente mediu 20 requests e colocou os tempos em fila, da mais rápida para a mais lenta.” “O percentil 95 responde a uma pergunta: abaixo de que tempo ficam 95% das requests? Aqui, 95% de 20 é 19. Então o p95 é o tempo da 19ª request: cerca de 250 milissegundos. Das 20, 19 foram mais rápidas ou iguais a isso. Só a última, de 1800 ms, ficou de fora.” “Agora compara. A mediana, o p50, é a request do meio: uns 112 ms, o caso típico. A média é 207 ms, empurrada para cima por uma única request lenta. Se eu olhasse só a média, diria ‘207’, e quase ninguém teve 207: a maioria foi bem mais rápida e uma foi muito pior.” Frase-resumo: “Percentil é só dizer: 95 de cada 100 foram mais rápidas que isso.” PONTO DE ATENÇÃO - Os 20 valores são inventados, só para ilustrar. O exemplo é pequeno de propósito. Com 20 amostras o p95 é instável; em produção são milhares de requests e o valor é muito mais confiável. - As ferramentas calculam o percentil com métodos um pouco diferentes (algumas interpolam entre dois valores). Por isso o número pode variar entre uma ferramenta e outra. Aqui usei o jeito mais simples, o da posição. - Não faça a média de percentis. A média dos p95 de três servidores não é o p95 do conjunto. Use histogramas, que o OpenTelemetry e o Prometheus suportam, e deixe o backend calcular. TRANSIÇÃO “Então por que olhar o p95, e não só a média?”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4 de 7 · cerca de 1,5 min] POR QUE O P95 1. Mostra quem sofre. A média dilui os casos ruins. O p95 mostra a experiência dos 5% mais lentos, e esses são usuários de verdade. 2. A cauda é comum. Uma página raramente faz uma request só. Se ela dispara 20 chamadas, a chance de pelo menos uma cair nos 5% mais lentos é 1 menos 0,95 elevado a 20, ou seja, cerca de 64%. “Aquela cauda que parecia rara aparece em quase dois terços das páginas.” 3. Aponta a causa. Cauda alta costuma ter origem concreta: um N+1, um lock no banco, uma API externa lenta. É exatamente o que a nossa demo mostrou. p50, p95 E p99 - p50 é o caso típico. - p95 é um bom limite para alertas e para metas de serviço (SLOs): sensível o bastante, sem tanto ruído. - p99 pega os casos raros. É útil, mas oscila mais e gera mais alarme falso. DICA PRÁTICA “Acompanhe p50, p95 e p99 no dashboard, mas alerte em p95.” Isso conecta com o slide “Comece pequeno”, lá no final. TRANSIÇÃO “Latência diz quão rápido. Agora, quão certo: os erros.”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5 de 7 · cerca de 1,5 min] O QUE DIZER “Taxa de erro é simples de dizer: das requests que chegaram, que fração falhou. Requests com falha dividido pelo total.” (Aponte o gráfico.) “Em dia normal ela fica baixa, perto de 1%. Aqui houve um deploy ruim e a linha subiu até cerca de 9%, cruzando a linha tracejada, que é o limite do alerta. É aí que o alerta dispara.” O QUE CONTA COMO ERRO - 5xx e exceções não tratadas. - Timeouts e falhas em dependências. - 4xx normalmente é erro do cliente, não do serviço. A exceção é quando vem em massa (401, 403 ou 429 de repente), o que pode ser sintoma de um problema do seu lado. PONTO DE ATENÇÃO Use taxa, e não contagem. “Cem erros” significa coisas muito diferentes com mil requests ou com um milhão. A porcentagem é comparável ao longo do tempo. O gráfico é uma ilustração com dados inventados, só para mostrar o formato. [AJUSTE: se preferir, troque por um print do seu Grafana com os dados da demo.] TRANSIÇÃO “Latência e erros dizem como a aplicação está se saindo. Os dois sinais que faltam dizem quanto ela está aguentando.”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6 de 7 · cerca de 1,5 min] TRÁFEGO “Quanta demanda chega, em requests por segundo. Sozinho ele não diz se está bom ou ruim, mas dá contexto: a latência subiu porque o tráfego dobrou, ou subiu com o tráfego igual? Essa pergunta muda a investigação inteira.” SATURAÇÃO “É o quão perto do limite a aplicação está. Em geral a latência piora antes de aparecerem erros, e a saturação é o aviso mais cedo.” No PHP, o exemplo clássico é o PHP-FPM. Ele tem um número máximo de workers (a configuração pm.max_children). Quando todos estão ocupados, as novas requests esperam na fila, e o usuário sente isso como latência. A página de status do FPM mostra os workers ativos, a fila de espera e quantas vezes o limite foi atingido. Outros bons indicadores: CPU, memória, conexões do banco, o atraso da fila de jobs e a taxa de acerto do cache e do OPcache. PONTO DE ATENÇÃO Os valores do slide são exemplos, só para ilustrar. Um número perto do limite, como os 18 de 20 workers, já é um alerta mesmo antes de aparecer qualquer erro, porque o próximo pico não tem folga. TRANSIÇÃO “Agora vamos juntar tudo: do sinal até a causa.”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[Bloco Sinais de saúde · 7 de 7 · cerca de 1 min] O QUE DIZER “Juntando tudo, o caminho de uma investigação costuma ser este.” 1. Sinal. O alerta dispara porque o p95 do /api/pedidos subiu. A gente sabe que algo mudou, mas não sabe por quê. 2. Trace. A gente abre um trace lento daquele endpoint. Ele mostra onde o tempo foi. Na nossa demo, 201 spans de banco dentro de uma única request. 3. Log. A gente pula para o log da mesma request, pelo trace_id, para ver os detalhes. “A métrica avisa. O trace localiza. O log detalha.” Essa frase fecha o bloco e amarra com o começo da palestra: os três pilares, agora cada um com o seu papel. TRANSIÇÃO “E o que isso significa em tempo e em dinheiro? Vamos ao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 · cerca de 2 min] Chegamos à conversa que o seu gestor quer ouvir: por que isso vale o investimento. A métrica clássica é o MTTR, o tempo médio para resolver um incidente. E dentro dele, a parte que mais engorda quando falta observabilidade é a fase de descobrir a causa. Olhem o fluxo de cima: alerta, palpites, olhar log no servidor, tentar reproduzir localmente, e só então achar a causa. Cada etapa dessas é uma pessoa cara olhando para uma tela. O fluxo de baixo é o do trace: alerta, abrir o trace, causa. [IMPORTANTE: OS VALORES DO SLIDE SÃO PLACEHOLDERS. Eu deliberadamente não inventei números, porque dado inventado num palco destrói a sua credibilidade. Você tem duas boas opções. Opção 1, a mais forte: troque os colchetes por números reais de um incidente que você viveu ou acompanhou, anonimizado, com a frase “num caso que eu acompanhei”. Opção 2, interativa: faça uma enquete de mãos. “Quem leva menos de 15 minutos para achar a causa de um 500 em produção hoje? Menos de uma hora? Mais de uma hora?” Use a distribuição que aparecer, e preencha os colchetes com “a maioria desta sala”.] TRANSIÇÃO “E quanto isso custa em dinheiro? Vamos comparar com o custo de não fazer nada.”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[46:30 · cerca de 2,5 min] Agora, o dinheiro. Dois custos, e eu quero ser honesto com os dois. O custo de não observar é o que a gente não vê na fatura. Horas de gente cara em call, tentando adivinhar. Servidor maior, instância maior, mais réplicas, para tentar esconder um código lento, quando o problema era uma query mal escrita, como a da demo. E o cliente que percebe a lentidão antes de você, e que nunca vai aparecer num relatório de incidente. O custo de instrumentar existe, e quem disser que é zero está vendendo alguma coisa. Tem o esforço inicial, que como a gente viu é pequeno: uma extensão, alguns pacotes e variáveis. Tem o overhead de rodar a instrumentação, que costuma ser pequeno, mas que é sempre bom medir no seu caso. E tem o volume de dados que você vai armazenar, que é onde as contas crescem. A boa notícia é que esse último custo é controlável. Com amostragem, ou seja, guardar só uma parte dos traces, e com um Collector filtrando o que não importa, você decide quanto gasta. Instrumente tudo, guarde com critério. Olhando de fora, a comparação é entre um custo escolhido e controlado, e um custo escondido e imprevisível. [AJUSTE PESSOAL: aqui entra o seu histórico com FinOps. Se você tiver um exemplo anonimizado de um time que reduziu custo de infraestrutura ao achar um gargalo de código, conte em 30 segundos.] TRANSIÇÃO “Se eu tivesse que resumir tudo isso numa frase…”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[49:00 · cerca de 1 min] A frase para levar: observabilidade não é custo, é seguro contra três horas de call de madrugada. Um seguro a gente paga esperando nunca precisar. Só que, nesse caso, a gente vai precisar. A pergunta é só quando, e se vamos estar preparados. Pausa de dois ou três segundos. Deixe a frase pousar. DICA DE PALCO Este é o slide que as pessoas vão fotografar. Fale devagar e deixe o slide na tela um pouco mais do que parece necessário. Se alguém levantar o celular, é um bom sinal. TRANSIÇÃO “E agora, o que fazer na segunda-feira? Sem tentar fazer tudo.”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[50:00 · cerca de 3 min] Para fechar, o que eu quero que vocês façam na segunda-feira. E a palavra-chave é pequeno. Passo um, instalar. Em staging, não em produção. Extensão, SDK e o pacote do seu framework, como a gente fez na demo. O objetivo desta primeira semana é só ver os primeiros traces aparecerem. Nada mais. Passo dois, um dashboard. Um só. Latência por endpoint e a lista dos traces mais lentos. Isso já responde à pergunta “onde a minha aplicação está lenta?”, que quase ninguém consegue responder hoje. Passo três, um alerta. Um só, e no endpoint mais crítico: o checkout, o login, o que quebra e dói mais. Latência alta ou taxa de erro. Alerta demais vira ruído, e ruído vira alerta ignorado. Comece com um que você realmente levaria a sério às três da manhã. E o aviso final: não tente observar tudo de uma vez. Eu já vi times que passaram meses desenhando a “estratégia perfeita de observabilidade” e nunca instrumentaram uma única linha. Prefiro mil vezes o time que tem um trace de um endpoint do que o que tem um documento de arquitetura. PONTO DE ATENÇÃO Se sobrar tempo, peça à plateia para escolher mentalmente qual é o endpoint mais crítico do sistema deles. É um jeito de fazer cada pessoa sair com a tarefa já definida. TRANSIÇÃO “Deixei alguns links para vocês continuarem a partir daqui.”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[53:00 · cerca de 1 min] Aqui estão os caminhos para continuar. A documentação oficial do OpenTelemetry para PHP é o ponto de partida: tem o getting started, instrumentação manual e propagação de contexto. O repositório do SDK tem exemplos. O repositório contrib reúne as instrumentações, que são os pacotes que a gente usou para Laravel, Symfony, PSR-3 e outros. E os pacotes estão no Packagist, com as versões e os requisitos de cada um. E o repositório desta demo, que vai ficar disponível para vocês subirem em casa com um docker compose e verem o mesmo trace aparecer. [ANTES DA PALESTRA: publique o repositório da demo e troque o texto entre colchetes pelo endereço. Considere gerar um QR code curto para o repositório e para os slides, e deixar no slide final.] DICA DE PALCO Não leia os endereços. Diga “os links estão no slide, e eu publico tudo depois”. Quem quiser fotografa. CHECAGEM ANTES DE SUBIR NO PALCO Abra cada link uma vez para garantir que não mudou de endereço. TRANSIÇÃO “E é isso. Obrigado, e vamos às perguntas.”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[54:00 · perguntas e respostas] AGRADECIMENTO Muito obrigado, pessoal! Quem quiser continuar a conversa, estou por aqui depois da palestra e nos contatos do slide. Perguntas? [ANTES DA PALESTRA: troque os colchetes pelo seu LinkedIn e e-mail, ou deixe só o @deploypro.br se preferir.] COLA DE PERGUNTAS PROVÁVEIS (respostas curtas) 1. Qual o overhead de performance? Costuma ser pequeno, mas depende da quantidade de spans, da amostragem e do jeito de exportar. Meça no seu ambiente com e sem instrumentação. Um Collector próximo e envio em lote ajudam. Evite prometer um número. 2. Funciona com Octane, Swoole ou RoadRunner? Vale testar no seu setup. O modelo de processo longo muda como o contexto e a exportação se comportam. Consulte a documentação do projeto e as issues dos repositórios antes de decidir. 3. Como pego traces dos jobs da fila? O contexto precisa viajar no payload do job. Confira o que a instrumentação da sua versão já faz e, se faltar, injete e extraia o traceparent manualmente. 4. Posso instrumentar o meu próprio código, não só o framework? Pode. Manualmente com a API de tracer, ou com o atributo WithSpan nos métodos que importam, usando a extensão. 5. Isso substitui o Sentry ou o Datadog? Não é o mesmo papel. O OpenTelemetry gera e transporta os dados; você ainda precisa de um backend. Quanto ao Sentry, ele tem foco em erros e exceções, e pode conviver com traces. 6. Quanto custa guardar tudo isso? Depende do volume e do backend. Use amostragem e filtre no Collector. Comece com um endpoint crítico e cresça. 7. Dá para fazer só com logs bem feitos? Logs estruturados com trace_id já são um grande passo. Mas sem o trace você continua sem ver o caminho e os tempos entre as etapas. Se não souber: “boa pergunta, não tenho certeza, vou verificar e respondo depois”. É uma resposta respeitada.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1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3F0E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3F0E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41B"/>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58"/>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F3F0E8"/>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78"/>
            <a:ext cx="10566400" cy="4109722"/>
          </a:xfrm>
          <a:prstGeom prst="rect">
            <a:avLst/>
          </a:prstGeom>
          <a:noFill/>
          <a:ln/>
        </p:spPr>
        <p:txBody>
          <a:bodyPr wrap="square" lIns="0" tIns="0" rIns="0" bIns="0" rtlCol="0" anchor="t"/>
          <a:lstStyle>
            <a:lvl1pPr algn="l" indent="0" marL="0">
              <a:lnSpc>
                <a:spcPct val="140000"/>
              </a:lnSpc>
              <a:buNone/>
              <a:defRPr lang="en-US" sz="1600" dirty="0">
                <a:solidFill>
                  <a:srgbClr val="F3F0E8"/>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slideLayout" Target="../slideLayouts/slideLayout2.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2.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slideLayout" Target="../slideLayouts/slideLayout2.xml"/><Relationship Id="rId5"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slideLayout" Target="../slideLayouts/slideLayout2.xml"/><Relationship Id="rId7"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A3D"/>
                </a:solidFill>
                <a:latin typeface="JetBrains Mono" pitchFamily="49" charset="0"/>
                <a:ea typeface="JetBrains Mono" pitchFamily="49" charset="-122"/>
                <a:cs typeface="JetBrains Mono" pitchFamily="49" charset="-120"/>
              </a:rPr>
              <a:t>PALESTRA · PHP CONFERENCE BRASIL 2026</a:t>
            </a:r>
            <a:endParaRPr lang="en-US" sz="1400" dirty="0"/>
          </a:p>
        </p:txBody>
      </p:sp>
      <p:sp>
        <p:nvSpPr>
          <p:cNvPr id="3" name="Text 1"/>
          <p:cNvSpPr/>
          <p:nvPr>
            <p:ph type="title"/>
          </p:nvPr>
        </p:nvSpPr>
        <p:spPr>
          <a:xfrm>
            <a:off x="812800" y="1375886"/>
            <a:ext cx="10883392" cy="2878138"/>
          </a:xfrm>
          <a:prstGeom prst="rect">
            <a:avLst/>
          </a:prstGeom>
          <a:noFill/>
          <a:ln/>
        </p:spPr>
        <p:txBody>
          <a:bodyPr wrap="square" lIns="0" tIns="0" rIns="0" bIns="0" rtlCol="0" anchor="t">
            <a:normAutofit/>
          </a:bodyPr>
          <a:lstStyle/>
          <a:p>
            <a:pPr algn="l" indent="0" marL="0">
              <a:lnSpc>
                <a:spcPts val="5616"/>
              </a:lnSpc>
              <a:buNone/>
            </a:pPr>
            <a:r>
              <a:rPr lang="en-US" sz="5200" b="1" i="0" dirty="0">
                <a:solidFill>
                  <a:srgbClr val="F3F0E8"/>
                </a:solidFill>
                <a:latin typeface="IBM Plex Sans" pitchFamily="34" charset="0"/>
                <a:ea typeface="IBM Plex Sans" pitchFamily="34" charset="-122"/>
                <a:cs typeface="IBM Plex Sans" pitchFamily="34" charset="-120"/>
              </a:rPr>
              <a:t>Não basta funcionar: </a:t>
            </a:r>
            <a:r>
              <a:rPr lang="en-US" sz="5200" b="1" i="0" dirty="0">
                <a:solidFill>
                  <a:srgbClr val="FF7A3D"/>
                </a:solidFill>
                <a:latin typeface="IBM Plex Sans" pitchFamily="34" charset="0"/>
                <a:ea typeface="IBM Plex Sans" pitchFamily="34" charset="-122"/>
                <a:cs typeface="IBM Plex Sans" pitchFamily="34" charset="-120"/>
              </a:rPr>
              <a:t>como tornar aplicações PHP operáveis em produção</a:t>
            </a:r>
            <a:r>
              <a:rPr lang="en-US" sz="5200" b="1" i="0" dirty="0">
                <a:solidFill>
                  <a:srgbClr val="F3F0E8"/>
                </a:solidFill>
                <a:latin typeface="IBM Plex Sans" pitchFamily="34" charset="0"/>
                <a:ea typeface="IBM Plex Sans" pitchFamily="34" charset="-122"/>
                <a:cs typeface="IBM Plex Sans" pitchFamily="34" charset="-120"/>
              </a:rPr>
              <a:t>:</a:t>
            </a:r>
            <a:endParaRPr lang="en-US" sz="5200" dirty="0"/>
          </a:p>
          <a:p>
            <a:pPr algn="l" indent="0" marL="0">
              <a:lnSpc>
                <a:spcPts val="5616"/>
              </a:lnSpc>
              <a:buNone/>
            </a:pPr>
            <a:r>
              <a:rPr lang="en-US" sz="5200" b="1" i="0" dirty="0">
                <a:solidFill>
                  <a:srgbClr val="FF7A3D"/>
                </a:solidFill>
                <a:latin typeface="IBM Plex Sans" pitchFamily="34" charset="0"/>
                <a:ea typeface="IBM Plex Sans" pitchFamily="34" charset="-122"/>
                <a:cs typeface="IBM Plex Sans" pitchFamily="34" charset="-120"/>
              </a:rPr>
              <a:t>E agora?</a:t>
            </a:r>
            <a:endParaRPr lang="en-US" sz="5200" dirty="0"/>
          </a:p>
        </p:txBody>
      </p:sp>
      <p:sp>
        <p:nvSpPr>
          <p:cNvPr id="4" name="Text 2"/>
          <p:cNvSpPr/>
          <p:nvPr/>
        </p:nvSpPr>
        <p:spPr>
          <a:xfrm>
            <a:off x="812800" y="4431824"/>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FC7D5"/>
                </a:solidFill>
                <a:latin typeface="IBM Plex Sans" pitchFamily="34" charset="0"/>
                <a:ea typeface="IBM Plex Sans" pitchFamily="34" charset="-122"/>
                <a:cs typeface="IBM Plex Sans" pitchFamily="34" charset="-120"/>
              </a:rPr>
              <a:t>Observabilidade prática para devs PHP</a:t>
            </a:r>
            <a:endParaRPr lang="en-US" sz="2200" dirty="0"/>
          </a:p>
        </p:txBody>
      </p:sp>
      <p:sp>
        <p:nvSpPr>
          <p:cNvPr id="5" name="Text 3"/>
          <p:cNvSpPr/>
          <p:nvPr/>
        </p:nvSpPr>
        <p:spPr>
          <a:xfrm>
            <a:off x="812800" y="50952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Jhousyfran Costa</a:t>
            </a:r>
            <a:endParaRPr lang="en-US" sz="1600" dirty="0"/>
          </a:p>
        </p:txBody>
      </p:sp>
      <p:sp>
        <p:nvSpPr>
          <p:cNvPr id="6" name="Text 4"/>
          <p:cNvSpPr/>
          <p:nvPr/>
        </p:nvSpPr>
        <p:spPr>
          <a:xfrm>
            <a:off x="812800" y="548132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7D5"/>
                </a:solidFill>
                <a:latin typeface="IBM Plex Sans" pitchFamily="34" charset="0"/>
                <a:ea typeface="IBM Plex Sans" pitchFamily="34" charset="-122"/>
                <a:cs typeface="IBM Plex Sans" pitchFamily="34" charset="-120"/>
              </a:rPr>
              <a:t>DevOps/SRE · criador do @deploypro.br</a:t>
            </a:r>
            <a:endParaRPr lang="en-US" sz="1400" dirty="0"/>
          </a:p>
        </p:txBody>
      </p:sp>
      <p:sp>
        <p:nvSpPr>
          <p:cNvPr id="7" name="Text 5"/>
          <p:cNvSpPr/>
          <p:nvPr/>
        </p:nvSpPr>
        <p:spPr>
          <a:xfrm>
            <a:off x="812800" y="583184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Laravel · Symfony · OpenTelemetry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ABERTURA</a:t>
            </a:r>
            <a:endParaRPr lang="en-US" sz="1200" dirty="0"/>
          </a:p>
        </p:txBody>
      </p:sp>
      <p:sp>
        <p:nvSpPr>
          <p:cNvPr id="3" name="Text 1"/>
          <p:cNvSpPr/>
          <p:nvPr>
            <p:ph type="title"/>
          </p:nvPr>
        </p:nvSpPr>
        <p:spPr>
          <a:xfrm>
            <a:off x="812800" y="11277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Quem sou eu</a:t>
            </a:r>
            <a:endParaRPr lang="en-US" sz="3600" dirty="0"/>
          </a:p>
        </p:txBody>
      </p:sp>
      <p:sp>
        <p:nvSpPr>
          <p:cNvPr id="4" name="Shape 2"/>
          <p:cNvSpPr/>
          <p:nvPr/>
        </p:nvSpPr>
        <p:spPr>
          <a:xfrm>
            <a:off x="815975" y="1989455"/>
            <a:ext cx="3383677" cy="2137410"/>
          </a:xfrm>
          <a:prstGeom prst="roundRect">
            <a:avLst>
              <a:gd name="adj" fmla="val 4605"/>
            </a:avLst>
          </a:prstGeom>
          <a:solidFill>
            <a:srgbClr val="FBFAF6"/>
          </a:solidFill>
          <a:ln w="6350">
            <a:solidFill>
              <a:srgbClr val="DAD5C8"/>
            </a:solidFill>
            <a:prstDash val="solid"/>
          </a:ln>
        </p:spPr>
      </p:sp>
      <p:sp>
        <p:nvSpPr>
          <p:cNvPr id="5" name="Text 3"/>
          <p:cNvSpPr/>
          <p:nvPr/>
        </p:nvSpPr>
        <p:spPr>
          <a:xfrm>
            <a:off x="1071880" y="2245360"/>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ANTES</a:t>
            </a:r>
            <a:endParaRPr lang="en-US" sz="1200" dirty="0"/>
          </a:p>
        </p:txBody>
      </p:sp>
      <p:sp>
        <p:nvSpPr>
          <p:cNvPr id="6" name="Text 4"/>
          <p:cNvSpPr/>
          <p:nvPr/>
        </p:nvSpPr>
        <p:spPr>
          <a:xfrm>
            <a:off x="1071880" y="2560320"/>
            <a:ext cx="295802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Dev PHP e JS</a:t>
            </a:r>
            <a:endParaRPr lang="en-US" sz="2200" dirty="0"/>
          </a:p>
        </p:txBody>
      </p:sp>
      <p:sp>
        <p:nvSpPr>
          <p:cNvPr id="7" name="Text 5"/>
          <p:cNvSpPr/>
          <p:nvPr/>
        </p:nvSpPr>
        <p:spPr>
          <a:xfrm>
            <a:off x="1071880" y="2997200"/>
            <a:ext cx="2958023"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PHP, JavaScript, Laravel e Vuejs. Código meu rodando em produção.</a:t>
            </a:r>
            <a:endParaRPr lang="en-US" sz="1600" dirty="0"/>
          </a:p>
        </p:txBody>
      </p:sp>
      <p:sp>
        <p:nvSpPr>
          <p:cNvPr id="8" name="Shape 6"/>
          <p:cNvSpPr/>
          <p:nvPr/>
        </p:nvSpPr>
        <p:spPr>
          <a:xfrm>
            <a:off x="4409202" y="1989455"/>
            <a:ext cx="3383756" cy="2137410"/>
          </a:xfrm>
          <a:prstGeom prst="roundRect">
            <a:avLst>
              <a:gd name="adj" fmla="val 4605"/>
            </a:avLst>
          </a:prstGeom>
          <a:solidFill>
            <a:srgbClr val="FBFAF6"/>
          </a:solidFill>
          <a:ln w="6350">
            <a:solidFill>
              <a:srgbClr val="DAD5C8"/>
            </a:solidFill>
            <a:prstDash val="solid"/>
          </a:ln>
        </p:spPr>
      </p:sp>
      <p:sp>
        <p:nvSpPr>
          <p:cNvPr id="9" name="Text 7"/>
          <p:cNvSpPr/>
          <p:nvPr/>
        </p:nvSpPr>
        <p:spPr>
          <a:xfrm>
            <a:off x="4665107" y="2245360"/>
            <a:ext cx="295810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DEPOIS</a:t>
            </a:r>
            <a:endParaRPr lang="en-US" sz="1200" dirty="0"/>
          </a:p>
        </p:txBody>
      </p:sp>
      <p:sp>
        <p:nvSpPr>
          <p:cNvPr id="10" name="Text 8"/>
          <p:cNvSpPr/>
          <p:nvPr/>
        </p:nvSpPr>
        <p:spPr>
          <a:xfrm>
            <a:off x="4665107" y="2560320"/>
            <a:ext cx="295810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Infra e DevOps</a:t>
            </a:r>
            <a:endParaRPr lang="en-US" sz="2200" dirty="0"/>
          </a:p>
        </p:txBody>
      </p:sp>
      <p:sp>
        <p:nvSpPr>
          <p:cNvPr id="11" name="Text 9"/>
          <p:cNvSpPr/>
          <p:nvPr/>
        </p:nvSpPr>
        <p:spPr>
          <a:xfrm>
            <a:off x="4665107" y="2997200"/>
            <a:ext cx="295810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Kubernetes, Terraform, ArgoCD e GitOps.</a:t>
            </a:r>
            <a:endParaRPr lang="en-US" sz="1600" dirty="0"/>
          </a:p>
        </p:txBody>
      </p:sp>
      <p:sp>
        <p:nvSpPr>
          <p:cNvPr id="12" name="Shape 10"/>
          <p:cNvSpPr/>
          <p:nvPr/>
        </p:nvSpPr>
        <p:spPr>
          <a:xfrm>
            <a:off x="7999333" y="1986280"/>
            <a:ext cx="3379867" cy="2143760"/>
          </a:xfrm>
          <a:prstGeom prst="roundRect">
            <a:avLst>
              <a:gd name="adj" fmla="val 4739"/>
            </a:avLst>
          </a:prstGeom>
          <a:solidFill>
            <a:srgbClr val="11141B"/>
          </a:solidFill>
          <a:ln/>
        </p:spPr>
      </p:sp>
      <p:sp>
        <p:nvSpPr>
          <p:cNvPr id="13" name="Text 11"/>
          <p:cNvSpPr/>
          <p:nvPr/>
        </p:nvSpPr>
        <p:spPr>
          <a:xfrm>
            <a:off x="8253333" y="2240280"/>
            <a:ext cx="29580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HOJE</a:t>
            </a:r>
            <a:endParaRPr lang="en-US" sz="1200" dirty="0"/>
          </a:p>
        </p:txBody>
      </p:sp>
      <p:sp>
        <p:nvSpPr>
          <p:cNvPr id="14" name="Text 12"/>
          <p:cNvSpPr/>
          <p:nvPr/>
        </p:nvSpPr>
        <p:spPr>
          <a:xfrm>
            <a:off x="8253333" y="2555240"/>
            <a:ext cx="2958023" cy="6959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SRE e observabilidade</a:t>
            </a:r>
            <a:endParaRPr lang="en-US" sz="2200" dirty="0"/>
          </a:p>
        </p:txBody>
      </p:sp>
      <p:sp>
        <p:nvSpPr>
          <p:cNvPr id="15" name="Text 13"/>
          <p:cNvSpPr/>
          <p:nvPr/>
        </p:nvSpPr>
        <p:spPr>
          <a:xfrm>
            <a:off x="8253333" y="3327400"/>
            <a:ext cx="295802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Datadog, Grafana, OpenTelemetry e FinOps.</a:t>
            </a:r>
            <a:endParaRPr lang="en-US" sz="1600" dirty="0"/>
          </a:p>
        </p:txBody>
      </p:sp>
      <p:sp>
        <p:nvSpPr>
          <p:cNvPr id="16" name="Text 14"/>
          <p:cNvSpPr/>
          <p:nvPr/>
        </p:nvSpPr>
        <p:spPr>
          <a:xfrm>
            <a:off x="812800" y="448564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Datadog · CKA · AWS Solutions Architect</a:t>
            </a:r>
            <a:endParaRPr lang="en-US" sz="1600" dirty="0"/>
          </a:p>
        </p:txBody>
      </p:sp>
      <p:sp>
        <p:nvSpPr>
          <p:cNvPr id="17" name="Text 15"/>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Abertura · Quem sou eu</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ABERTURA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Isso te é familiar?</a:t>
            </a:r>
            <a:endParaRPr lang="en-US" sz="3600" dirty="0"/>
          </a:p>
        </p:txBody>
      </p:sp>
      <p:sp>
        <p:nvSpPr>
          <p:cNvPr id="4" name="Shape 2"/>
          <p:cNvSpPr/>
          <p:nvPr/>
        </p:nvSpPr>
        <p:spPr>
          <a:xfrm>
            <a:off x="815975" y="1989455"/>
            <a:ext cx="6357858" cy="2218690"/>
          </a:xfrm>
          <a:prstGeom prst="roundRect">
            <a:avLst>
              <a:gd name="adj" fmla="val 4436"/>
            </a:avLst>
          </a:prstGeom>
          <a:solidFill>
            <a:srgbClr val="0B0D12"/>
          </a:solidFill>
          <a:ln w="6350">
            <a:solidFill>
              <a:srgbClr val="2A3140"/>
            </a:solidFill>
            <a:prstDash val="solid"/>
          </a:ln>
        </p:spPr>
      </p:sp>
      <p:sp>
        <p:nvSpPr>
          <p:cNvPr id="5" name="Text 3"/>
          <p:cNvSpPr/>
          <p:nvPr/>
        </p:nvSpPr>
        <p:spPr>
          <a:xfrm>
            <a:off x="1071880" y="2245361"/>
            <a:ext cx="60214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C8B4"/>
                </a:solidFill>
                <a:latin typeface="JetBrains Mono" pitchFamily="49" charset="0"/>
                <a:ea typeface="JetBrains Mono" pitchFamily="49" charset="-122"/>
                <a:cs typeface="JetBrains Mono" pitchFamily="49" charset="-120"/>
              </a:rPr>
              <a:t>$ tail -f storage/logs/laravel.log</a:t>
            </a:r>
            <a:endParaRPr lang="en-US" sz="1300" dirty="0"/>
          </a:p>
        </p:txBody>
      </p:sp>
      <p:sp>
        <p:nvSpPr>
          <p:cNvPr id="6" name="Text 4"/>
          <p:cNvSpPr/>
          <p:nvPr/>
        </p:nvSpPr>
        <p:spPr>
          <a:xfrm>
            <a:off x="1071880" y="2578100"/>
            <a:ext cx="60214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A3D"/>
                </a:solidFill>
                <a:latin typeface="JetBrains Mono" pitchFamily="49" charset="0"/>
                <a:ea typeface="JetBrains Mono" pitchFamily="49" charset="-122"/>
                <a:cs typeface="JetBrains Mono" pitchFamily="49" charset="-120"/>
              </a:rPr>
              <a:t>[2026-10-18 03:12:44] production.ERROR: Server Error</a:t>
            </a:r>
            <a:endParaRPr lang="en-US" sz="1300" dirty="0"/>
          </a:p>
        </p:txBody>
      </p:sp>
      <p:sp>
        <p:nvSpPr>
          <p:cNvPr id="7" name="Text 5"/>
          <p:cNvSpPr/>
          <p:nvPr/>
        </p:nvSpPr>
        <p:spPr>
          <a:xfrm>
            <a:off x="1071880" y="2910841"/>
            <a:ext cx="60214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A3D"/>
                </a:solidFill>
                <a:latin typeface="JetBrains Mono" pitchFamily="49" charset="0"/>
                <a:ea typeface="JetBrains Mono" pitchFamily="49" charset="-122"/>
                <a:cs typeface="JetBrains Mono" pitchFamily="49" charset="-120"/>
              </a:rPr>
              <a:t>[2026-10-18 03:12:51] production.ERROR: Server Error</a:t>
            </a:r>
            <a:endParaRPr lang="en-US" sz="1300" dirty="0"/>
          </a:p>
        </p:txBody>
      </p:sp>
      <p:sp>
        <p:nvSpPr>
          <p:cNvPr id="8" name="Text 6"/>
          <p:cNvSpPr/>
          <p:nvPr/>
        </p:nvSpPr>
        <p:spPr>
          <a:xfrm>
            <a:off x="1071880" y="3243580"/>
            <a:ext cx="60214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A3D"/>
                </a:solidFill>
                <a:latin typeface="JetBrains Mono" pitchFamily="49" charset="0"/>
                <a:ea typeface="JetBrains Mono" pitchFamily="49" charset="-122"/>
                <a:cs typeface="JetBrains Mono" pitchFamily="49" charset="-120"/>
              </a:rPr>
              <a:t>[2026-10-18 03:13:02] production.ERROR: Server Error</a:t>
            </a:r>
            <a:endParaRPr lang="en-US" sz="1300" dirty="0"/>
          </a:p>
        </p:txBody>
      </p:sp>
      <p:sp>
        <p:nvSpPr>
          <p:cNvPr id="9" name="Text 7"/>
          <p:cNvSpPr/>
          <p:nvPr/>
        </p:nvSpPr>
        <p:spPr>
          <a:xfrm>
            <a:off x="1071880" y="3576320"/>
            <a:ext cx="6021430"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93A3"/>
                </a:solidFill>
                <a:latin typeface="JetBrains Mono" pitchFamily="49" charset="0"/>
                <a:ea typeface="JetBrains Mono" pitchFamily="49" charset="-122"/>
                <a:cs typeface="JetBrains Mono" pitchFamily="49" charset="-120"/>
              </a:rPr>
              <a:t># ...mas qual request? qual usuário? em que serviço?</a:t>
            </a:r>
            <a:endParaRPr lang="en-US" sz="1300" dirty="0"/>
          </a:p>
        </p:txBody>
      </p:sp>
      <p:sp>
        <p:nvSpPr>
          <p:cNvPr id="10" name="Text 8"/>
          <p:cNvSpPr/>
          <p:nvPr/>
        </p:nvSpPr>
        <p:spPr>
          <a:xfrm>
            <a:off x="7481808" y="1986280"/>
            <a:ext cx="3897392" cy="640080"/>
          </a:xfrm>
          <a:prstGeom prst="roundRect">
            <a:avLst>
              <a:gd name="adj" fmla="val 15873"/>
            </a:avLst>
          </a:prstGeom>
          <a:solidFill>
            <a:srgbClr val="1B212C"/>
          </a:solidFill>
          <a:ln/>
        </p:spPr>
        <p:txBody>
          <a:bodyPr wrap="square" lIns="173442" tIns="148042" rIns="68713" bIns="122642" rtlCol="0" anchor="t">
            <a:normAutofit/>
          </a:bodyPr>
          <a:lstStyle/>
          <a:p>
            <a:pPr algn="l" indent="0" marL="0">
              <a:lnSpc>
                <a:spcPts val="2240"/>
              </a:lnSpc>
              <a:buNone/>
            </a:pPr>
            <a:r>
              <a:rPr lang="en-US" sz="1600" dirty="0">
                <a:solidFill>
                  <a:srgbClr val="F3F0E8"/>
                </a:solidFill>
                <a:latin typeface="IBM Plex Sans" pitchFamily="34" charset="0"/>
                <a:ea typeface="IBM Plex Sans" pitchFamily="34" charset="-122"/>
                <a:cs typeface="IBM Plex Sans" pitchFamily="34" charset="-120"/>
              </a:rPr>
              <a:t>“Funciona na minha máquina.”</a:t>
            </a:r>
            <a:endParaRPr lang="en-US" sz="1600" dirty="0"/>
          </a:p>
        </p:txBody>
      </p:sp>
      <p:sp>
        <p:nvSpPr>
          <p:cNvPr id="11" name="Text 9"/>
          <p:cNvSpPr/>
          <p:nvPr/>
        </p:nvSpPr>
        <p:spPr>
          <a:xfrm>
            <a:off x="7481808" y="2778761"/>
            <a:ext cx="3897392" cy="640080"/>
          </a:xfrm>
          <a:prstGeom prst="roundRect">
            <a:avLst>
              <a:gd name="adj" fmla="val 15873"/>
            </a:avLst>
          </a:prstGeom>
          <a:solidFill>
            <a:srgbClr val="1B212C"/>
          </a:solidFill>
          <a:ln/>
        </p:spPr>
        <p:txBody>
          <a:bodyPr wrap="square" lIns="173442" tIns="148042" rIns="68713" bIns="122642" rtlCol="0" anchor="t">
            <a:normAutofit/>
          </a:bodyPr>
          <a:lstStyle/>
          <a:p>
            <a:pPr algn="l" indent="0" marL="0">
              <a:lnSpc>
                <a:spcPts val="2240"/>
              </a:lnSpc>
              <a:buNone/>
            </a:pPr>
            <a:r>
              <a:rPr lang="en-US" sz="1600" dirty="0">
                <a:solidFill>
                  <a:srgbClr val="F3F0E8"/>
                </a:solidFill>
                <a:latin typeface="IBM Plex Sans" pitchFamily="34" charset="0"/>
                <a:ea typeface="IBM Plex Sans" pitchFamily="34" charset="-122"/>
                <a:cs typeface="IBM Plex Sans" pitchFamily="34" charset="-120"/>
              </a:rPr>
              <a:t>“Ontem estava rápido.”</a:t>
            </a:r>
            <a:endParaRPr lang="en-US" sz="1600" dirty="0"/>
          </a:p>
        </p:txBody>
      </p:sp>
      <p:sp>
        <p:nvSpPr>
          <p:cNvPr id="12" name="Text 10"/>
          <p:cNvSpPr/>
          <p:nvPr/>
        </p:nvSpPr>
        <p:spPr>
          <a:xfrm>
            <a:off x="7481808" y="3571241"/>
            <a:ext cx="3897392" cy="640080"/>
          </a:xfrm>
          <a:prstGeom prst="roundRect">
            <a:avLst>
              <a:gd name="adj" fmla="val 15873"/>
            </a:avLst>
          </a:prstGeom>
          <a:solidFill>
            <a:srgbClr val="1B212C"/>
          </a:solidFill>
          <a:ln/>
        </p:spPr>
        <p:txBody>
          <a:bodyPr wrap="square" lIns="173442" tIns="148042" rIns="68713" bIns="122642" rtlCol="0" anchor="t">
            <a:normAutofit/>
          </a:bodyPr>
          <a:lstStyle/>
          <a:p>
            <a:pPr algn="l" indent="0" marL="0">
              <a:lnSpc>
                <a:spcPts val="2240"/>
              </a:lnSpc>
              <a:buNone/>
            </a:pPr>
            <a:r>
              <a:rPr lang="en-US" sz="1600" dirty="0">
                <a:solidFill>
                  <a:srgbClr val="F3F0E8"/>
                </a:solidFill>
                <a:latin typeface="IBM Plex Sans" pitchFamily="34" charset="0"/>
                <a:ea typeface="IBM Plex Sans" pitchFamily="34" charset="-122"/>
                <a:cs typeface="IBM Plex Sans" pitchFamily="34" charset="-120"/>
              </a:rPr>
              <a:t>“Deve ser o banco.”</a:t>
            </a:r>
            <a:endParaRPr lang="en-US" sz="1600" dirty="0"/>
          </a:p>
        </p:txBody>
      </p:sp>
      <p:sp>
        <p:nvSpPr>
          <p:cNvPr id="13" name="Text 11"/>
          <p:cNvSpPr/>
          <p:nvPr/>
        </p:nvSpPr>
        <p:spPr>
          <a:xfrm>
            <a:off x="812800" y="6238241"/>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Abertura · Isso te é familiar?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7A3D"/>
        </a:solidFill>
      </p:bgPr>
    </p:bg>
    <p:spTree>
      <p:nvGrpSpPr>
        <p:cNvPr id="1" name=""/>
        <p:cNvGrpSpPr/>
        <p:nvPr/>
      </p:nvGrpSpPr>
      <p:grpSpPr>
        <a:xfrm>
          <a:off x="0" y="0"/>
          <a:ext cx="0" cy="0"/>
          <a:chOff x="0" y="0"/>
          <a:chExt cx="0" cy="0"/>
        </a:xfrm>
      </p:grpSpPr>
      <p:sp>
        <p:nvSpPr>
          <p:cNvPr id="2" name="Text 0"/>
          <p:cNvSpPr/>
          <p:nvPr/>
        </p:nvSpPr>
        <p:spPr>
          <a:xfrm>
            <a:off x="812800" y="203454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11141B"/>
                </a:solidFill>
                <a:latin typeface="JetBrains Mono" pitchFamily="49" charset="0"/>
                <a:ea typeface="JetBrains Mono" pitchFamily="49" charset="-122"/>
                <a:cs typeface="JetBrains Mono" pitchFamily="49" charset="-120"/>
              </a:rPr>
              <a:t>A PROMESSA DE HOJE</a:t>
            </a:r>
            <a:endParaRPr lang="en-US" sz="1400" dirty="0"/>
          </a:p>
        </p:txBody>
      </p:sp>
      <p:sp>
        <p:nvSpPr>
          <p:cNvPr id="3" name="Text 1"/>
          <p:cNvSpPr/>
          <p:nvPr>
            <p:ph type="title"/>
          </p:nvPr>
        </p:nvSpPr>
        <p:spPr>
          <a:xfrm>
            <a:off x="812800" y="2639061"/>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1141B"/>
                </a:solidFill>
                <a:latin typeface="IBM Plex Sans" pitchFamily="34" charset="0"/>
                <a:ea typeface="IBM Plex Sans" pitchFamily="34" charset="-122"/>
                <a:cs typeface="IBM Plex Sans" pitchFamily="34" charset="-120"/>
              </a:rPr>
              <a:t>Você vai sair sabendo </a:t>
            </a:r>
            <a:r>
              <a:rPr lang="en-US" sz="4800" b="1" i="0" u="sng" dirty="0">
                <a:solidFill>
                  <a:srgbClr val="11141B"/>
                </a:solidFill>
                <a:latin typeface="IBM Plex Sans" pitchFamily="34" charset="0"/>
                <a:ea typeface="IBM Plex Sans" pitchFamily="34" charset="-122"/>
                <a:cs typeface="IBM Plex Sans" pitchFamily="34" charset="-120"/>
              </a:rPr>
              <a:t>onde</a:t>
            </a:r>
            <a:r>
              <a:rPr lang="en-US" sz="4800" b="1" i="0" dirty="0">
                <a:solidFill>
                  <a:srgbClr val="11141B"/>
                </a:solidFill>
                <a:latin typeface="IBM Plex Sans" pitchFamily="34" charset="0"/>
                <a:ea typeface="IBM Plex Sans" pitchFamily="34" charset="-122"/>
                <a:cs typeface="IBM Plex Sans" pitchFamily="34" charset="-120"/>
              </a:rPr>
              <a:t> está o problema, não só </a:t>
            </a:r>
            <a:r>
              <a:rPr lang="en-US" sz="4800" b="1" i="0" u="sng" dirty="0">
                <a:solidFill>
                  <a:srgbClr val="11141B"/>
                </a:solidFill>
                <a:latin typeface="IBM Plex Sans" pitchFamily="34" charset="0"/>
                <a:ea typeface="IBM Plex Sans" pitchFamily="34" charset="-122"/>
                <a:cs typeface="IBM Plex Sans" pitchFamily="34" charset="-120"/>
              </a:rPr>
              <a:t>que</a:t>
            </a:r>
            <a:r>
              <a:rPr lang="en-US" sz="4800" b="1" i="0" dirty="0">
                <a:solidFill>
                  <a:srgbClr val="11141B"/>
                </a:solidFill>
                <a:latin typeface="IBM Plex Sans" pitchFamily="34" charset="0"/>
                <a:ea typeface="IBM Plex Sans" pitchFamily="34" charset="-122"/>
                <a:cs typeface="IBM Plex Sans" pitchFamily="34" charset="-120"/>
              </a:rPr>
              <a:t> ele existe.</a:t>
            </a:r>
            <a:endParaRPr lang="en-US" sz="4800" dirty="0"/>
          </a:p>
        </p:txBody>
      </p:sp>
      <p:sp>
        <p:nvSpPr>
          <p:cNvPr id="4" name="Text 2"/>
          <p:cNvSpPr/>
          <p:nvPr/>
        </p:nvSpPr>
        <p:spPr>
          <a:xfrm>
            <a:off x="812800" y="4335780"/>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1141B"/>
                </a:solidFill>
                <a:latin typeface="JetBrains Mono" pitchFamily="49" charset="0"/>
                <a:ea typeface="JetBrains Mono" pitchFamily="49" charset="-122"/>
                <a:cs typeface="JetBrains Mono" pitchFamily="49" charset="-120"/>
              </a:rPr>
              <a:t>Conceito · Ferramenta · Demo · Primeiro passo</a:t>
            </a:r>
            <a:endParaRPr lang="en-US" sz="1600" dirty="0"/>
          </a:p>
        </p:txBody>
      </p:sp>
      <p:sp>
        <p:nvSpPr>
          <p:cNvPr id="5" name="Text 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41B"/>
                </a:solidFill>
                <a:latin typeface="IBM Plex Sans" pitchFamily="34" charset="0"/>
                <a:ea typeface="IBM Plex Sans" pitchFamily="34" charset="-122"/>
                <a:cs typeface="IBM Plex Sans" pitchFamily="34" charset="-120"/>
              </a:rPr>
              <a:t>Abertura · A promessa</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 PROBLEMA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Monitoring ou observability?</a:t>
            </a:r>
            <a:endParaRPr lang="en-US" sz="3600" dirty="0"/>
          </a:p>
        </p:txBody>
      </p:sp>
      <p:sp>
        <p:nvSpPr>
          <p:cNvPr id="4" name="Shape 2"/>
          <p:cNvSpPr/>
          <p:nvPr/>
        </p:nvSpPr>
        <p:spPr>
          <a:xfrm>
            <a:off x="815975" y="1989457"/>
            <a:ext cx="5180330" cy="2315210"/>
          </a:xfrm>
          <a:prstGeom prst="roundRect">
            <a:avLst>
              <a:gd name="adj" fmla="val 4251"/>
            </a:avLst>
          </a:prstGeom>
          <a:solidFill>
            <a:srgbClr val="FBFAF6"/>
          </a:solidFill>
          <a:ln w="6350">
            <a:solidFill>
              <a:srgbClr val="DAD5C8"/>
            </a:solidFill>
            <a:prstDash val="solid"/>
          </a:ln>
        </p:spPr>
      </p:sp>
      <p:sp>
        <p:nvSpPr>
          <p:cNvPr id="5" name="Text 3"/>
          <p:cNvSpPr/>
          <p:nvPr/>
        </p:nvSpPr>
        <p:spPr>
          <a:xfrm>
            <a:off x="1097280" y="2270761"/>
            <a:ext cx="47562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MONITORING</a:t>
            </a:r>
            <a:endParaRPr lang="en-US" sz="1200" dirty="0"/>
          </a:p>
        </p:txBody>
      </p:sp>
      <p:sp>
        <p:nvSpPr>
          <p:cNvPr id="6" name="Text 4"/>
          <p:cNvSpPr/>
          <p:nvPr/>
        </p:nvSpPr>
        <p:spPr>
          <a:xfrm>
            <a:off x="1097280" y="2611121"/>
            <a:ext cx="475625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Sabe que quebrou</a:t>
            </a:r>
            <a:endParaRPr lang="en-US" sz="2200" dirty="0"/>
          </a:p>
        </p:txBody>
      </p:sp>
      <p:sp>
        <p:nvSpPr>
          <p:cNvPr id="7" name="Text 5"/>
          <p:cNvSpPr/>
          <p:nvPr/>
        </p:nvSpPr>
        <p:spPr>
          <a:xfrm>
            <a:off x="1097280" y="3073400"/>
            <a:ext cx="475625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Pergunta: o sistema está de pé?</a:t>
            </a:r>
            <a:endParaRPr lang="en-US" sz="1600" dirty="0"/>
          </a:p>
        </p:txBody>
      </p:sp>
      <p:sp>
        <p:nvSpPr>
          <p:cNvPr id="8" name="Text 6"/>
          <p:cNvSpPr/>
          <p:nvPr/>
        </p:nvSpPr>
        <p:spPr>
          <a:xfrm>
            <a:off x="1097280" y="3474721"/>
            <a:ext cx="475625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Exemplo: alerta de CPU alta ou de taxa de erro 500.</a:t>
            </a:r>
            <a:endParaRPr lang="en-US" sz="1600" dirty="0"/>
          </a:p>
        </p:txBody>
      </p:sp>
      <p:sp>
        <p:nvSpPr>
          <p:cNvPr id="9" name="Shape 7"/>
          <p:cNvSpPr/>
          <p:nvPr/>
        </p:nvSpPr>
        <p:spPr>
          <a:xfrm>
            <a:off x="6202680" y="1986282"/>
            <a:ext cx="5176520" cy="2321560"/>
          </a:xfrm>
          <a:prstGeom prst="roundRect">
            <a:avLst>
              <a:gd name="adj" fmla="val 4376"/>
            </a:avLst>
          </a:prstGeom>
          <a:solidFill>
            <a:srgbClr val="11141B"/>
          </a:solidFill>
          <a:ln/>
        </p:spPr>
      </p:sp>
      <p:sp>
        <p:nvSpPr>
          <p:cNvPr id="10" name="Text 8"/>
          <p:cNvSpPr/>
          <p:nvPr/>
        </p:nvSpPr>
        <p:spPr>
          <a:xfrm>
            <a:off x="6482080" y="2265682"/>
            <a:ext cx="47562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OBSERVABILITY</a:t>
            </a:r>
            <a:endParaRPr lang="en-US" sz="1200" dirty="0"/>
          </a:p>
        </p:txBody>
      </p:sp>
      <p:sp>
        <p:nvSpPr>
          <p:cNvPr id="11" name="Text 9"/>
          <p:cNvSpPr/>
          <p:nvPr/>
        </p:nvSpPr>
        <p:spPr>
          <a:xfrm>
            <a:off x="6482080" y="2606039"/>
            <a:ext cx="475625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Sabe por que quebrou</a:t>
            </a:r>
            <a:endParaRPr lang="en-US" sz="2200" dirty="0"/>
          </a:p>
        </p:txBody>
      </p:sp>
      <p:sp>
        <p:nvSpPr>
          <p:cNvPr id="12" name="Text 10"/>
          <p:cNvSpPr/>
          <p:nvPr/>
        </p:nvSpPr>
        <p:spPr>
          <a:xfrm>
            <a:off x="6482080" y="3068321"/>
            <a:ext cx="475625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Pergunta: por que esta request ficou lenta?</a:t>
            </a:r>
            <a:endParaRPr lang="en-US" sz="1600" dirty="0"/>
          </a:p>
        </p:txBody>
      </p:sp>
      <p:sp>
        <p:nvSpPr>
          <p:cNvPr id="13" name="Text 11"/>
          <p:cNvSpPr/>
          <p:nvPr/>
        </p:nvSpPr>
        <p:spPr>
          <a:xfrm>
            <a:off x="6482080" y="3469639"/>
            <a:ext cx="4756252"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Exemplo: o trace aponta a query que consumiu o tempo.</a:t>
            </a:r>
            <a:endParaRPr lang="en-US" sz="1600" dirty="0"/>
          </a:p>
        </p:txBody>
      </p:sp>
      <p:sp>
        <p:nvSpPr>
          <p:cNvPr id="14" name="Text 12"/>
          <p:cNvSpPr/>
          <p:nvPr/>
        </p:nvSpPr>
        <p:spPr>
          <a:xfrm>
            <a:off x="812800" y="4663439"/>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11141B"/>
                </a:solidFill>
                <a:latin typeface="IBM Plex Sans" pitchFamily="34" charset="0"/>
                <a:ea typeface="IBM Plex Sans" pitchFamily="34" charset="-122"/>
                <a:cs typeface="IBM Plex Sans" pitchFamily="34" charset="-120"/>
              </a:rPr>
              <a:t>Monitoring responde o que você previu. Observability responde o que você ainda não sabia perguntar.</a:t>
            </a:r>
            <a:endParaRPr lang="en-US" sz="1600" dirty="0"/>
          </a:p>
        </p:txBody>
      </p:sp>
      <p:sp>
        <p:nvSpPr>
          <p:cNvPr id="15" name="Text 13"/>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 problema · Monitoring versus observability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O PROBLEMA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Os três pilares</a:t>
            </a:r>
            <a:endParaRPr lang="en-US" sz="3600" dirty="0"/>
          </a:p>
        </p:txBody>
      </p:sp>
      <p:sp>
        <p:nvSpPr>
          <p:cNvPr id="4" name="Shape 2"/>
          <p:cNvSpPr/>
          <p:nvPr/>
        </p:nvSpPr>
        <p:spPr>
          <a:xfrm>
            <a:off x="812800" y="1986282"/>
            <a:ext cx="3386614" cy="2377440"/>
          </a:xfrm>
          <a:prstGeom prst="roundRect">
            <a:avLst>
              <a:gd name="adj" fmla="val 4274"/>
            </a:avLst>
          </a:prstGeom>
          <a:solidFill>
            <a:srgbClr val="1B212C"/>
          </a:solidFill>
          <a:ln/>
        </p:spPr>
      </p:sp>
      <p:pic>
        <p:nvPicPr>
          <p:cNvPr id="5" name="Image 0" descr="Book">    </p:cNvPr>
          <p:cNvPicPr>
            <a:picLocks noChangeAspect="1"/>
          </p:cNvPicPr>
          <p:nvPr/>
        </p:nvPicPr>
        <p:blipFill>
          <a:blip r:embed="rId1"/>
          <a:srcRect l="0" r="0" t="0" b="0"/>
          <a:stretch/>
        </p:blipFill>
        <p:spPr>
          <a:xfrm>
            <a:off x="1092200" y="2265682"/>
            <a:ext cx="406400" cy="406400"/>
          </a:xfrm>
          <a:prstGeom prst="rect">
            <a:avLst/>
          </a:prstGeom>
        </p:spPr>
      </p:pic>
      <p:sp>
        <p:nvSpPr>
          <p:cNvPr id="6" name="Text 3"/>
          <p:cNvSpPr/>
          <p:nvPr/>
        </p:nvSpPr>
        <p:spPr>
          <a:xfrm>
            <a:off x="1092200" y="2799082"/>
            <a:ext cx="291264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Logs</a:t>
            </a:r>
            <a:endParaRPr lang="en-US" sz="2200" dirty="0"/>
          </a:p>
        </p:txBody>
      </p:sp>
      <p:sp>
        <p:nvSpPr>
          <p:cNvPr id="7" name="Text 4"/>
          <p:cNvSpPr/>
          <p:nvPr/>
        </p:nvSpPr>
        <p:spPr>
          <a:xfrm>
            <a:off x="1092200" y="3261361"/>
            <a:ext cx="2912648"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O que aconteceu. Eventos com contexto.</a:t>
            </a:r>
            <a:endParaRPr lang="en-US" sz="1600" dirty="0"/>
          </a:p>
        </p:txBody>
      </p:sp>
      <p:sp>
        <p:nvSpPr>
          <p:cNvPr id="8" name="Shape 5"/>
          <p:cNvSpPr/>
          <p:nvPr/>
        </p:nvSpPr>
        <p:spPr>
          <a:xfrm>
            <a:off x="4402614" y="1986282"/>
            <a:ext cx="3386693" cy="2377440"/>
          </a:xfrm>
          <a:prstGeom prst="roundRect">
            <a:avLst>
              <a:gd name="adj" fmla="val 4274"/>
            </a:avLst>
          </a:prstGeom>
          <a:solidFill>
            <a:srgbClr val="1B212C"/>
          </a:solidFill>
          <a:ln/>
        </p:spPr>
      </p:sp>
      <p:pic>
        <p:nvPicPr>
          <p:cNvPr id="9" name="Image 1" descr="Chart">    </p:cNvPr>
          <p:cNvPicPr>
            <a:picLocks noChangeAspect="1"/>
          </p:cNvPicPr>
          <p:nvPr/>
        </p:nvPicPr>
        <p:blipFill>
          <a:blip r:embed="rId2"/>
          <a:srcRect l="0" r="0" t="0" b="0"/>
          <a:stretch/>
        </p:blipFill>
        <p:spPr>
          <a:xfrm>
            <a:off x="4682014" y="2265682"/>
            <a:ext cx="406400" cy="406400"/>
          </a:xfrm>
          <a:prstGeom prst="rect">
            <a:avLst/>
          </a:prstGeom>
        </p:spPr>
      </p:pic>
      <p:sp>
        <p:nvSpPr>
          <p:cNvPr id="10" name="Text 6"/>
          <p:cNvSpPr/>
          <p:nvPr/>
        </p:nvSpPr>
        <p:spPr>
          <a:xfrm>
            <a:off x="4682014" y="2799082"/>
            <a:ext cx="291273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Métricas</a:t>
            </a:r>
            <a:endParaRPr lang="en-US" sz="2200" dirty="0"/>
          </a:p>
        </p:txBody>
      </p:sp>
      <p:sp>
        <p:nvSpPr>
          <p:cNvPr id="11" name="Text 7"/>
          <p:cNvSpPr/>
          <p:nvPr/>
        </p:nvSpPr>
        <p:spPr>
          <a:xfrm>
            <a:off x="4682014" y="3261361"/>
            <a:ext cx="2912730"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Quanto e com que frequência. Números ao longo do tempo.</a:t>
            </a:r>
            <a:endParaRPr lang="en-US" sz="1600" dirty="0"/>
          </a:p>
        </p:txBody>
      </p:sp>
      <p:sp>
        <p:nvSpPr>
          <p:cNvPr id="12" name="Shape 8"/>
          <p:cNvSpPr/>
          <p:nvPr/>
        </p:nvSpPr>
        <p:spPr>
          <a:xfrm>
            <a:off x="7992507" y="1986282"/>
            <a:ext cx="3386693" cy="2377440"/>
          </a:xfrm>
          <a:prstGeom prst="roundRect">
            <a:avLst>
              <a:gd name="adj" fmla="val 4274"/>
            </a:avLst>
          </a:prstGeom>
          <a:solidFill>
            <a:srgbClr val="1B212C"/>
          </a:solidFill>
          <a:ln/>
        </p:spPr>
      </p:sp>
      <p:pic>
        <p:nvPicPr>
          <p:cNvPr id="13" name="Image 2" descr="Link">    </p:cNvPr>
          <p:cNvPicPr>
            <a:picLocks noChangeAspect="1"/>
          </p:cNvPicPr>
          <p:nvPr/>
        </p:nvPicPr>
        <p:blipFill>
          <a:blip r:embed="rId3"/>
          <a:srcRect l="0" r="0" t="0" b="0"/>
          <a:stretch/>
        </p:blipFill>
        <p:spPr>
          <a:xfrm>
            <a:off x="8271907" y="2265682"/>
            <a:ext cx="406400" cy="406400"/>
          </a:xfrm>
          <a:prstGeom prst="rect">
            <a:avLst/>
          </a:prstGeom>
        </p:spPr>
      </p:pic>
      <p:sp>
        <p:nvSpPr>
          <p:cNvPr id="14" name="Text 9"/>
          <p:cNvSpPr/>
          <p:nvPr/>
        </p:nvSpPr>
        <p:spPr>
          <a:xfrm>
            <a:off x="8271907" y="2799082"/>
            <a:ext cx="291273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Traces</a:t>
            </a:r>
            <a:endParaRPr lang="en-US" sz="2200" dirty="0"/>
          </a:p>
        </p:txBody>
      </p:sp>
      <p:sp>
        <p:nvSpPr>
          <p:cNvPr id="15" name="Text 10"/>
          <p:cNvSpPr/>
          <p:nvPr/>
        </p:nvSpPr>
        <p:spPr>
          <a:xfrm>
            <a:off x="8271907" y="3261361"/>
            <a:ext cx="2912730" cy="84836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Por onde a request passou e quanto tempo gastou em cada parada.</a:t>
            </a:r>
            <a:endParaRPr lang="en-US" sz="1600" dirty="0"/>
          </a:p>
        </p:txBody>
      </p:sp>
      <p:sp>
        <p:nvSpPr>
          <p:cNvPr id="16" name="Text 11"/>
          <p:cNvSpPr/>
          <p:nvPr/>
        </p:nvSpPr>
        <p:spPr>
          <a:xfrm>
            <a:off x="812800" y="4719321"/>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F0E8"/>
                </a:solidFill>
                <a:latin typeface="IBM Plex Sans" pitchFamily="34" charset="0"/>
                <a:ea typeface="IBM Plex Sans" pitchFamily="34" charset="-122"/>
                <a:cs typeface="IBM Plex Sans" pitchFamily="34" charset="-120"/>
              </a:rPr>
              <a:t>Sozinho, cada pilar conta um pedaço. Correlacionados, contam a história inteira.</a:t>
            </a:r>
            <a:endParaRPr lang="en-US" sz="1600" dirty="0"/>
          </a:p>
        </p:txBody>
      </p:sp>
      <p:sp>
        <p:nvSpPr>
          <p:cNvPr id="17" name="Text 12"/>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O problema · Logs, métricas e traces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 PROBLEMA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Por que PHP é difícil de observar</a:t>
            </a:r>
            <a:endParaRPr lang="en-US" sz="3600" dirty="0"/>
          </a:p>
        </p:txBody>
      </p:sp>
      <p:sp>
        <p:nvSpPr>
          <p:cNvPr id="4" name="Shape 2"/>
          <p:cNvSpPr/>
          <p:nvPr/>
        </p:nvSpPr>
        <p:spPr>
          <a:xfrm>
            <a:off x="815975" y="1989457"/>
            <a:ext cx="5175250" cy="1421130"/>
          </a:xfrm>
          <a:prstGeom prst="roundRect">
            <a:avLst>
              <a:gd name="adj" fmla="val 6926"/>
            </a:avLst>
          </a:prstGeom>
          <a:solidFill>
            <a:srgbClr val="FBFAF6"/>
          </a:solidFill>
          <a:ln w="6350">
            <a:solidFill>
              <a:srgbClr val="DAD5C8"/>
            </a:solidFill>
            <a:prstDash val="solid"/>
          </a:ln>
        </p:spPr>
      </p:sp>
      <p:sp>
        <p:nvSpPr>
          <p:cNvPr id="5" name="Text 3"/>
          <p:cNvSpPr/>
          <p:nvPr/>
        </p:nvSpPr>
        <p:spPr>
          <a:xfrm>
            <a:off x="1071880" y="221996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Stateless</a:t>
            </a:r>
            <a:endParaRPr lang="en-US" sz="2200" dirty="0"/>
          </a:p>
        </p:txBody>
      </p:sp>
      <p:sp>
        <p:nvSpPr>
          <p:cNvPr id="6" name="Text 4"/>
          <p:cNvSpPr/>
          <p:nvPr/>
        </p:nvSpPr>
        <p:spPr>
          <a:xfrm>
            <a:off x="1071880" y="2631439"/>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Cada request nasce e morre. Nenhum processo guarda contexto entre chamadas.</a:t>
            </a:r>
            <a:endParaRPr lang="en-US" sz="1600" dirty="0"/>
          </a:p>
        </p:txBody>
      </p:sp>
      <p:sp>
        <p:nvSpPr>
          <p:cNvPr id="7" name="Shape 5"/>
          <p:cNvSpPr/>
          <p:nvPr/>
        </p:nvSpPr>
        <p:spPr>
          <a:xfrm>
            <a:off x="6200775" y="1989457"/>
            <a:ext cx="5175250" cy="1421130"/>
          </a:xfrm>
          <a:prstGeom prst="roundRect">
            <a:avLst>
              <a:gd name="adj" fmla="val 6926"/>
            </a:avLst>
          </a:prstGeom>
          <a:solidFill>
            <a:srgbClr val="FBFAF6"/>
          </a:solidFill>
          <a:ln w="6350">
            <a:solidFill>
              <a:srgbClr val="DAD5C8"/>
            </a:solidFill>
            <a:prstDash val="solid"/>
          </a:ln>
        </p:spPr>
      </p:sp>
      <p:sp>
        <p:nvSpPr>
          <p:cNvPr id="8" name="Text 6"/>
          <p:cNvSpPr/>
          <p:nvPr/>
        </p:nvSpPr>
        <p:spPr>
          <a:xfrm>
            <a:off x="6456680" y="2219961"/>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Filas e workers</a:t>
            </a:r>
            <a:endParaRPr lang="en-US" sz="2200" dirty="0"/>
          </a:p>
        </p:txBody>
      </p:sp>
      <p:sp>
        <p:nvSpPr>
          <p:cNvPr id="9" name="Text 7"/>
          <p:cNvSpPr/>
          <p:nvPr/>
        </p:nvSpPr>
        <p:spPr>
          <a:xfrm>
            <a:off x="6456680" y="2631439"/>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O job roda depois, em outro processo, longe da request que o criou.</a:t>
            </a:r>
            <a:endParaRPr lang="en-US" sz="1600" dirty="0"/>
          </a:p>
        </p:txBody>
      </p:sp>
      <p:sp>
        <p:nvSpPr>
          <p:cNvPr id="10" name="Shape 8"/>
          <p:cNvSpPr/>
          <p:nvPr/>
        </p:nvSpPr>
        <p:spPr>
          <a:xfrm>
            <a:off x="815975" y="3620136"/>
            <a:ext cx="5175250" cy="1421130"/>
          </a:xfrm>
          <a:prstGeom prst="roundRect">
            <a:avLst>
              <a:gd name="adj" fmla="val 6926"/>
            </a:avLst>
          </a:prstGeom>
          <a:solidFill>
            <a:srgbClr val="FBFAF6"/>
          </a:solidFill>
          <a:ln w="6350">
            <a:solidFill>
              <a:srgbClr val="DAD5C8"/>
            </a:solidFill>
            <a:prstDash val="solid"/>
          </a:ln>
        </p:spPr>
      </p:sp>
      <p:sp>
        <p:nvSpPr>
          <p:cNvPr id="11" name="Text 9"/>
          <p:cNvSpPr/>
          <p:nvPr/>
        </p:nvSpPr>
        <p:spPr>
          <a:xfrm>
            <a:off x="1071880" y="3850639"/>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Muitas dependências</a:t>
            </a:r>
            <a:endParaRPr lang="en-US" sz="2200" dirty="0"/>
          </a:p>
        </p:txBody>
      </p:sp>
      <p:sp>
        <p:nvSpPr>
          <p:cNvPr id="12" name="Text 10"/>
          <p:cNvSpPr/>
          <p:nvPr/>
        </p:nvSpPr>
        <p:spPr>
          <a:xfrm>
            <a:off x="1071880" y="4262121"/>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Banco, cache, APIs externas e outros serviços na mesma request.</a:t>
            </a:r>
            <a:endParaRPr lang="en-US" sz="1600" dirty="0"/>
          </a:p>
        </p:txBody>
      </p:sp>
      <p:sp>
        <p:nvSpPr>
          <p:cNvPr id="13" name="Shape 11"/>
          <p:cNvSpPr/>
          <p:nvPr/>
        </p:nvSpPr>
        <p:spPr>
          <a:xfrm>
            <a:off x="6200775" y="3620136"/>
            <a:ext cx="5175250" cy="1421130"/>
          </a:xfrm>
          <a:prstGeom prst="roundRect">
            <a:avLst>
              <a:gd name="adj" fmla="val 6926"/>
            </a:avLst>
          </a:prstGeom>
          <a:solidFill>
            <a:srgbClr val="FBFAF6"/>
          </a:solidFill>
          <a:ln w="6350">
            <a:solidFill>
              <a:srgbClr val="DAD5C8"/>
            </a:solidFill>
            <a:prstDash val="solid"/>
          </a:ln>
        </p:spPr>
      </p:sp>
      <p:sp>
        <p:nvSpPr>
          <p:cNvPr id="14" name="Text 12"/>
          <p:cNvSpPr/>
          <p:nvPr/>
        </p:nvSpPr>
        <p:spPr>
          <a:xfrm>
            <a:off x="6456680" y="3850639"/>
            <a:ext cx="480334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Logs soltos</a:t>
            </a:r>
            <a:endParaRPr lang="en-US" sz="2200" dirty="0"/>
          </a:p>
        </p:txBody>
      </p:sp>
      <p:sp>
        <p:nvSpPr>
          <p:cNvPr id="15" name="Text 13"/>
          <p:cNvSpPr/>
          <p:nvPr/>
        </p:nvSpPr>
        <p:spPr>
          <a:xfrm>
            <a:off x="6456680" y="4262121"/>
            <a:ext cx="480334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Cada linha de log, sem nenhum identificador que a ligue à request.</a:t>
            </a:r>
            <a:endParaRPr lang="en-US" sz="1600" dirty="0"/>
          </a:p>
        </p:txBody>
      </p:sp>
      <p:sp>
        <p:nvSpPr>
          <p:cNvPr id="16" name="Text 14"/>
          <p:cNvSpPr/>
          <p:nvPr/>
        </p:nvSpPr>
        <p:spPr>
          <a:xfrm>
            <a:off x="812800" y="6238239"/>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 problema · O desafio do PHP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 PROBLEMA</a:t>
            </a:r>
            <a:endParaRPr lang="en-US" sz="1200" dirty="0"/>
          </a:p>
        </p:txBody>
      </p:sp>
      <p:sp>
        <p:nvSpPr>
          <p:cNvPr id="3" name="Text 1"/>
          <p:cNvSpPr/>
          <p:nvPr>
            <p:ph type="title"/>
          </p:nvPr>
        </p:nvSpPr>
        <p:spPr>
          <a:xfrm>
            <a:off x="812800" y="11277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Request lenta. Onde travou?</a:t>
            </a:r>
            <a:endParaRPr lang="en-US" sz="3600" dirty="0"/>
          </a:p>
        </p:txBody>
      </p:sp>
      <p:sp>
        <p:nvSpPr>
          <p:cNvPr id="4" name="Text 2"/>
          <p:cNvSpPr/>
          <p:nvPr/>
        </p:nvSpPr>
        <p:spPr>
          <a:xfrm>
            <a:off x="812800" y="1986282"/>
            <a:ext cx="10566400" cy="538480"/>
          </a:xfrm>
          <a:prstGeom prst="roundRect">
            <a:avLst>
              <a:gd name="adj" fmla="val 14151"/>
            </a:avLst>
          </a:prstGeom>
          <a:solidFill>
            <a:srgbClr val="E4DFD2"/>
          </a:solidFill>
          <a:ln/>
        </p:spPr>
        <p:txBody>
          <a:bodyPr wrap="square" lIns="180882" tIns="104682" rIns="0" bIns="79282" rtlCol="0" anchor="t">
            <a:normAutofit/>
          </a:bodyPr>
          <a:lstStyle/>
          <a:p>
            <a:pPr algn="l" indent="0" marL="0">
              <a:lnSpc>
                <a:spcPts val="2240"/>
              </a:lnSpc>
              <a:buNone/>
            </a:pPr>
            <a:r>
              <a:rPr lang="en-US" sz="1600" dirty="0">
                <a:solidFill>
                  <a:srgbClr val="11141B"/>
                </a:solidFill>
                <a:latin typeface="JetBrains Mono" pitchFamily="49" charset="0"/>
                <a:ea typeface="JetBrains Mono" pitchFamily="49" charset="-122"/>
                <a:cs typeface="JetBrains Mono" pitchFamily="49" charset="-120"/>
              </a:rPr>
              <a:t>POST /checkout → 200 OK, mas demorou demais</a:t>
            </a:r>
            <a:endParaRPr lang="en-US" sz="1600" dirty="0"/>
          </a:p>
        </p:txBody>
      </p:sp>
      <p:sp>
        <p:nvSpPr>
          <p:cNvPr id="5" name="Text 3"/>
          <p:cNvSpPr/>
          <p:nvPr/>
        </p:nvSpPr>
        <p:spPr>
          <a:xfrm>
            <a:off x="812800" y="3032761"/>
            <a:ext cx="1731248" cy="690880"/>
          </a:xfrm>
          <a:prstGeom prst="roundRect">
            <a:avLst>
              <a:gd name="adj" fmla="val 11029"/>
            </a:avLst>
          </a:prstGeom>
          <a:solidFill>
            <a:srgbClr val="11141B"/>
          </a:solidFill>
          <a:ln/>
        </p:spPr>
        <p:txBody>
          <a:bodyPr wrap="square" lIns="53882" tIns="180882" rIns="53882" bIns="155482" rtlCol="0" anchor="t">
            <a:normAutofit/>
          </a:bodyPr>
          <a:lstStyle/>
          <a:p>
            <a:pPr algn="ctr"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Laravel</a:t>
            </a:r>
            <a:endParaRPr lang="en-US" sz="1600" dirty="0"/>
          </a:p>
        </p:txBody>
      </p:sp>
      <p:pic>
        <p:nvPicPr>
          <p:cNvPr id="6" name="Image 0" descr="arrow-right">    </p:cNvPr>
          <p:cNvPicPr>
            <a:picLocks noChangeAspect="1"/>
          </p:cNvPicPr>
          <p:nvPr/>
        </p:nvPicPr>
        <p:blipFill>
          <a:blip r:embed="rId1"/>
          <a:srcRect l="0" r="0" t="0" b="0"/>
          <a:stretch/>
        </p:blipFill>
        <p:spPr>
          <a:xfrm>
            <a:off x="2645648" y="3302000"/>
            <a:ext cx="254000" cy="152400"/>
          </a:xfrm>
          <a:prstGeom prst="rect">
            <a:avLst/>
          </a:prstGeom>
        </p:spPr>
      </p:pic>
      <p:sp>
        <p:nvSpPr>
          <p:cNvPr id="7" name="Text 4"/>
          <p:cNvSpPr/>
          <p:nvPr/>
        </p:nvSpPr>
        <p:spPr>
          <a:xfrm>
            <a:off x="3007598" y="3028950"/>
            <a:ext cx="1738948" cy="698500"/>
          </a:xfrm>
          <a:prstGeom prst="roundRect">
            <a:avLst>
              <a:gd name="adj" fmla="val 10000"/>
            </a:avLst>
          </a:prstGeom>
          <a:solidFill>
            <a:srgbClr val="FBFAF6"/>
          </a:solidFill>
          <a:ln w="12700">
            <a:solidFill>
              <a:srgbClr val="11141B"/>
            </a:solidFill>
            <a:prstDash val="solid"/>
          </a:ln>
        </p:spPr>
        <p:txBody>
          <a:bodyPr wrap="square" lIns="59552" tIns="186552" rIns="59552" bIns="16115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Redis</a:t>
            </a:r>
            <a:endParaRPr lang="en-US" sz="1600" dirty="0"/>
          </a:p>
        </p:txBody>
      </p:sp>
      <p:pic>
        <p:nvPicPr>
          <p:cNvPr id="8" name="Image 1" descr="arrow-right">    </p:cNvPr>
          <p:cNvPicPr>
            <a:picLocks noChangeAspect="1"/>
          </p:cNvPicPr>
          <p:nvPr/>
        </p:nvPicPr>
        <p:blipFill>
          <a:blip r:embed="rId2"/>
          <a:srcRect l="0" r="0" t="0" b="0"/>
          <a:stretch/>
        </p:blipFill>
        <p:spPr>
          <a:xfrm>
            <a:off x="4854496" y="3302000"/>
            <a:ext cx="254000" cy="152400"/>
          </a:xfrm>
          <a:prstGeom prst="rect">
            <a:avLst/>
          </a:prstGeom>
        </p:spPr>
      </p:pic>
      <p:sp>
        <p:nvSpPr>
          <p:cNvPr id="9" name="Text 5"/>
          <p:cNvSpPr/>
          <p:nvPr/>
        </p:nvSpPr>
        <p:spPr>
          <a:xfrm>
            <a:off x="5216446" y="3028950"/>
            <a:ext cx="1738868" cy="698500"/>
          </a:xfrm>
          <a:prstGeom prst="roundRect">
            <a:avLst>
              <a:gd name="adj" fmla="val 10000"/>
            </a:avLst>
          </a:prstGeom>
          <a:solidFill>
            <a:srgbClr val="FBFAF6"/>
          </a:solidFill>
          <a:ln w="12700">
            <a:solidFill>
              <a:srgbClr val="11141B"/>
            </a:solidFill>
            <a:prstDash val="solid"/>
          </a:ln>
        </p:spPr>
        <p:txBody>
          <a:bodyPr wrap="square" lIns="59552" tIns="186552" rIns="59552" bIns="16115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MySQL</a:t>
            </a:r>
            <a:endParaRPr lang="en-US" sz="1600" dirty="0"/>
          </a:p>
        </p:txBody>
      </p:sp>
      <p:pic>
        <p:nvPicPr>
          <p:cNvPr id="10" name="Image 2" descr="arrow-right">    </p:cNvPr>
          <p:cNvPicPr>
            <a:picLocks noChangeAspect="1"/>
          </p:cNvPicPr>
          <p:nvPr/>
        </p:nvPicPr>
        <p:blipFill>
          <a:blip r:embed="rId3"/>
          <a:srcRect l="0" r="0" t="0" b="0"/>
          <a:stretch/>
        </p:blipFill>
        <p:spPr>
          <a:xfrm>
            <a:off x="7063264" y="3302000"/>
            <a:ext cx="254000" cy="152400"/>
          </a:xfrm>
          <a:prstGeom prst="rect">
            <a:avLst/>
          </a:prstGeom>
        </p:spPr>
      </p:pic>
      <p:sp>
        <p:nvSpPr>
          <p:cNvPr id="11" name="Text 6"/>
          <p:cNvSpPr/>
          <p:nvPr/>
        </p:nvSpPr>
        <p:spPr>
          <a:xfrm>
            <a:off x="7425214" y="2886711"/>
            <a:ext cx="1738868" cy="982980"/>
          </a:xfrm>
          <a:prstGeom prst="roundRect">
            <a:avLst>
              <a:gd name="adj" fmla="val 7106"/>
            </a:avLst>
          </a:prstGeom>
          <a:solidFill>
            <a:srgbClr val="FBFAF6"/>
          </a:solidFill>
          <a:ln w="12700">
            <a:solidFill>
              <a:srgbClr val="11141B"/>
            </a:solidFill>
            <a:prstDash val="solid"/>
          </a:ln>
        </p:spPr>
        <p:txBody>
          <a:bodyPr wrap="square" lIns="59552" tIns="186552" rIns="59552" bIns="16115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API de pagamento</a:t>
            </a:r>
            <a:endParaRPr lang="en-US" sz="1600" dirty="0"/>
          </a:p>
        </p:txBody>
      </p:sp>
      <p:pic>
        <p:nvPicPr>
          <p:cNvPr id="12" name="Image 3" descr="arrow-right">    </p:cNvPr>
          <p:cNvPicPr>
            <a:picLocks noChangeAspect="1"/>
          </p:cNvPicPr>
          <p:nvPr/>
        </p:nvPicPr>
        <p:blipFill>
          <a:blip r:embed="rId4"/>
          <a:srcRect l="0" r="0" t="0" b="0"/>
          <a:stretch/>
        </p:blipFill>
        <p:spPr>
          <a:xfrm>
            <a:off x="9272032" y="3302000"/>
            <a:ext cx="254000" cy="152400"/>
          </a:xfrm>
          <a:prstGeom prst="rect">
            <a:avLst/>
          </a:prstGeom>
        </p:spPr>
      </p:pic>
      <p:sp>
        <p:nvSpPr>
          <p:cNvPr id="13" name="Text 7"/>
          <p:cNvSpPr/>
          <p:nvPr/>
        </p:nvSpPr>
        <p:spPr>
          <a:xfrm>
            <a:off x="9633982" y="3028950"/>
            <a:ext cx="1738868" cy="698500"/>
          </a:xfrm>
          <a:prstGeom prst="roundRect">
            <a:avLst>
              <a:gd name="adj" fmla="val 10000"/>
            </a:avLst>
          </a:prstGeom>
          <a:solidFill>
            <a:srgbClr val="FBFAF6"/>
          </a:solidFill>
          <a:ln w="12700">
            <a:solidFill>
              <a:srgbClr val="11141B"/>
            </a:solidFill>
            <a:prstDash val="solid"/>
          </a:ln>
        </p:spPr>
        <p:txBody>
          <a:bodyPr wrap="square" lIns="59552" tIns="186552" rIns="59552" bIns="16115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Job na fila</a:t>
            </a:r>
            <a:endParaRPr lang="en-US" sz="1600" dirty="0"/>
          </a:p>
        </p:txBody>
      </p:sp>
      <p:sp>
        <p:nvSpPr>
          <p:cNvPr id="14" name="Text 8"/>
          <p:cNvSpPr/>
          <p:nvPr/>
        </p:nvSpPr>
        <p:spPr>
          <a:xfrm>
            <a:off x="812800" y="4231642"/>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Sem trace, cada caixa é um suspeito.</a:t>
            </a:r>
            <a:endParaRPr lang="en-US" sz="2200" dirty="0"/>
          </a:p>
        </p:txBody>
      </p:sp>
      <p:sp>
        <p:nvSpPr>
          <p:cNvPr id="15" name="Text 9"/>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 problema · O cenário clássico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1990092"/>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A3D"/>
                </a:solidFill>
                <a:latin typeface="JetBrains Mono" pitchFamily="49" charset="0"/>
                <a:ea typeface="JetBrains Mono" pitchFamily="49" charset="-122"/>
                <a:cs typeface="JetBrains Mono" pitchFamily="49" charset="-120"/>
              </a:rPr>
              <a:t>A IDEIA CENTRAL</a:t>
            </a:r>
            <a:endParaRPr lang="en-US" sz="1400" dirty="0"/>
          </a:p>
        </p:txBody>
      </p:sp>
      <p:sp>
        <p:nvSpPr>
          <p:cNvPr id="3" name="Text 1"/>
          <p:cNvSpPr/>
          <p:nvPr>
            <p:ph type="title"/>
          </p:nvPr>
        </p:nvSpPr>
        <p:spPr>
          <a:xfrm>
            <a:off x="812800" y="2543814"/>
            <a:ext cx="10883392" cy="1478280"/>
          </a:xfrm>
          <a:prstGeom prst="rect">
            <a:avLst/>
          </a:prstGeom>
          <a:noFill/>
          <a:ln/>
        </p:spPr>
        <p:txBody>
          <a:bodyPr wrap="square" lIns="0" tIns="0" rIns="0" bIns="0" rtlCol="0" anchor="t">
            <a:normAutofit/>
          </a:bodyPr>
          <a:lstStyle/>
          <a:p>
            <a:pPr algn="l" indent="0" marL="0">
              <a:lnSpc>
                <a:spcPts val="5720"/>
              </a:lnSpc>
              <a:buNone/>
            </a:pPr>
            <a:r>
              <a:rPr lang="en-US" sz="5200" b="1" i="0" dirty="0">
                <a:solidFill>
                  <a:srgbClr val="F3F0E8"/>
                </a:solidFill>
                <a:latin typeface="IBM Plex Sans" pitchFamily="34" charset="0"/>
                <a:ea typeface="IBM Plex Sans" pitchFamily="34" charset="-122"/>
                <a:cs typeface="IBM Plex Sans" pitchFamily="34" charset="-120"/>
              </a:rPr>
              <a:t>É aqui que o </a:t>
            </a:r>
            <a:r>
              <a:rPr lang="en-US" sz="5200" b="1" i="0" dirty="0">
                <a:solidFill>
                  <a:srgbClr val="3CC8B4"/>
                </a:solidFill>
                <a:latin typeface="IBM Plex Sans" pitchFamily="34" charset="0"/>
                <a:ea typeface="IBM Plex Sans" pitchFamily="34" charset="-122"/>
                <a:cs typeface="IBM Plex Sans" pitchFamily="34" charset="-120"/>
              </a:rPr>
              <a:t>trace_id</a:t>
            </a:r>
            <a:r>
              <a:rPr lang="en-US" sz="5200" b="1" i="0" dirty="0">
                <a:solidFill>
                  <a:srgbClr val="F3F0E8"/>
                </a:solidFill>
                <a:latin typeface="IBM Plex Sans" pitchFamily="34" charset="0"/>
                <a:ea typeface="IBM Plex Sans" pitchFamily="34" charset="-122"/>
                <a:cs typeface="IBM Plex Sans" pitchFamily="34" charset="-120"/>
              </a:rPr>
              <a:t> salva sua vida.</a:t>
            </a:r>
            <a:endParaRPr lang="en-US" sz="5200" dirty="0"/>
          </a:p>
        </p:txBody>
      </p:sp>
      <p:sp>
        <p:nvSpPr>
          <p:cNvPr id="4" name="Text 2"/>
          <p:cNvSpPr/>
          <p:nvPr/>
        </p:nvSpPr>
        <p:spPr>
          <a:xfrm>
            <a:off x="812800" y="4301492"/>
            <a:ext cx="10883392" cy="38862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7D5"/>
                </a:solidFill>
                <a:latin typeface="IBM Plex Sans" pitchFamily="34" charset="0"/>
                <a:ea typeface="IBM Plex Sans" pitchFamily="34" charset="-122"/>
                <a:cs typeface="IBM Plex Sans" pitchFamily="34" charset="-120"/>
              </a:rPr>
              <a:t>Um identificador único que acompanha a request por serviços, jobs e logs.</a:t>
            </a:r>
            <a:endParaRPr lang="en-US" sz="2200" dirty="0"/>
          </a:p>
        </p:txBody>
      </p:sp>
      <p:sp>
        <p:nvSpPr>
          <p:cNvPr id="5"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O problema · Transição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418592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OPENTELEMETRY</a:t>
            </a:r>
            <a:endParaRPr lang="en-US" sz="1200" dirty="0"/>
          </a:p>
        </p:txBody>
      </p:sp>
      <p:sp>
        <p:nvSpPr>
          <p:cNvPr id="3" name="Text 1"/>
          <p:cNvSpPr/>
          <p:nvPr>
            <p:ph type="title"/>
          </p:nvPr>
        </p:nvSpPr>
        <p:spPr>
          <a:xfrm>
            <a:off x="812800" y="1229364"/>
            <a:ext cx="4185920" cy="103124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O que é OpenTelemetry</a:t>
            </a:r>
            <a:endParaRPr lang="en-US" sz="3600" dirty="0"/>
          </a:p>
        </p:txBody>
      </p:sp>
      <p:sp>
        <p:nvSpPr>
          <p:cNvPr id="4" name="Text 2"/>
          <p:cNvSpPr/>
          <p:nvPr/>
        </p:nvSpPr>
        <p:spPr>
          <a:xfrm>
            <a:off x="812800" y="2438400"/>
            <a:ext cx="4185920" cy="87884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Um padrão aberto para gerar e enviar telemetria. Você instrumenta uma vez e escolhe o destino depois.</a:t>
            </a:r>
            <a:endParaRPr lang="en-US" sz="1600" dirty="0"/>
          </a:p>
        </p:txBody>
      </p:sp>
      <p:sp>
        <p:nvSpPr>
          <p:cNvPr id="5" name="Shape 3"/>
          <p:cNvSpPr/>
          <p:nvPr/>
        </p:nvSpPr>
        <p:spPr>
          <a:xfrm>
            <a:off x="5286375" y="815975"/>
            <a:ext cx="6089650" cy="1421130"/>
          </a:xfrm>
          <a:prstGeom prst="roundRect">
            <a:avLst>
              <a:gd name="adj" fmla="val 6926"/>
            </a:avLst>
          </a:prstGeom>
          <a:solidFill>
            <a:srgbClr val="FBFAF6"/>
          </a:solidFill>
          <a:ln w="6350">
            <a:solidFill>
              <a:srgbClr val="DAD5C8"/>
            </a:solidFill>
            <a:prstDash val="solid"/>
          </a:ln>
        </p:spPr>
      </p:sp>
      <p:sp>
        <p:nvSpPr>
          <p:cNvPr id="6" name="Text 4"/>
          <p:cNvSpPr/>
          <p:nvPr/>
        </p:nvSpPr>
        <p:spPr>
          <a:xfrm>
            <a:off x="5542280" y="1046479"/>
            <a:ext cx="574517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Padrão aberto</a:t>
            </a:r>
            <a:endParaRPr lang="en-US" sz="2200" dirty="0"/>
          </a:p>
        </p:txBody>
      </p:sp>
      <p:sp>
        <p:nvSpPr>
          <p:cNvPr id="7" name="Text 5"/>
          <p:cNvSpPr/>
          <p:nvPr/>
        </p:nvSpPr>
        <p:spPr>
          <a:xfrm>
            <a:off x="5542280" y="1457964"/>
            <a:ext cx="574517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Projeto da CNCF, mantido pela comunidade e por vários fornecedores.</a:t>
            </a:r>
            <a:endParaRPr lang="en-US" sz="1600" dirty="0"/>
          </a:p>
        </p:txBody>
      </p:sp>
      <p:sp>
        <p:nvSpPr>
          <p:cNvPr id="8" name="Shape 6"/>
          <p:cNvSpPr/>
          <p:nvPr/>
        </p:nvSpPr>
        <p:spPr>
          <a:xfrm>
            <a:off x="5286375" y="2395854"/>
            <a:ext cx="6089650" cy="1421130"/>
          </a:xfrm>
          <a:prstGeom prst="roundRect">
            <a:avLst>
              <a:gd name="adj" fmla="val 6926"/>
            </a:avLst>
          </a:prstGeom>
          <a:solidFill>
            <a:srgbClr val="FBFAF6"/>
          </a:solidFill>
          <a:ln w="6350">
            <a:solidFill>
              <a:srgbClr val="DAD5C8"/>
            </a:solidFill>
            <a:prstDash val="solid"/>
          </a:ln>
        </p:spPr>
      </p:sp>
      <p:sp>
        <p:nvSpPr>
          <p:cNvPr id="9" name="Text 7"/>
          <p:cNvSpPr/>
          <p:nvPr/>
        </p:nvSpPr>
        <p:spPr>
          <a:xfrm>
            <a:off x="5542280" y="2626364"/>
            <a:ext cx="574517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Instrumente uma vez</a:t>
            </a:r>
            <a:endParaRPr lang="en-US" sz="2200" dirty="0"/>
          </a:p>
        </p:txBody>
      </p:sp>
      <p:sp>
        <p:nvSpPr>
          <p:cNvPr id="10" name="Text 8"/>
          <p:cNvSpPr/>
          <p:nvPr/>
        </p:nvSpPr>
        <p:spPr>
          <a:xfrm>
            <a:off x="5542280" y="3037842"/>
            <a:ext cx="574517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O mesmo código serve para Grafana, Datadog, Jaeger e outros.</a:t>
            </a:r>
            <a:endParaRPr lang="en-US" sz="1600" dirty="0"/>
          </a:p>
        </p:txBody>
      </p:sp>
      <p:sp>
        <p:nvSpPr>
          <p:cNvPr id="11" name="Shape 9"/>
          <p:cNvSpPr/>
          <p:nvPr/>
        </p:nvSpPr>
        <p:spPr>
          <a:xfrm>
            <a:off x="5283200" y="3972564"/>
            <a:ext cx="6096000" cy="1143000"/>
          </a:xfrm>
          <a:prstGeom prst="roundRect">
            <a:avLst>
              <a:gd name="adj" fmla="val 8889"/>
            </a:avLst>
          </a:prstGeom>
          <a:solidFill>
            <a:srgbClr val="11141B"/>
          </a:solidFill>
          <a:ln/>
        </p:spPr>
      </p:sp>
      <p:sp>
        <p:nvSpPr>
          <p:cNvPr id="12" name="Text 10"/>
          <p:cNvSpPr/>
          <p:nvPr/>
        </p:nvSpPr>
        <p:spPr>
          <a:xfrm>
            <a:off x="5537200" y="4201164"/>
            <a:ext cx="575564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Três sinais, um vocabulário</a:t>
            </a:r>
            <a:endParaRPr lang="en-US" sz="2200" dirty="0"/>
          </a:p>
        </p:txBody>
      </p:sp>
      <p:sp>
        <p:nvSpPr>
          <p:cNvPr id="13" name="Text 11"/>
          <p:cNvSpPr/>
          <p:nvPr/>
        </p:nvSpPr>
        <p:spPr>
          <a:xfrm>
            <a:off x="5537200" y="4612642"/>
            <a:ext cx="575564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Traces, métricas e logs falando a mesma língua.</a:t>
            </a:r>
            <a:endParaRPr lang="en-US" sz="1600" dirty="0"/>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OpenTelemetry no ecossistema PHP · O que é</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OPENTELEMETRY NO ECOSSISTEMA PHP</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“PHP não tem suporte” já era</a:t>
            </a:r>
            <a:endParaRPr lang="en-US" sz="3600" dirty="0"/>
          </a:p>
        </p:txBody>
      </p:sp>
      <p:sp>
        <p:nvSpPr>
          <p:cNvPr id="4" name="Shape 2"/>
          <p:cNvSpPr/>
          <p:nvPr/>
        </p:nvSpPr>
        <p:spPr>
          <a:xfrm>
            <a:off x="812800" y="1986279"/>
            <a:ext cx="3386614" cy="1300480"/>
          </a:xfrm>
          <a:prstGeom prst="roundRect">
            <a:avLst>
              <a:gd name="adj" fmla="val 7813"/>
            </a:avLst>
          </a:prstGeom>
          <a:solidFill>
            <a:srgbClr val="1B212C"/>
          </a:solidFill>
          <a:ln/>
        </p:spPr>
      </p:sp>
      <p:sp>
        <p:nvSpPr>
          <p:cNvPr id="5" name="Text 3"/>
          <p:cNvSpPr/>
          <p:nvPr/>
        </p:nvSpPr>
        <p:spPr>
          <a:xfrm>
            <a:off x="1066800" y="2240279"/>
            <a:ext cx="29649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TRACES</a:t>
            </a:r>
            <a:endParaRPr lang="en-US" sz="1200" dirty="0"/>
          </a:p>
        </p:txBody>
      </p:sp>
      <p:sp>
        <p:nvSpPr>
          <p:cNvPr id="6" name="Text 4"/>
          <p:cNvSpPr/>
          <p:nvPr/>
        </p:nvSpPr>
        <p:spPr>
          <a:xfrm>
            <a:off x="1066800" y="2529842"/>
            <a:ext cx="2964972"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CC8B4"/>
                </a:solidFill>
                <a:latin typeface="IBM Plex Sans" pitchFamily="34" charset="0"/>
                <a:ea typeface="IBM Plex Sans" pitchFamily="34" charset="-122"/>
                <a:cs typeface="IBM Plex Sans" pitchFamily="34" charset="-120"/>
              </a:rPr>
              <a:t>Estável</a:t>
            </a:r>
            <a:endParaRPr lang="en-US" sz="3600" dirty="0"/>
          </a:p>
        </p:txBody>
      </p:sp>
      <p:sp>
        <p:nvSpPr>
          <p:cNvPr id="7" name="Shape 5"/>
          <p:cNvSpPr/>
          <p:nvPr/>
        </p:nvSpPr>
        <p:spPr>
          <a:xfrm>
            <a:off x="4402614" y="1986279"/>
            <a:ext cx="3386693" cy="1300480"/>
          </a:xfrm>
          <a:prstGeom prst="roundRect">
            <a:avLst>
              <a:gd name="adj" fmla="val 7813"/>
            </a:avLst>
          </a:prstGeom>
          <a:solidFill>
            <a:srgbClr val="1B212C"/>
          </a:solidFill>
          <a:ln/>
        </p:spPr>
      </p:sp>
      <p:sp>
        <p:nvSpPr>
          <p:cNvPr id="8" name="Text 6"/>
          <p:cNvSpPr/>
          <p:nvPr/>
        </p:nvSpPr>
        <p:spPr>
          <a:xfrm>
            <a:off x="4656614" y="2240279"/>
            <a:ext cx="2965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MÉTRICAS</a:t>
            </a:r>
            <a:endParaRPr lang="en-US" sz="1200" dirty="0"/>
          </a:p>
        </p:txBody>
      </p:sp>
      <p:sp>
        <p:nvSpPr>
          <p:cNvPr id="9" name="Text 7"/>
          <p:cNvSpPr/>
          <p:nvPr/>
        </p:nvSpPr>
        <p:spPr>
          <a:xfrm>
            <a:off x="4656614" y="2529842"/>
            <a:ext cx="2965054"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CC8B4"/>
                </a:solidFill>
                <a:latin typeface="IBM Plex Sans" pitchFamily="34" charset="0"/>
                <a:ea typeface="IBM Plex Sans" pitchFamily="34" charset="-122"/>
                <a:cs typeface="IBM Plex Sans" pitchFamily="34" charset="-120"/>
              </a:rPr>
              <a:t>Estável</a:t>
            </a:r>
            <a:endParaRPr lang="en-US" sz="3600" dirty="0"/>
          </a:p>
        </p:txBody>
      </p:sp>
      <p:sp>
        <p:nvSpPr>
          <p:cNvPr id="10" name="Shape 8"/>
          <p:cNvSpPr/>
          <p:nvPr/>
        </p:nvSpPr>
        <p:spPr>
          <a:xfrm>
            <a:off x="7992507" y="1986279"/>
            <a:ext cx="3386693" cy="1300480"/>
          </a:xfrm>
          <a:prstGeom prst="roundRect">
            <a:avLst>
              <a:gd name="adj" fmla="val 7813"/>
            </a:avLst>
          </a:prstGeom>
          <a:solidFill>
            <a:srgbClr val="1B212C"/>
          </a:solidFill>
          <a:ln/>
        </p:spPr>
      </p:sp>
      <p:sp>
        <p:nvSpPr>
          <p:cNvPr id="11" name="Text 9"/>
          <p:cNvSpPr/>
          <p:nvPr/>
        </p:nvSpPr>
        <p:spPr>
          <a:xfrm>
            <a:off x="8246507" y="2240279"/>
            <a:ext cx="296505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LOGS</a:t>
            </a:r>
            <a:endParaRPr lang="en-US" sz="1200" dirty="0"/>
          </a:p>
        </p:txBody>
      </p:sp>
      <p:sp>
        <p:nvSpPr>
          <p:cNvPr id="12" name="Text 10"/>
          <p:cNvSpPr/>
          <p:nvPr/>
        </p:nvSpPr>
        <p:spPr>
          <a:xfrm>
            <a:off x="8246507" y="2529842"/>
            <a:ext cx="2965054" cy="528320"/>
          </a:xfrm>
          <a:prstGeom prst="rect">
            <a:avLst/>
          </a:prstGeom>
          <a:noFill/>
          <a:ln/>
        </p:spPr>
        <p:txBody>
          <a:bodyPr wrap="square" lIns="0" tIns="0" rIns="0" bIns="0" rtlCol="0" anchor="t">
            <a:normAutofit/>
          </a:bodyPr>
          <a:lstStyle/>
          <a:p>
            <a:pPr algn="l" indent="0" marL="0">
              <a:lnSpc>
                <a:spcPts val="3960"/>
              </a:lnSpc>
              <a:buNone/>
            </a:pPr>
            <a:r>
              <a:rPr lang="en-US" sz="3600" b="1" dirty="0">
                <a:solidFill>
                  <a:srgbClr val="3CC8B4"/>
                </a:solidFill>
                <a:latin typeface="IBM Plex Sans" pitchFamily="34" charset="0"/>
                <a:ea typeface="IBM Plex Sans" pitchFamily="34" charset="-122"/>
                <a:cs typeface="IBM Plex Sans" pitchFamily="34" charset="-120"/>
              </a:rPr>
              <a:t>Estável</a:t>
            </a:r>
            <a:endParaRPr lang="en-US" sz="3600" dirty="0"/>
          </a:p>
        </p:txBody>
      </p:sp>
      <p:sp>
        <p:nvSpPr>
          <p:cNvPr id="13" name="Text 11"/>
          <p:cNvSpPr/>
          <p:nvPr/>
        </p:nvSpPr>
        <p:spPr>
          <a:xfrm>
            <a:off x="812800" y="3642364"/>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F0E8"/>
                </a:solidFill>
                <a:latin typeface="IBM Plex Sans" pitchFamily="34" charset="0"/>
                <a:ea typeface="IBM Plex Sans" pitchFamily="34" charset="-122"/>
                <a:cs typeface="IBM Plex Sans" pitchFamily="34" charset="-120"/>
              </a:rPr>
              <a:t>Auto-instrumentação com a extensão nativa ext-opentelemetry, instalada via PECL.</a:t>
            </a:r>
            <a:endParaRPr lang="en-US" sz="1600" dirty="0"/>
          </a:p>
        </p:txBody>
      </p:sp>
      <p:sp>
        <p:nvSpPr>
          <p:cNvPr id="14" name="Text 12"/>
          <p:cNvSpPr/>
          <p:nvPr/>
        </p:nvSpPr>
        <p:spPr>
          <a:xfrm>
            <a:off x="812800" y="4043679"/>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3F0E8"/>
                </a:solidFill>
                <a:latin typeface="IBM Plex Sans" pitchFamily="34" charset="0"/>
                <a:ea typeface="IBM Plex Sans" pitchFamily="34" charset="-122"/>
                <a:cs typeface="IBM Plex Sans" pitchFamily="34" charset="-120"/>
              </a:rPr>
              <a:t>Pacotes prontos no Composer para Laravel, Symfony e outras bibliotecas.</a:t>
            </a:r>
            <a:endParaRPr lang="en-US" sz="1600" dirty="0"/>
          </a:p>
        </p:txBody>
      </p:sp>
      <p:sp>
        <p:nvSpPr>
          <p:cNvPr id="15" name="Text 13"/>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Fonte: opentelemetry.io/docs/languages/php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OPENTELEMETRY NO ECOSSISTEMA PHP</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Laravel e Symfony: o caminho curto</a:t>
            </a:r>
            <a:endParaRPr lang="en-US" sz="3600" dirty="0"/>
          </a:p>
        </p:txBody>
      </p:sp>
      <p:sp>
        <p:nvSpPr>
          <p:cNvPr id="4" name="Text 2"/>
          <p:cNvSpPr/>
          <p:nvPr/>
        </p:nvSpPr>
        <p:spPr>
          <a:xfrm>
            <a:off x="812800" y="2070100"/>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Laravel</a:t>
            </a:r>
            <a:endParaRPr lang="en-US" sz="1600" dirty="0"/>
          </a:p>
        </p:txBody>
      </p:sp>
      <p:sp>
        <p:nvSpPr>
          <p:cNvPr id="5" name="Text 3"/>
          <p:cNvSpPr/>
          <p:nvPr/>
        </p:nvSpPr>
        <p:spPr>
          <a:xfrm>
            <a:off x="2921000" y="1935479"/>
            <a:ext cx="8458200" cy="553720"/>
          </a:xfrm>
          <a:prstGeom prst="roundRect">
            <a:avLst>
              <a:gd name="adj" fmla="val 13761"/>
            </a:avLst>
          </a:prstGeom>
          <a:solidFill>
            <a:srgbClr val="11141B"/>
          </a:solidFill>
          <a:ln/>
        </p:spPr>
        <p:txBody>
          <a:bodyPr wrap="square" lIns="180882" tIns="130082" rIns="0" bIns="104682" rtlCol="0" anchor="t">
            <a:normAutofit/>
          </a:bodyPr>
          <a:lstStyle/>
          <a:p>
            <a:pPr algn="l"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composer require open-telemetry/opentelemetry-auto-laravel</a:t>
            </a:r>
            <a:endParaRPr lang="en-US" sz="1400" dirty="0"/>
          </a:p>
        </p:txBody>
      </p:sp>
      <p:sp>
        <p:nvSpPr>
          <p:cNvPr id="6" name="Text 4"/>
          <p:cNvSpPr/>
          <p:nvPr/>
        </p:nvSpPr>
        <p:spPr>
          <a:xfrm>
            <a:off x="812800" y="2750821"/>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Symfony</a:t>
            </a:r>
            <a:endParaRPr lang="en-US" sz="1600" dirty="0"/>
          </a:p>
        </p:txBody>
      </p:sp>
      <p:sp>
        <p:nvSpPr>
          <p:cNvPr id="7" name="Text 5"/>
          <p:cNvSpPr/>
          <p:nvPr/>
        </p:nvSpPr>
        <p:spPr>
          <a:xfrm>
            <a:off x="2921000" y="2616200"/>
            <a:ext cx="8458200" cy="553720"/>
          </a:xfrm>
          <a:prstGeom prst="roundRect">
            <a:avLst>
              <a:gd name="adj" fmla="val 13761"/>
            </a:avLst>
          </a:prstGeom>
          <a:solidFill>
            <a:srgbClr val="11141B"/>
          </a:solidFill>
          <a:ln/>
        </p:spPr>
        <p:txBody>
          <a:bodyPr wrap="square" lIns="180882" tIns="130082" rIns="0" bIns="104682" rtlCol="0" anchor="t">
            <a:normAutofit/>
          </a:bodyPr>
          <a:lstStyle/>
          <a:p>
            <a:pPr algn="l"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composer require open-telemetry/opentelemetry-auto-symfony</a:t>
            </a:r>
            <a:endParaRPr lang="en-US" sz="1400" dirty="0"/>
          </a:p>
        </p:txBody>
      </p:sp>
      <p:sp>
        <p:nvSpPr>
          <p:cNvPr id="8" name="Text 6"/>
          <p:cNvSpPr/>
          <p:nvPr/>
        </p:nvSpPr>
        <p:spPr>
          <a:xfrm>
            <a:off x="812800" y="3431542"/>
            <a:ext cx="196215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Logs (PSR-3)</a:t>
            </a:r>
            <a:endParaRPr lang="en-US" sz="1600" dirty="0"/>
          </a:p>
        </p:txBody>
      </p:sp>
      <p:sp>
        <p:nvSpPr>
          <p:cNvPr id="9" name="Text 7"/>
          <p:cNvSpPr/>
          <p:nvPr/>
        </p:nvSpPr>
        <p:spPr>
          <a:xfrm>
            <a:off x="2921000" y="3296921"/>
            <a:ext cx="8458200" cy="553720"/>
          </a:xfrm>
          <a:prstGeom prst="roundRect">
            <a:avLst>
              <a:gd name="adj" fmla="val 13761"/>
            </a:avLst>
          </a:prstGeom>
          <a:solidFill>
            <a:srgbClr val="11141B"/>
          </a:solidFill>
          <a:ln/>
        </p:spPr>
        <p:txBody>
          <a:bodyPr wrap="square" lIns="180882" tIns="130082" rIns="0" bIns="104682" rtlCol="0" anchor="t">
            <a:normAutofit/>
          </a:bodyPr>
          <a:lstStyle/>
          <a:p>
            <a:pPr algn="l"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composer require open-telemetry/opentelemetry-auto-psr3</a:t>
            </a:r>
            <a:endParaRPr lang="en-US" sz="1400" dirty="0"/>
          </a:p>
        </p:txBody>
      </p:sp>
      <p:sp>
        <p:nvSpPr>
          <p:cNvPr id="10" name="Text 8"/>
          <p:cNvSpPr/>
          <p:nvPr/>
        </p:nvSpPr>
        <p:spPr>
          <a:xfrm>
            <a:off x="812800" y="4155442"/>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Ganchos automáticos no ciclo de vida do framework, sem mexer no código de negócio.</a:t>
            </a:r>
            <a:endParaRPr lang="en-US" sz="1600" dirty="0"/>
          </a:p>
        </p:txBody>
      </p:sp>
      <p:sp>
        <p:nvSpPr>
          <p:cNvPr id="11" name="Text 9"/>
          <p:cNvSpPr/>
          <p:nvPr/>
        </p:nvSpPr>
        <p:spPr>
          <a:xfrm>
            <a:off x="812800" y="4531364"/>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Pré-requisito: a extensão, com pecl install opentelemetry.</a:t>
            </a:r>
            <a:endParaRPr lang="en-US" sz="1600" dirty="0"/>
          </a:p>
        </p:txBody>
      </p:sp>
      <p:sp>
        <p:nvSpPr>
          <p:cNvPr id="12" name="Text 10"/>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OpenTelemetry no ecossistema PHP · Integração com frameworks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OPENTELEMETRY NO ECOSSISTEMA PHP</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Propagação de contexto</a:t>
            </a:r>
            <a:endParaRPr lang="en-US" sz="3600" dirty="0"/>
          </a:p>
        </p:txBody>
      </p:sp>
      <p:sp>
        <p:nvSpPr>
          <p:cNvPr id="4" name="Text 2"/>
          <p:cNvSpPr/>
          <p:nvPr/>
        </p:nvSpPr>
        <p:spPr>
          <a:xfrm>
            <a:off x="812800" y="1935479"/>
            <a:ext cx="1524000" cy="589280"/>
          </a:xfrm>
          <a:prstGeom prst="roundRect">
            <a:avLst>
              <a:gd name="adj" fmla="val 12931"/>
            </a:avLst>
          </a:prstGeom>
          <a:solidFill>
            <a:srgbClr val="F3F0E8"/>
          </a:solidFill>
          <a:ln/>
        </p:spPr>
        <p:txBody>
          <a:bodyPr wrap="square" lIns="53882" tIns="130082" rIns="53882" bIns="10468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Laravel</a:t>
            </a:r>
            <a:endParaRPr lang="en-US" sz="1600" dirty="0"/>
          </a:p>
        </p:txBody>
      </p:sp>
      <p:pic>
        <p:nvPicPr>
          <p:cNvPr id="5" name="Image 0" descr="arrow-right">    </p:cNvPr>
          <p:cNvPicPr>
            <a:picLocks noChangeAspect="1"/>
          </p:cNvPicPr>
          <p:nvPr/>
        </p:nvPicPr>
        <p:blipFill>
          <a:blip r:embed="rId1"/>
          <a:srcRect l="0" r="0" t="0" b="0"/>
          <a:stretch/>
        </p:blipFill>
        <p:spPr>
          <a:xfrm>
            <a:off x="2489200" y="2141221"/>
            <a:ext cx="355600" cy="177800"/>
          </a:xfrm>
          <a:prstGeom prst="rect">
            <a:avLst/>
          </a:prstGeom>
        </p:spPr>
      </p:pic>
      <p:sp>
        <p:nvSpPr>
          <p:cNvPr id="6" name="Text 3"/>
          <p:cNvSpPr/>
          <p:nvPr/>
        </p:nvSpPr>
        <p:spPr>
          <a:xfrm>
            <a:off x="2997200" y="1935479"/>
            <a:ext cx="1524000" cy="589280"/>
          </a:xfrm>
          <a:prstGeom prst="roundRect">
            <a:avLst>
              <a:gd name="adj" fmla="val 12931"/>
            </a:avLst>
          </a:prstGeom>
          <a:solidFill>
            <a:srgbClr val="1B212C"/>
          </a:solidFill>
          <a:ln/>
        </p:spPr>
        <p:txBody>
          <a:bodyPr wrap="square" lIns="53882" tIns="130082" rIns="53882" bIns="104682" rtlCol="0" anchor="t">
            <a:normAutofit/>
          </a:bodyPr>
          <a:lstStyle/>
          <a:p>
            <a:pPr algn="ctr"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Serviço B</a:t>
            </a:r>
            <a:endParaRPr lang="en-US" sz="1600" dirty="0"/>
          </a:p>
        </p:txBody>
      </p:sp>
      <p:sp>
        <p:nvSpPr>
          <p:cNvPr id="7" name="Text 4"/>
          <p:cNvSpPr/>
          <p:nvPr/>
        </p:nvSpPr>
        <p:spPr>
          <a:xfrm>
            <a:off x="4673600" y="2092964"/>
            <a:ext cx="751840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Header traceparent, padrão W3C, nas chamadas HTTP instrumentadas.</a:t>
            </a:r>
            <a:endParaRPr lang="en-US" sz="1600" dirty="0"/>
          </a:p>
        </p:txBody>
      </p:sp>
      <p:sp>
        <p:nvSpPr>
          <p:cNvPr id="8" name="Text 5"/>
          <p:cNvSpPr/>
          <p:nvPr/>
        </p:nvSpPr>
        <p:spPr>
          <a:xfrm>
            <a:off x="812800" y="2702564"/>
            <a:ext cx="1524000" cy="589280"/>
          </a:xfrm>
          <a:prstGeom prst="roundRect">
            <a:avLst>
              <a:gd name="adj" fmla="val 12931"/>
            </a:avLst>
          </a:prstGeom>
          <a:solidFill>
            <a:srgbClr val="F3F0E8"/>
          </a:solidFill>
          <a:ln/>
        </p:spPr>
        <p:txBody>
          <a:bodyPr wrap="square" lIns="53882" tIns="130082" rIns="53882" bIns="10468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Laravel</a:t>
            </a:r>
            <a:endParaRPr lang="en-US" sz="1600" dirty="0"/>
          </a:p>
        </p:txBody>
      </p:sp>
      <p:pic>
        <p:nvPicPr>
          <p:cNvPr id="9" name="Image 1" descr="arrow-right">    </p:cNvPr>
          <p:cNvPicPr>
            <a:picLocks noChangeAspect="1"/>
          </p:cNvPicPr>
          <p:nvPr/>
        </p:nvPicPr>
        <p:blipFill>
          <a:blip r:embed="rId2"/>
          <a:srcRect l="0" r="0" t="0" b="0"/>
          <a:stretch/>
        </p:blipFill>
        <p:spPr>
          <a:xfrm>
            <a:off x="2489200" y="2908300"/>
            <a:ext cx="355600" cy="177800"/>
          </a:xfrm>
          <a:prstGeom prst="rect">
            <a:avLst/>
          </a:prstGeom>
        </p:spPr>
      </p:pic>
      <p:sp>
        <p:nvSpPr>
          <p:cNvPr id="10" name="Text 6"/>
          <p:cNvSpPr/>
          <p:nvPr/>
        </p:nvSpPr>
        <p:spPr>
          <a:xfrm>
            <a:off x="2997200" y="2702564"/>
            <a:ext cx="1524000" cy="589280"/>
          </a:xfrm>
          <a:prstGeom prst="roundRect">
            <a:avLst>
              <a:gd name="adj" fmla="val 12931"/>
            </a:avLst>
          </a:prstGeom>
          <a:solidFill>
            <a:srgbClr val="1B212C"/>
          </a:solidFill>
          <a:ln/>
        </p:spPr>
        <p:txBody>
          <a:bodyPr wrap="square" lIns="53882" tIns="130082" rIns="53882" bIns="104682" rtlCol="0" anchor="t">
            <a:normAutofit/>
          </a:bodyPr>
          <a:lstStyle/>
          <a:p>
            <a:pPr algn="ctr"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Worker</a:t>
            </a:r>
            <a:endParaRPr lang="en-US" sz="1600" dirty="0"/>
          </a:p>
        </p:txBody>
      </p:sp>
      <p:sp>
        <p:nvSpPr>
          <p:cNvPr id="11" name="Text 7"/>
          <p:cNvSpPr/>
          <p:nvPr/>
        </p:nvSpPr>
        <p:spPr>
          <a:xfrm>
            <a:off x="4673600" y="2860042"/>
            <a:ext cx="751840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O contexto precisa ir no payload do job. Confira o que a sua versão já faz.</a:t>
            </a:r>
            <a:endParaRPr lang="en-US" sz="1600" dirty="0"/>
          </a:p>
        </p:txBody>
      </p:sp>
      <p:sp>
        <p:nvSpPr>
          <p:cNvPr id="12" name="Text 8"/>
          <p:cNvSpPr/>
          <p:nvPr/>
        </p:nvSpPr>
        <p:spPr>
          <a:xfrm>
            <a:off x="812800" y="3469642"/>
            <a:ext cx="1524000" cy="589280"/>
          </a:xfrm>
          <a:prstGeom prst="roundRect">
            <a:avLst>
              <a:gd name="adj" fmla="val 12931"/>
            </a:avLst>
          </a:prstGeom>
          <a:solidFill>
            <a:srgbClr val="F3F0E8"/>
          </a:solidFill>
          <a:ln/>
        </p:spPr>
        <p:txBody>
          <a:bodyPr wrap="square" lIns="53882" tIns="130082" rIns="53882" bIns="104682" rtlCol="0" anchor="t">
            <a:normAutofit/>
          </a:bodyPr>
          <a:lstStyle/>
          <a:p>
            <a:pPr algn="ctr" indent="0" marL="0">
              <a:lnSpc>
                <a:spcPts val="2240"/>
              </a:lnSpc>
              <a:buNone/>
            </a:pPr>
            <a:r>
              <a:rPr lang="en-US" sz="1600" b="1" dirty="0">
                <a:solidFill>
                  <a:srgbClr val="11141B"/>
                </a:solidFill>
                <a:latin typeface="IBM Plex Sans" pitchFamily="34" charset="0"/>
                <a:ea typeface="IBM Plex Sans" pitchFamily="34" charset="-122"/>
                <a:cs typeface="IBM Plex Sans" pitchFamily="34" charset="-120"/>
              </a:rPr>
              <a:t>Laravel</a:t>
            </a:r>
            <a:endParaRPr lang="en-US" sz="1600" dirty="0"/>
          </a:p>
        </p:txBody>
      </p:sp>
      <p:pic>
        <p:nvPicPr>
          <p:cNvPr id="13" name="Image 2" descr="arrow-right">    </p:cNvPr>
          <p:cNvPicPr>
            <a:picLocks noChangeAspect="1"/>
          </p:cNvPicPr>
          <p:nvPr/>
        </p:nvPicPr>
        <p:blipFill>
          <a:blip r:embed="rId3"/>
          <a:srcRect l="0" r="0" t="0" b="0"/>
          <a:stretch/>
        </p:blipFill>
        <p:spPr>
          <a:xfrm>
            <a:off x="2489200" y="3675379"/>
            <a:ext cx="355600" cy="177800"/>
          </a:xfrm>
          <a:prstGeom prst="rect">
            <a:avLst/>
          </a:prstGeom>
        </p:spPr>
      </p:pic>
      <p:sp>
        <p:nvSpPr>
          <p:cNvPr id="14" name="Text 9"/>
          <p:cNvSpPr/>
          <p:nvPr/>
        </p:nvSpPr>
        <p:spPr>
          <a:xfrm>
            <a:off x="2997200" y="3469642"/>
            <a:ext cx="1524000" cy="589280"/>
          </a:xfrm>
          <a:prstGeom prst="roundRect">
            <a:avLst>
              <a:gd name="adj" fmla="val 12931"/>
            </a:avLst>
          </a:prstGeom>
          <a:solidFill>
            <a:srgbClr val="1B212C"/>
          </a:solidFill>
          <a:ln/>
        </p:spPr>
        <p:txBody>
          <a:bodyPr wrap="square" lIns="53882" tIns="130082" rIns="53882" bIns="104682" rtlCol="0" anchor="t">
            <a:normAutofit/>
          </a:bodyPr>
          <a:lstStyle/>
          <a:p>
            <a:pPr algn="ctr"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Log</a:t>
            </a:r>
            <a:endParaRPr lang="en-US" sz="1600" dirty="0"/>
          </a:p>
        </p:txBody>
      </p:sp>
      <p:sp>
        <p:nvSpPr>
          <p:cNvPr id="15" name="Text 10"/>
          <p:cNvSpPr/>
          <p:nvPr/>
        </p:nvSpPr>
        <p:spPr>
          <a:xfrm>
            <a:off x="4673600" y="3627121"/>
            <a:ext cx="6906768"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trace_id e span_id em cada linha, via PSR-3, para pular do trace ao log.</a:t>
            </a:r>
            <a:endParaRPr lang="en-US" sz="1600" dirty="0"/>
          </a:p>
        </p:txBody>
      </p:sp>
      <p:sp>
        <p:nvSpPr>
          <p:cNvPr id="16"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OpenTelemetry no ecossistema PHP · Propagação de contexto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OPENTELEMETRY NO ECOSSISTEMA PHP</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A arquitetura em três caixas</a:t>
            </a:r>
            <a:endParaRPr lang="en-US" sz="3600" dirty="0"/>
          </a:p>
        </p:txBody>
      </p:sp>
      <p:sp>
        <p:nvSpPr>
          <p:cNvPr id="4" name="Shape 2"/>
          <p:cNvSpPr/>
          <p:nvPr/>
        </p:nvSpPr>
        <p:spPr>
          <a:xfrm>
            <a:off x="812800" y="1986279"/>
            <a:ext cx="2797334" cy="1706880"/>
          </a:xfrm>
          <a:prstGeom prst="roundRect">
            <a:avLst>
              <a:gd name="adj" fmla="val 5952"/>
            </a:avLst>
          </a:prstGeom>
          <a:solidFill>
            <a:srgbClr val="11141B"/>
          </a:solidFill>
          <a:ln/>
        </p:spPr>
      </p:sp>
      <p:sp>
        <p:nvSpPr>
          <p:cNvPr id="5" name="Text 3"/>
          <p:cNvSpPr/>
          <p:nvPr/>
        </p:nvSpPr>
        <p:spPr>
          <a:xfrm>
            <a:off x="1041400" y="2214879"/>
            <a:ext cx="24103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1</a:t>
            </a:r>
            <a:endParaRPr lang="en-US" sz="1200" dirty="0"/>
          </a:p>
        </p:txBody>
      </p:sp>
      <p:sp>
        <p:nvSpPr>
          <p:cNvPr id="6" name="Text 4"/>
          <p:cNvSpPr/>
          <p:nvPr/>
        </p:nvSpPr>
        <p:spPr>
          <a:xfrm>
            <a:off x="1041400" y="2504442"/>
            <a:ext cx="2410338"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App PHP</a:t>
            </a:r>
            <a:endParaRPr lang="en-US" sz="2200" dirty="0"/>
          </a:p>
        </p:txBody>
      </p:sp>
      <p:sp>
        <p:nvSpPr>
          <p:cNvPr id="7" name="Text 5"/>
          <p:cNvSpPr/>
          <p:nvPr/>
        </p:nvSpPr>
        <p:spPr>
          <a:xfrm>
            <a:off x="1041400" y="2915921"/>
            <a:ext cx="2410338"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Extensão e SDK geram os spans.</a:t>
            </a:r>
            <a:endParaRPr lang="en-US" sz="1600" dirty="0"/>
          </a:p>
        </p:txBody>
      </p:sp>
      <p:sp>
        <p:nvSpPr>
          <p:cNvPr id="8" name="Text 6"/>
          <p:cNvSpPr/>
          <p:nvPr/>
        </p:nvSpPr>
        <p:spPr>
          <a:xfrm>
            <a:off x="3924078" y="2593342"/>
            <a:ext cx="4389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OTLP</a:t>
            </a:r>
            <a:endParaRPr lang="en-US" sz="1200" dirty="0"/>
          </a:p>
        </p:txBody>
      </p:sp>
      <p:pic>
        <p:nvPicPr>
          <p:cNvPr id="9" name="Image 0" descr="arrow-right">    </p:cNvPr>
          <p:cNvPicPr>
            <a:picLocks noChangeAspect="1"/>
          </p:cNvPicPr>
          <p:nvPr/>
        </p:nvPicPr>
        <p:blipFill>
          <a:blip r:embed="rId1"/>
          <a:srcRect l="0" r="0" t="0" b="0"/>
          <a:stretch/>
        </p:blipFill>
        <p:spPr>
          <a:xfrm>
            <a:off x="3914934" y="2882900"/>
            <a:ext cx="457200" cy="203200"/>
          </a:xfrm>
          <a:prstGeom prst="rect">
            <a:avLst/>
          </a:prstGeom>
        </p:spPr>
      </p:pic>
      <p:sp>
        <p:nvSpPr>
          <p:cNvPr id="10" name="Shape 7"/>
          <p:cNvSpPr/>
          <p:nvPr/>
        </p:nvSpPr>
        <p:spPr>
          <a:xfrm>
            <a:off x="4683284" y="2119629"/>
            <a:ext cx="2805033" cy="1440180"/>
          </a:xfrm>
          <a:prstGeom prst="roundRect">
            <a:avLst>
              <a:gd name="adj" fmla="val 6614"/>
            </a:avLst>
          </a:prstGeom>
          <a:solidFill>
            <a:srgbClr val="FBFAF6"/>
          </a:solidFill>
          <a:ln w="12700">
            <a:solidFill>
              <a:srgbClr val="11141B"/>
            </a:solidFill>
            <a:prstDash val="solid"/>
          </a:ln>
        </p:spPr>
      </p:sp>
      <p:sp>
        <p:nvSpPr>
          <p:cNvPr id="11" name="Text 8"/>
          <p:cNvSpPr/>
          <p:nvPr/>
        </p:nvSpPr>
        <p:spPr>
          <a:xfrm>
            <a:off x="4915694" y="2352042"/>
            <a:ext cx="24104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2</a:t>
            </a:r>
            <a:endParaRPr lang="en-US" sz="1200" dirty="0"/>
          </a:p>
        </p:txBody>
      </p:sp>
      <p:sp>
        <p:nvSpPr>
          <p:cNvPr id="12" name="Text 9"/>
          <p:cNvSpPr/>
          <p:nvPr/>
        </p:nvSpPr>
        <p:spPr>
          <a:xfrm>
            <a:off x="4915694" y="2641600"/>
            <a:ext cx="24104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Collector</a:t>
            </a:r>
            <a:endParaRPr lang="en-US" sz="2200" dirty="0"/>
          </a:p>
        </p:txBody>
      </p:sp>
      <p:sp>
        <p:nvSpPr>
          <p:cNvPr id="13" name="Text 10"/>
          <p:cNvSpPr/>
          <p:nvPr/>
        </p:nvSpPr>
        <p:spPr>
          <a:xfrm>
            <a:off x="4915694" y="3053079"/>
            <a:ext cx="241042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Recebe, filtra e roteia.</a:t>
            </a:r>
            <a:endParaRPr lang="en-US" sz="1600" dirty="0"/>
          </a:p>
        </p:txBody>
      </p:sp>
      <p:sp>
        <p:nvSpPr>
          <p:cNvPr id="14" name="Text 11"/>
          <p:cNvSpPr/>
          <p:nvPr/>
        </p:nvSpPr>
        <p:spPr>
          <a:xfrm>
            <a:off x="7808611" y="2593342"/>
            <a:ext cx="4389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C2410C"/>
                </a:solidFill>
                <a:latin typeface="JetBrains Mono" pitchFamily="49" charset="0"/>
                <a:ea typeface="JetBrains Mono" pitchFamily="49" charset="-122"/>
                <a:cs typeface="JetBrains Mono" pitchFamily="49" charset="-120"/>
              </a:rPr>
              <a:t>OTLP</a:t>
            </a:r>
            <a:endParaRPr lang="en-US" sz="1200" dirty="0"/>
          </a:p>
        </p:txBody>
      </p:sp>
      <p:pic>
        <p:nvPicPr>
          <p:cNvPr id="15" name="Image 1" descr="arrow-right">    </p:cNvPr>
          <p:cNvPicPr>
            <a:picLocks noChangeAspect="1"/>
          </p:cNvPicPr>
          <p:nvPr/>
        </p:nvPicPr>
        <p:blipFill>
          <a:blip r:embed="rId2"/>
          <a:srcRect l="0" r="0" t="0" b="0"/>
          <a:stretch/>
        </p:blipFill>
        <p:spPr>
          <a:xfrm>
            <a:off x="7799467" y="2882900"/>
            <a:ext cx="457200" cy="203200"/>
          </a:xfrm>
          <a:prstGeom prst="rect">
            <a:avLst/>
          </a:prstGeom>
        </p:spPr>
      </p:pic>
      <p:sp>
        <p:nvSpPr>
          <p:cNvPr id="16" name="Shape 12"/>
          <p:cNvSpPr/>
          <p:nvPr/>
        </p:nvSpPr>
        <p:spPr>
          <a:xfrm>
            <a:off x="8567817" y="2119629"/>
            <a:ext cx="2805033" cy="1440180"/>
          </a:xfrm>
          <a:prstGeom prst="roundRect">
            <a:avLst>
              <a:gd name="adj" fmla="val 6614"/>
            </a:avLst>
          </a:prstGeom>
          <a:solidFill>
            <a:srgbClr val="FBFAF6"/>
          </a:solidFill>
          <a:ln w="12700">
            <a:solidFill>
              <a:srgbClr val="11141B"/>
            </a:solidFill>
            <a:prstDash val="solid"/>
          </a:ln>
        </p:spPr>
      </p:sp>
      <p:sp>
        <p:nvSpPr>
          <p:cNvPr id="17" name="Text 13"/>
          <p:cNvSpPr/>
          <p:nvPr/>
        </p:nvSpPr>
        <p:spPr>
          <a:xfrm>
            <a:off x="8800227" y="2352042"/>
            <a:ext cx="24104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3</a:t>
            </a:r>
            <a:endParaRPr lang="en-US" sz="1200" dirty="0"/>
          </a:p>
        </p:txBody>
      </p:sp>
      <p:sp>
        <p:nvSpPr>
          <p:cNvPr id="18" name="Text 14"/>
          <p:cNvSpPr/>
          <p:nvPr/>
        </p:nvSpPr>
        <p:spPr>
          <a:xfrm>
            <a:off x="8800227" y="2641600"/>
            <a:ext cx="24104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Backend</a:t>
            </a:r>
            <a:endParaRPr lang="en-US" sz="2200" dirty="0"/>
          </a:p>
        </p:txBody>
      </p:sp>
      <p:sp>
        <p:nvSpPr>
          <p:cNvPr id="19" name="Text 15"/>
          <p:cNvSpPr/>
          <p:nvPr/>
        </p:nvSpPr>
        <p:spPr>
          <a:xfrm>
            <a:off x="8800227" y="3053079"/>
            <a:ext cx="2410420"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Armazena e mostra.</a:t>
            </a:r>
            <a:endParaRPr lang="en-US" sz="1600" dirty="0"/>
          </a:p>
        </p:txBody>
      </p:sp>
      <p:sp>
        <p:nvSpPr>
          <p:cNvPr id="20" name="Text 16"/>
          <p:cNvSpPr/>
          <p:nvPr/>
        </p:nvSpPr>
        <p:spPr>
          <a:xfrm>
            <a:off x="812800" y="4048764"/>
            <a:ext cx="10883392" cy="3098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IBM Plex Sans" pitchFamily="34" charset="0"/>
                <a:ea typeface="IBM Plex Sans" pitchFamily="34" charset="-122"/>
                <a:cs typeface="IBM Plex Sans" pitchFamily="34" charset="-120"/>
              </a:rPr>
              <a:t>O Collector é opcional, mas desacopla a aplicação do destino: trocar de backend vira configuração.</a:t>
            </a:r>
            <a:endParaRPr lang="en-US" sz="1600" dirty="0"/>
          </a:p>
        </p:txBody>
      </p:sp>
      <p:sp>
        <p:nvSpPr>
          <p:cNvPr id="21" name="Text 17"/>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OpenTelemetry no ecossistema PHP · Arquitetura</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OPENTELEMETRY NO ECOSSISTEMA PHP</a:t>
            </a:r>
            <a:endParaRPr lang="en-US" sz="1200" dirty="0"/>
          </a:p>
        </p:txBody>
      </p:sp>
      <p:sp>
        <p:nvSpPr>
          <p:cNvPr id="3" name="Text 1"/>
          <p:cNvSpPr/>
          <p:nvPr>
            <p:ph type="title"/>
          </p:nvPr>
        </p:nvSpPr>
        <p:spPr>
          <a:xfrm>
            <a:off x="812800" y="11277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Para onde mandar os dados?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945639"/>
          <a:ext cx="10556240" cy="2032000"/>
        </p:xfrm>
        <a:graphic>
          <a:graphicData uri="http://schemas.openxmlformats.org/drawingml/2006/table">
            <a:tbl>
              <a:tblPr/>
              <a:tblGrid>
                <a:gridCol w="2322373"/>
                <a:gridCol w="4116934"/>
                <a:gridCol w="4116934"/>
              </a:tblGrid>
              <a:tr h="383540">
                <a:tc>
                  <a:txBody>
                    <a:bodyPr/>
                    <a:lstStyle/>
                    <a:p>
                      <a:pPr indent="0" marL="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Destino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64B"/>
                      </a:solidFill>
                      <a:prstDash val="solid"/>
                      <a:round/>
                      <a:headEnd type="none" w="med" len="med"/>
                      <a:tailEnd type="none" w="med" len="med"/>
                    </a:lnL>
                    <a:lnR w="12700" cap="flat" cmpd="sng" algn="ctr">
                      <a:solidFill>
                        <a:srgbClr val="585D68"/>
                      </a:solidFill>
                      <a:prstDash val="solid"/>
                      <a:round/>
                      <a:headEnd type="none" w="med" len="med"/>
                      <a:tailEnd type="none" w="med" len="med"/>
                    </a:lnR>
                    <a:lnT w="12700" cap="flat" cmpd="sng" algn="ctr">
                      <a:solidFill>
                        <a:srgbClr val="44464B"/>
                      </a:solidFill>
                      <a:prstDash val="solid"/>
                      <a:round/>
                      <a:headEnd type="none" w="med" len="med"/>
                      <a:tailEnd type="none" w="med" len="med"/>
                    </a:lnT>
                    <a:lnB w="12700" cap="flat" cmpd="sng" algn="ctr">
                      <a:solidFill>
                        <a:srgbClr val="585D68"/>
                      </a:solidFill>
                      <a:prstDash val="solid"/>
                      <a:round/>
                      <a:headEnd type="none" w="med" len="med"/>
                      <a:tailEnd type="none" w="med" len="med"/>
                    </a:lnB>
                    <a:solidFill>
                      <a:srgbClr val="2A3140"/>
                    </a:solidFill>
                  </a:tcPr>
                </a:tc>
                <a:tc>
                  <a:txBody>
                    <a:bodyPr/>
                    <a:lstStyle/>
                    <a:p>
                      <a:pPr indent="0" marL="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Bom para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85D68"/>
                      </a:solidFill>
                      <a:prstDash val="solid"/>
                      <a:round/>
                      <a:headEnd type="none" w="med" len="med"/>
                      <a:tailEnd type="none" w="med" len="med"/>
                    </a:lnL>
                    <a:lnR w="12700" cap="flat" cmpd="sng" algn="ctr">
                      <a:solidFill>
                        <a:srgbClr val="585D68"/>
                      </a:solidFill>
                      <a:prstDash val="solid"/>
                      <a:round/>
                      <a:headEnd type="none" w="med" len="med"/>
                      <a:tailEnd type="none" w="med" len="med"/>
                    </a:lnR>
                    <a:lnT w="12700" cap="flat" cmpd="sng" algn="ctr">
                      <a:solidFill>
                        <a:srgbClr val="44464B"/>
                      </a:solidFill>
                      <a:prstDash val="solid"/>
                      <a:round/>
                      <a:headEnd type="none" w="med" len="med"/>
                      <a:tailEnd type="none" w="med" len="med"/>
                    </a:lnT>
                    <a:lnB w="12700" cap="flat" cmpd="sng" algn="ctr">
                      <a:solidFill>
                        <a:srgbClr val="585D68"/>
                      </a:solidFill>
                      <a:prstDash val="solid"/>
                      <a:round/>
                      <a:headEnd type="none" w="med" len="med"/>
                      <a:tailEnd type="none" w="med" len="med"/>
                    </a:lnB>
                    <a:solidFill>
                      <a:srgbClr val="2A3140"/>
                    </a:solidFill>
                  </a:tcPr>
                </a:tc>
                <a:tc>
                  <a:txBody>
                    <a:bodyPr/>
                    <a:lstStyle/>
                    <a:p>
                      <a:pPr indent="0" marL="0">
                        <a:lnSpc>
                          <a:spcPts val="1960"/>
                        </a:lnSpc>
                        <a:buNone/>
                      </a:pPr>
                      <a:r>
                        <a:rPr lang="en-US" sz="1400" b="1" dirty="0">
                          <a:solidFill>
                            <a:srgbClr val="F3F0E8"/>
                          </a:solidFill>
                          <a:latin typeface="IBM Plex Sans" pitchFamily="34" charset="0"/>
                          <a:ea typeface="IBM Plex Sans" pitchFamily="34" charset="-122"/>
                          <a:cs typeface="IBM Plex Sans" pitchFamily="34" charset="-120"/>
                        </a:rPr>
                        <a:t>Atenção</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585D68"/>
                      </a:solidFill>
                      <a:prstDash val="solid"/>
                      <a:round/>
                      <a:headEnd type="none" w="med" len="med"/>
                      <a:tailEnd type="none" w="med" len="med"/>
                    </a:lnL>
                    <a:lnR w="12700" cap="flat" cmpd="sng" algn="ctr">
                      <a:solidFill>
                        <a:srgbClr val="585D68"/>
                      </a:solidFill>
                      <a:prstDash val="solid"/>
                      <a:round/>
                      <a:headEnd type="none" w="med" len="med"/>
                      <a:tailEnd type="none" w="med" len="med"/>
                    </a:lnR>
                    <a:lnT w="12700" cap="flat" cmpd="sng" algn="ctr">
                      <a:solidFill>
                        <a:srgbClr val="44464B"/>
                      </a:solidFill>
                      <a:prstDash val="solid"/>
                      <a:round/>
                      <a:headEnd type="none" w="med" len="med"/>
                      <a:tailEnd type="none" w="med" len="med"/>
                    </a:lnT>
                    <a:lnB w="12700" cap="flat" cmpd="sng" algn="ctr">
                      <a:solidFill>
                        <a:srgbClr val="585D68"/>
                      </a:solidFill>
                      <a:prstDash val="solid"/>
                      <a:round/>
                      <a:headEnd type="none" w="med" len="med"/>
                      <a:tailEnd type="none" w="med" len="med"/>
                    </a:lnB>
                    <a:solidFill>
                      <a:srgbClr val="2A3140"/>
                    </a:solidFill>
                  </a:tcPr>
                </a:tc>
              </a:tr>
              <a:tr h="632460">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Grafana, Tempo e Loki</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64B"/>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585D68"/>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Stack aberta, com traces, logs e métricas no mesmo lugar.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C5158"/>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585D68"/>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Você opera e escala a stack.</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C5158"/>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585D68"/>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r>
              <a:tr h="383540">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Datadog</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64B"/>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C5158"/>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SaaS completo, pouca operação para o seu time.</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C5158"/>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O custo cresce com o volume de dados.</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C5158"/>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r>
              <a:tr h="632460">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Jaeger</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4464B"/>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Começo simples, ótimo para só traces e para a máquina local.</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C5158"/>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c>
                  <a:txBody>
                    <a:bodyPr/>
                    <a:lstStyle/>
                    <a:p>
                      <a:pP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Foco em traces; logs e métricas ficam por sua conta.</a:t>
                      </a:r>
                      <a:endParaRPr lang="en-US" sz="1400" dirty="0">
                        <a:latin typeface="IBM Plex Sans" charset="0"/>
                        <a:ea typeface="IBM Plex Sans" charset="0"/>
                        <a:cs typeface="IBM Plex Sans" charset="0"/>
                      </a:endParaRPr>
                    </a:p>
                  </a:txBody>
                  <a:tcPr marL="62230" marR="62230" marT="62230" marB="62230" anchor="t">
                    <a:lnL w="12700" cap="flat" cmpd="sng" algn="ctr">
                      <a:solidFill>
                        <a:srgbClr val="4C5158"/>
                      </a:solidFill>
                      <a:prstDash val="solid"/>
                      <a:round/>
                      <a:headEnd type="none" w="med" len="med"/>
                      <a:tailEnd type="none" w="med" len="med"/>
                    </a:lnL>
                    <a:lnR w="12700" cap="flat" cmpd="sng" algn="ctr">
                      <a:solidFill>
                        <a:srgbClr val="4C5158"/>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C5158"/>
                      </a:solidFill>
                      <a:prstDash val="solid"/>
                      <a:round/>
                      <a:headEnd type="none" w="med" len="med"/>
                      <a:tailEnd type="none" w="med" len="med"/>
                    </a:lnB>
                    <a:solidFill>
                      <a:srgbClr val="1B212C"/>
                    </a:solidFill>
                  </a:tcPr>
                </a:tc>
              </a:tr>
            </a:tbl>
          </a:graphicData>
        </a:graphic>
      </p:graphicFrame>
      <p:sp>
        <p:nvSpPr>
          <p:cNvPr id="5" name="Text 2"/>
          <p:cNvSpPr/>
          <p:nvPr/>
        </p:nvSpPr>
        <p:spPr>
          <a:xfrm>
            <a:off x="812800" y="4282442"/>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Como o dado sai em OTLP, a escolha de hoje não prende a de amanhã.</a:t>
            </a:r>
            <a:endParaRPr lang="en-US" sz="1600" dirty="0"/>
          </a:p>
        </p:txBody>
      </p:sp>
      <p:sp>
        <p:nvSpPr>
          <p:cNvPr id="6" name="Text 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OpenTelemetry no ecossistema PHP · Destinos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2462535"/>
            <a:ext cx="512775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A3D"/>
                </a:solidFill>
                <a:latin typeface="JetBrains Mono" pitchFamily="49" charset="0"/>
                <a:ea typeface="JetBrains Mono" pitchFamily="49" charset="-122"/>
                <a:cs typeface="JetBrains Mono" pitchFamily="49" charset="-120"/>
              </a:rPr>
              <a:t>VAMOS PRA PRÁTICA</a:t>
            </a:r>
            <a:endParaRPr lang="en-US" sz="1400" dirty="0"/>
          </a:p>
        </p:txBody>
      </p:sp>
      <p:sp>
        <p:nvSpPr>
          <p:cNvPr id="3" name="Text 1"/>
          <p:cNvSpPr/>
          <p:nvPr>
            <p:ph type="title"/>
          </p:nvPr>
        </p:nvSpPr>
        <p:spPr>
          <a:xfrm>
            <a:off x="812800" y="2914650"/>
            <a:ext cx="512775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0E8"/>
                </a:solidFill>
                <a:latin typeface="IBM Plex Sans" pitchFamily="34" charset="0"/>
                <a:ea typeface="IBM Plex Sans" pitchFamily="34" charset="-122"/>
                <a:cs typeface="IBM Plex Sans" pitchFamily="34" charset="-120"/>
              </a:rPr>
              <a:t>Live demo</a:t>
            </a:r>
            <a:endParaRPr lang="en-US" sz="6000" dirty="0"/>
          </a:p>
        </p:txBody>
      </p:sp>
      <p:sp>
        <p:nvSpPr>
          <p:cNvPr id="4" name="Text 2"/>
          <p:cNvSpPr/>
          <p:nvPr/>
        </p:nvSpPr>
        <p:spPr>
          <a:xfrm>
            <a:off x="812800" y="3917950"/>
            <a:ext cx="512775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Laravel, OpenTelemetry e um trace de verdade.</a:t>
            </a:r>
            <a:endParaRPr lang="en-US" sz="1600" dirty="0"/>
          </a:p>
        </p:txBody>
      </p:sp>
      <p:sp>
        <p:nvSpPr>
          <p:cNvPr id="5" name="Text 3"/>
          <p:cNvSpPr/>
          <p:nvPr/>
        </p:nvSpPr>
        <p:spPr>
          <a:xfrm>
            <a:off x="6400800" y="1549400"/>
            <a:ext cx="4978400" cy="589280"/>
          </a:xfrm>
          <a:prstGeom prst="roundRect">
            <a:avLst>
              <a:gd name="adj" fmla="val 12931"/>
            </a:avLst>
          </a:prstGeom>
          <a:solidFill>
            <a:srgbClr val="1B212C"/>
          </a:solidFill>
          <a:ln/>
        </p:spPr>
        <p:txBody>
          <a:bodyPr wrap="square" lIns="180882" tIns="130082" rIns="43722" bIns="104682" rtlCol="0" anchor="t">
            <a:normAutofit/>
          </a:bodyPr>
          <a:lstStyle/>
          <a:p>
            <a:pPr algn="l" indent="0" marL="0">
              <a:lnSpc>
                <a:spcPts val="2240"/>
              </a:lnSpc>
              <a:buNone/>
            </a:pPr>
            <a:r>
              <a:rPr lang="en-US" sz="1600" dirty="0">
                <a:solidFill>
                  <a:srgbClr val="3CC8B4"/>
                </a:solidFill>
                <a:latin typeface="IBM Plex Sans" pitchFamily="34" charset="0"/>
                <a:ea typeface="IBM Plex Sans" pitchFamily="34" charset="-122"/>
                <a:cs typeface="IBM Plex Sans" pitchFamily="34" charset="-120"/>
              </a:rPr>
              <a:t>1</a:t>
            </a:r>
            <a:r>
              <a:rPr lang="en-US" sz="1600" dirty="0">
                <a:solidFill>
                  <a:srgbClr val="F3F0E8"/>
                </a:solidFill>
                <a:latin typeface="IBM Plex Sans" pitchFamily="34" charset="0"/>
                <a:ea typeface="IBM Plex Sans" pitchFamily="34" charset="-122"/>
                <a:cs typeface="IBM Plex Sans" pitchFamily="34" charset="-120"/>
              </a:rPr>
              <a:t> App Laravel rodando</a:t>
            </a:r>
            <a:endParaRPr lang="en-US" sz="1600" dirty="0"/>
          </a:p>
        </p:txBody>
      </p:sp>
      <p:sp>
        <p:nvSpPr>
          <p:cNvPr id="6" name="Text 4"/>
          <p:cNvSpPr/>
          <p:nvPr/>
        </p:nvSpPr>
        <p:spPr>
          <a:xfrm>
            <a:off x="6400800" y="2291085"/>
            <a:ext cx="4978400" cy="589280"/>
          </a:xfrm>
          <a:prstGeom prst="roundRect">
            <a:avLst>
              <a:gd name="adj" fmla="val 12931"/>
            </a:avLst>
          </a:prstGeom>
          <a:solidFill>
            <a:srgbClr val="1B212C"/>
          </a:solidFill>
          <a:ln/>
        </p:spPr>
        <p:txBody>
          <a:bodyPr wrap="square" lIns="180882" tIns="130082" rIns="43722" bIns="104682" rtlCol="0" anchor="t">
            <a:normAutofit/>
          </a:bodyPr>
          <a:lstStyle/>
          <a:p>
            <a:pPr algn="l" indent="0" marL="0">
              <a:lnSpc>
                <a:spcPts val="2240"/>
              </a:lnSpc>
              <a:buNone/>
            </a:pPr>
            <a:r>
              <a:rPr lang="en-US" sz="1600" dirty="0">
                <a:solidFill>
                  <a:srgbClr val="3CC8B4"/>
                </a:solidFill>
                <a:latin typeface="IBM Plex Sans" pitchFamily="34" charset="0"/>
                <a:ea typeface="IBM Plex Sans" pitchFamily="34" charset="-122"/>
                <a:cs typeface="IBM Plex Sans" pitchFamily="34" charset="-120"/>
              </a:rPr>
              <a:t>2</a:t>
            </a:r>
            <a:r>
              <a:rPr lang="en-US" sz="1600" dirty="0">
                <a:solidFill>
                  <a:srgbClr val="F3F0E8"/>
                </a:solidFill>
                <a:latin typeface="IBM Plex Sans" pitchFamily="34" charset="0"/>
                <a:ea typeface="IBM Plex Sans" pitchFamily="34" charset="-122"/>
                <a:cs typeface="IBM Plex Sans" pitchFamily="34" charset="-120"/>
              </a:rPr>
              <a:t> Uma request lenta</a:t>
            </a:r>
            <a:endParaRPr lang="en-US" sz="1600" dirty="0"/>
          </a:p>
        </p:txBody>
      </p:sp>
      <p:sp>
        <p:nvSpPr>
          <p:cNvPr id="7" name="Text 5"/>
          <p:cNvSpPr/>
          <p:nvPr/>
        </p:nvSpPr>
        <p:spPr>
          <a:xfrm>
            <a:off x="6400800" y="3032758"/>
            <a:ext cx="4978400" cy="589280"/>
          </a:xfrm>
          <a:prstGeom prst="roundRect">
            <a:avLst>
              <a:gd name="adj" fmla="val 12931"/>
            </a:avLst>
          </a:prstGeom>
          <a:solidFill>
            <a:srgbClr val="1B212C"/>
          </a:solidFill>
          <a:ln/>
        </p:spPr>
        <p:txBody>
          <a:bodyPr wrap="square" lIns="180882" tIns="130082" rIns="43722" bIns="104682" rtlCol="0" anchor="t">
            <a:normAutofit/>
          </a:bodyPr>
          <a:lstStyle/>
          <a:p>
            <a:pPr algn="l" indent="0" marL="0">
              <a:lnSpc>
                <a:spcPts val="2240"/>
              </a:lnSpc>
              <a:buNone/>
            </a:pPr>
            <a:r>
              <a:rPr lang="en-US" sz="1600" dirty="0">
                <a:solidFill>
                  <a:srgbClr val="3CC8B4"/>
                </a:solidFill>
                <a:latin typeface="IBM Plex Sans" pitchFamily="34" charset="0"/>
                <a:ea typeface="IBM Plex Sans" pitchFamily="34" charset="-122"/>
                <a:cs typeface="IBM Plex Sans" pitchFamily="34" charset="-120"/>
              </a:rPr>
              <a:t>3</a:t>
            </a:r>
            <a:r>
              <a:rPr lang="en-US" sz="1600" dirty="0">
                <a:solidFill>
                  <a:srgbClr val="F3F0E8"/>
                </a:solidFill>
                <a:latin typeface="IBM Plex Sans" pitchFamily="34" charset="0"/>
                <a:ea typeface="IBM Plex Sans" pitchFamily="34" charset="-122"/>
                <a:cs typeface="IBM Plex Sans" pitchFamily="34" charset="-120"/>
              </a:rPr>
              <a:t> Instrumentar com OTel</a:t>
            </a:r>
            <a:endParaRPr lang="en-US" sz="1600" dirty="0"/>
          </a:p>
        </p:txBody>
      </p:sp>
      <p:sp>
        <p:nvSpPr>
          <p:cNvPr id="8" name="Text 6"/>
          <p:cNvSpPr/>
          <p:nvPr/>
        </p:nvSpPr>
        <p:spPr>
          <a:xfrm>
            <a:off x="6400800" y="3774442"/>
            <a:ext cx="4978400" cy="589280"/>
          </a:xfrm>
          <a:prstGeom prst="roundRect">
            <a:avLst>
              <a:gd name="adj" fmla="val 12931"/>
            </a:avLst>
          </a:prstGeom>
          <a:solidFill>
            <a:srgbClr val="1B212C"/>
          </a:solidFill>
          <a:ln/>
        </p:spPr>
        <p:txBody>
          <a:bodyPr wrap="square" lIns="180882" tIns="130082" rIns="43722" bIns="104682" rtlCol="0" anchor="t">
            <a:normAutofit/>
          </a:bodyPr>
          <a:lstStyle/>
          <a:p>
            <a:pPr algn="l" indent="0" marL="0">
              <a:lnSpc>
                <a:spcPts val="2240"/>
              </a:lnSpc>
              <a:buNone/>
            </a:pPr>
            <a:r>
              <a:rPr lang="en-US" sz="1600" dirty="0">
                <a:solidFill>
                  <a:srgbClr val="3CC8B4"/>
                </a:solidFill>
                <a:latin typeface="IBM Plex Sans" pitchFamily="34" charset="0"/>
                <a:ea typeface="IBM Plex Sans" pitchFamily="34" charset="-122"/>
                <a:cs typeface="IBM Plex Sans" pitchFamily="34" charset="-120"/>
              </a:rPr>
              <a:t>4</a:t>
            </a:r>
            <a:r>
              <a:rPr lang="en-US" sz="1600" dirty="0">
                <a:solidFill>
                  <a:srgbClr val="F3F0E8"/>
                </a:solidFill>
                <a:latin typeface="IBM Plex Sans" pitchFamily="34" charset="0"/>
                <a:ea typeface="IBM Plex Sans" pitchFamily="34" charset="-122"/>
                <a:cs typeface="IBM Plex Sans" pitchFamily="34" charset="-120"/>
              </a:rPr>
              <a:t> Ver o trace no dashboard</a:t>
            </a:r>
            <a:endParaRPr lang="en-US" sz="1600" dirty="0"/>
          </a:p>
        </p:txBody>
      </p:sp>
      <p:sp>
        <p:nvSpPr>
          <p:cNvPr id="9" name="Text 7"/>
          <p:cNvSpPr/>
          <p:nvPr/>
        </p:nvSpPr>
        <p:spPr>
          <a:xfrm>
            <a:off x="6400800" y="4516127"/>
            <a:ext cx="4978400" cy="589280"/>
          </a:xfrm>
          <a:prstGeom prst="roundRect">
            <a:avLst>
              <a:gd name="adj" fmla="val 12931"/>
            </a:avLst>
          </a:prstGeom>
          <a:solidFill>
            <a:srgbClr val="1B212C"/>
          </a:solidFill>
          <a:ln/>
        </p:spPr>
        <p:txBody>
          <a:bodyPr wrap="square" lIns="180882" tIns="130082" rIns="43722" bIns="104682" rtlCol="0" anchor="t">
            <a:normAutofit/>
          </a:bodyPr>
          <a:lstStyle/>
          <a:p>
            <a:pPr algn="l" indent="0" marL="0">
              <a:lnSpc>
                <a:spcPts val="2240"/>
              </a:lnSpc>
              <a:buNone/>
            </a:pPr>
            <a:r>
              <a:rPr lang="en-US" sz="1600" dirty="0">
                <a:solidFill>
                  <a:srgbClr val="3CC8B4"/>
                </a:solidFill>
                <a:latin typeface="IBM Plex Sans" pitchFamily="34" charset="0"/>
                <a:ea typeface="IBM Plex Sans" pitchFamily="34" charset="-122"/>
                <a:cs typeface="IBM Plex Sans" pitchFamily="34" charset="-120"/>
              </a:rPr>
              <a:t>5</a:t>
            </a:r>
            <a:r>
              <a:rPr lang="en-US" sz="1600" dirty="0">
                <a:solidFill>
                  <a:srgbClr val="F3F0E8"/>
                </a:solidFill>
                <a:latin typeface="IBM Plex Sans" pitchFamily="34" charset="0"/>
                <a:ea typeface="IBM Plex Sans" pitchFamily="34" charset="-122"/>
                <a:cs typeface="IBM Plex Sans" pitchFamily="34" charset="-120"/>
              </a:rPr>
              <a:t> Achar o culpado</a:t>
            </a:r>
            <a:endParaRPr lang="en-US" sz="1600" dirty="0"/>
          </a:p>
        </p:txBody>
      </p:sp>
      <p:sp>
        <p:nvSpPr>
          <p:cNvPr id="10" name="Text 8"/>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Live demo · Roteiro</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LIVE DEMO · A STACK</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Cinco peças, cada uma com um papel</a:t>
            </a:r>
            <a:endParaRPr lang="en-US" sz="3600" dirty="0"/>
          </a:p>
        </p:txBody>
      </p:sp>
      <p:sp>
        <p:nvSpPr>
          <p:cNvPr id="4" name="Shape 2"/>
          <p:cNvSpPr/>
          <p:nvPr/>
        </p:nvSpPr>
        <p:spPr>
          <a:xfrm>
            <a:off x="822325" y="1945010"/>
            <a:ext cx="2023745" cy="2132965"/>
          </a:xfrm>
          <a:prstGeom prst="roundRect">
            <a:avLst>
              <a:gd name="adj" fmla="val 4550"/>
            </a:avLst>
          </a:prstGeom>
          <a:solidFill>
            <a:srgbClr val="1B212C"/>
          </a:solidFill>
          <a:ln w="19050">
            <a:solidFill>
              <a:srgbClr val="FF7A3D"/>
            </a:solidFill>
            <a:prstDash val="solid"/>
          </a:ln>
        </p:spPr>
      </p:sp>
      <p:sp>
        <p:nvSpPr>
          <p:cNvPr id="5" name="Text 3"/>
          <p:cNvSpPr/>
          <p:nvPr/>
        </p:nvSpPr>
        <p:spPr>
          <a:xfrm>
            <a:off x="1005840" y="2598105"/>
            <a:ext cx="17075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Laravel</a:t>
            </a:r>
            <a:endParaRPr lang="en-US" sz="2000" dirty="0"/>
          </a:p>
        </p:txBody>
      </p:sp>
      <p:sp>
        <p:nvSpPr>
          <p:cNvPr id="6" name="Text 4"/>
          <p:cNvSpPr/>
          <p:nvPr/>
        </p:nvSpPr>
        <p:spPr>
          <a:xfrm>
            <a:off x="1005840" y="2979105"/>
            <a:ext cx="170751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Gera os traces e os logs. Só emite.</a:t>
            </a:r>
            <a:endParaRPr lang="en-US" sz="1300" dirty="0"/>
          </a:p>
        </p:txBody>
      </p:sp>
      <p:sp>
        <p:nvSpPr>
          <p:cNvPr id="7" name="Text 5"/>
          <p:cNvSpPr/>
          <p:nvPr/>
        </p:nvSpPr>
        <p:spPr>
          <a:xfrm>
            <a:off x="3099689" y="2771465"/>
            <a:ext cx="4389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FF7A3D"/>
                </a:solidFill>
                <a:latin typeface="JetBrains Mono" pitchFamily="49" charset="0"/>
                <a:ea typeface="JetBrains Mono" pitchFamily="49" charset="-122"/>
                <a:cs typeface="JetBrains Mono" pitchFamily="49" charset="-120"/>
              </a:rPr>
              <a:t>OTLP</a:t>
            </a:r>
            <a:endParaRPr lang="en-US" sz="1200" dirty="0"/>
          </a:p>
        </p:txBody>
      </p:sp>
      <p:pic>
        <p:nvPicPr>
          <p:cNvPr id="8" name="Image 0" descr="arrow-right">    </p:cNvPr>
          <p:cNvPicPr>
            <a:picLocks noChangeAspect="1"/>
          </p:cNvPicPr>
          <p:nvPr/>
        </p:nvPicPr>
        <p:blipFill>
          <a:blip r:embed="rId1"/>
          <a:srcRect l="0" r="0" t="0" b="0"/>
          <a:stretch/>
        </p:blipFill>
        <p:spPr>
          <a:xfrm>
            <a:off x="3090545" y="3048322"/>
            <a:ext cx="457200" cy="203200"/>
          </a:xfrm>
          <a:prstGeom prst="rect">
            <a:avLst/>
          </a:prstGeom>
        </p:spPr>
      </p:pic>
      <p:sp>
        <p:nvSpPr>
          <p:cNvPr id="9" name="Shape 6"/>
          <p:cNvSpPr/>
          <p:nvPr/>
        </p:nvSpPr>
        <p:spPr>
          <a:xfrm>
            <a:off x="3792220" y="1945010"/>
            <a:ext cx="2023745" cy="2132965"/>
          </a:xfrm>
          <a:prstGeom prst="roundRect">
            <a:avLst>
              <a:gd name="adj" fmla="val 4550"/>
            </a:avLst>
          </a:prstGeom>
          <a:solidFill>
            <a:srgbClr val="1B212C"/>
          </a:solidFill>
          <a:ln w="19050">
            <a:solidFill>
              <a:srgbClr val="3CC8B4"/>
            </a:solidFill>
            <a:prstDash val="solid"/>
          </a:ln>
        </p:spPr>
      </p:sp>
      <p:sp>
        <p:nvSpPr>
          <p:cNvPr id="10" name="Text 7"/>
          <p:cNvSpPr/>
          <p:nvPr/>
        </p:nvSpPr>
        <p:spPr>
          <a:xfrm>
            <a:off x="3975735" y="2486658"/>
            <a:ext cx="17075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Collector</a:t>
            </a:r>
            <a:endParaRPr lang="en-US" sz="2000" dirty="0"/>
          </a:p>
        </p:txBody>
      </p:sp>
      <p:sp>
        <p:nvSpPr>
          <p:cNvPr id="11" name="Text 8"/>
          <p:cNvSpPr/>
          <p:nvPr/>
        </p:nvSpPr>
        <p:spPr>
          <a:xfrm>
            <a:off x="3975735" y="2867658"/>
            <a:ext cx="1707515" cy="69405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Recebe tudo e manda cada sinal ao destino certo.</a:t>
            </a:r>
            <a:endParaRPr lang="en-US" sz="1300" dirty="0"/>
          </a:p>
        </p:txBody>
      </p:sp>
      <p:sp>
        <p:nvSpPr>
          <p:cNvPr id="12" name="Text 9"/>
          <p:cNvSpPr/>
          <p:nvPr/>
        </p:nvSpPr>
        <p:spPr>
          <a:xfrm>
            <a:off x="6014720" y="2233451"/>
            <a:ext cx="65836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traces</a:t>
            </a:r>
            <a:endParaRPr lang="en-US" sz="1200" dirty="0"/>
          </a:p>
        </p:txBody>
      </p:sp>
      <p:pic>
        <p:nvPicPr>
          <p:cNvPr id="13" name="Image 1" descr="arrow-right">    </p:cNvPr>
          <p:cNvPicPr>
            <a:picLocks noChangeAspect="1"/>
          </p:cNvPicPr>
          <p:nvPr/>
        </p:nvPicPr>
        <p:blipFill>
          <a:blip r:embed="rId2"/>
          <a:srcRect l="0" r="0" t="0" b="0"/>
          <a:stretch/>
        </p:blipFill>
        <p:spPr>
          <a:xfrm>
            <a:off x="6060440" y="2510321"/>
            <a:ext cx="457200" cy="203200"/>
          </a:xfrm>
          <a:prstGeom prst="rect">
            <a:avLst/>
          </a:prstGeom>
        </p:spPr>
      </p:pic>
      <p:sp>
        <p:nvSpPr>
          <p:cNvPr id="14" name="Text 10"/>
          <p:cNvSpPr/>
          <p:nvPr/>
        </p:nvSpPr>
        <p:spPr>
          <a:xfrm>
            <a:off x="6069584" y="3309466"/>
            <a:ext cx="438912"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logs</a:t>
            </a:r>
            <a:endParaRPr lang="en-US" sz="1200" dirty="0"/>
          </a:p>
        </p:txBody>
      </p:sp>
      <p:pic>
        <p:nvPicPr>
          <p:cNvPr id="15" name="Image 2" descr="arrow-right">    </p:cNvPr>
          <p:cNvPicPr>
            <a:picLocks noChangeAspect="1"/>
          </p:cNvPicPr>
          <p:nvPr/>
        </p:nvPicPr>
        <p:blipFill>
          <a:blip r:embed="rId3"/>
          <a:srcRect l="0" r="0" t="0" b="0"/>
          <a:stretch/>
        </p:blipFill>
        <p:spPr>
          <a:xfrm>
            <a:off x="6060440" y="3586324"/>
            <a:ext cx="457200" cy="203200"/>
          </a:xfrm>
          <a:prstGeom prst="rect">
            <a:avLst/>
          </a:prstGeom>
        </p:spPr>
      </p:pic>
      <p:sp>
        <p:nvSpPr>
          <p:cNvPr id="16" name="Shape 11"/>
          <p:cNvSpPr/>
          <p:nvPr/>
        </p:nvSpPr>
        <p:spPr>
          <a:xfrm>
            <a:off x="6762115" y="1945010"/>
            <a:ext cx="1637665" cy="1006157"/>
          </a:xfrm>
          <a:prstGeom prst="roundRect">
            <a:avLst>
              <a:gd name="adj" fmla="val 9151"/>
            </a:avLst>
          </a:prstGeom>
          <a:solidFill>
            <a:srgbClr val="1B212C"/>
          </a:solidFill>
          <a:ln w="19050">
            <a:solidFill>
              <a:srgbClr val="8A93A3"/>
            </a:solidFill>
            <a:prstDash val="solid"/>
          </a:ln>
        </p:spPr>
      </p:sp>
      <p:sp>
        <p:nvSpPr>
          <p:cNvPr id="17" name="Text 12"/>
          <p:cNvSpPr/>
          <p:nvPr/>
        </p:nvSpPr>
        <p:spPr>
          <a:xfrm>
            <a:off x="6945630" y="2103127"/>
            <a:ext cx="1321435" cy="284956"/>
          </a:xfrm>
          <a:prstGeom prst="rect">
            <a:avLst/>
          </a:prstGeom>
          <a:noFill/>
          <a:ln/>
        </p:spPr>
        <p:txBody>
          <a:bodyPr wrap="square" lIns="0" tIns="0" rIns="0" bIns="0" rtlCol="0" anchor="t">
            <a:normAutofit/>
          </a:bodyPr>
          <a:lstStyle/>
          <a:p>
            <a:pPr algn="l" indent="0" marL="0">
              <a:lnSpc>
                <a:spcPts val="2070"/>
              </a:lnSpc>
              <a:buNone/>
            </a:pPr>
            <a:r>
              <a:rPr lang="en-US" sz="1725" b="1" dirty="0">
                <a:solidFill>
                  <a:srgbClr val="F3F0E8"/>
                </a:solidFill>
                <a:latin typeface="IBM Plex Sans" pitchFamily="34" charset="0"/>
                <a:ea typeface="IBM Plex Sans" pitchFamily="34" charset="-122"/>
                <a:cs typeface="IBM Plex Sans" pitchFamily="34" charset="-120"/>
              </a:rPr>
              <a:t>Tempo</a:t>
            </a:r>
            <a:endParaRPr lang="en-US" sz="1725" dirty="0"/>
          </a:p>
        </p:txBody>
      </p:sp>
      <p:sp>
        <p:nvSpPr>
          <p:cNvPr id="18" name="Text 13"/>
          <p:cNvSpPr/>
          <p:nvPr/>
        </p:nvSpPr>
        <p:spPr>
          <a:xfrm>
            <a:off x="6945630" y="2413484"/>
            <a:ext cx="1444625" cy="404971"/>
          </a:xfrm>
          <a:prstGeom prst="rect">
            <a:avLst/>
          </a:prstGeom>
          <a:noFill/>
          <a:ln/>
        </p:spPr>
        <p:txBody>
          <a:bodyPr wrap="square" lIns="0" tIns="0" rIns="0" bIns="0" rtlCol="0" anchor="t">
            <a:normAutofit/>
          </a:bodyPr>
          <a:lstStyle/>
          <a:p>
            <a:pPr algn="l" indent="0" marL="0">
              <a:lnSpc>
                <a:spcPts val="1722"/>
              </a:lnSpc>
              <a:buNone/>
            </a:pPr>
            <a:r>
              <a:rPr lang="en-US" sz="1276" dirty="0">
                <a:solidFill>
                  <a:srgbClr val="BFC7D5"/>
                </a:solidFill>
                <a:latin typeface="IBM Plex Sans" pitchFamily="34" charset="0"/>
                <a:ea typeface="IBM Plex Sans" pitchFamily="34" charset="-122"/>
                <a:cs typeface="IBM Plex Sans" pitchFamily="34" charset="-120"/>
              </a:rPr>
              <a:t>Guarda os traces.</a:t>
            </a:r>
            <a:endParaRPr lang="en-US" sz="1276" dirty="0"/>
          </a:p>
        </p:txBody>
      </p:sp>
      <p:sp>
        <p:nvSpPr>
          <p:cNvPr id="19" name="Shape 14"/>
          <p:cNvSpPr/>
          <p:nvPr/>
        </p:nvSpPr>
        <p:spPr>
          <a:xfrm>
            <a:off x="6762115" y="3071813"/>
            <a:ext cx="1637665" cy="1006157"/>
          </a:xfrm>
          <a:prstGeom prst="roundRect">
            <a:avLst>
              <a:gd name="adj" fmla="val 9151"/>
            </a:avLst>
          </a:prstGeom>
          <a:solidFill>
            <a:srgbClr val="1B212C"/>
          </a:solidFill>
          <a:ln w="19050">
            <a:solidFill>
              <a:srgbClr val="8A93A3"/>
            </a:solidFill>
            <a:prstDash val="solid"/>
          </a:ln>
        </p:spPr>
      </p:sp>
      <p:sp>
        <p:nvSpPr>
          <p:cNvPr id="20" name="Text 15"/>
          <p:cNvSpPr/>
          <p:nvPr/>
        </p:nvSpPr>
        <p:spPr>
          <a:xfrm>
            <a:off x="6945630" y="3285654"/>
            <a:ext cx="132143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Loki</a:t>
            </a:r>
            <a:endParaRPr lang="en-US" sz="2000" dirty="0"/>
          </a:p>
        </p:txBody>
      </p:sp>
      <p:sp>
        <p:nvSpPr>
          <p:cNvPr id="21" name="Text 16"/>
          <p:cNvSpPr/>
          <p:nvPr/>
        </p:nvSpPr>
        <p:spPr>
          <a:xfrm>
            <a:off x="6945630" y="3641254"/>
            <a:ext cx="1321435"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Guarda os logs.</a:t>
            </a:r>
            <a:endParaRPr lang="en-US" sz="1300" dirty="0"/>
          </a:p>
        </p:txBody>
      </p:sp>
      <p:sp>
        <p:nvSpPr>
          <p:cNvPr id="22" name="Text 17"/>
          <p:cNvSpPr/>
          <p:nvPr/>
        </p:nvSpPr>
        <p:spPr>
          <a:xfrm>
            <a:off x="8507095" y="2233451"/>
            <a:ext cx="8293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5"/>
                </a:solidFill>
                <a:latin typeface="JetBrains Mono" pitchFamily="49" charset="0"/>
                <a:ea typeface="JetBrains Mono" pitchFamily="49" charset="-122"/>
                <a:cs typeface="JetBrains Mono" pitchFamily="49" charset="-120"/>
              </a:rPr>
              <a:t>consulta</a:t>
            </a:r>
            <a:endParaRPr lang="en-US" sz="1200" dirty="0"/>
          </a:p>
        </p:txBody>
      </p:sp>
      <p:pic>
        <p:nvPicPr>
          <p:cNvPr id="23" name="Image 3" descr="arrow-left">    </p:cNvPr>
          <p:cNvPicPr>
            <a:picLocks noChangeAspect="1"/>
          </p:cNvPicPr>
          <p:nvPr/>
        </p:nvPicPr>
        <p:blipFill>
          <a:blip r:embed="rId4"/>
          <a:srcRect l="0" r="0" t="0" b="0"/>
          <a:stretch/>
        </p:blipFill>
        <p:spPr>
          <a:xfrm>
            <a:off x="8644255" y="2510321"/>
            <a:ext cx="457200" cy="203200"/>
          </a:xfrm>
          <a:prstGeom prst="rect">
            <a:avLst/>
          </a:prstGeom>
        </p:spPr>
      </p:pic>
      <p:sp>
        <p:nvSpPr>
          <p:cNvPr id="24" name="Text 18"/>
          <p:cNvSpPr/>
          <p:nvPr/>
        </p:nvSpPr>
        <p:spPr>
          <a:xfrm>
            <a:off x="8507095" y="3309466"/>
            <a:ext cx="8293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5"/>
                </a:solidFill>
                <a:latin typeface="JetBrains Mono" pitchFamily="49" charset="0"/>
                <a:ea typeface="JetBrains Mono" pitchFamily="49" charset="-122"/>
                <a:cs typeface="JetBrains Mono" pitchFamily="49" charset="-120"/>
              </a:rPr>
              <a:t>consulta</a:t>
            </a:r>
            <a:endParaRPr lang="en-US" sz="1200" dirty="0"/>
          </a:p>
        </p:txBody>
      </p:sp>
      <p:pic>
        <p:nvPicPr>
          <p:cNvPr id="25" name="Image 4" descr="arrow-left">    </p:cNvPr>
          <p:cNvPicPr>
            <a:picLocks noChangeAspect="1"/>
          </p:cNvPicPr>
          <p:nvPr/>
        </p:nvPicPr>
        <p:blipFill>
          <a:blip r:embed="rId5"/>
          <a:srcRect l="0" r="0" t="0" b="0"/>
          <a:stretch/>
        </p:blipFill>
        <p:spPr>
          <a:xfrm>
            <a:off x="8644255" y="3586324"/>
            <a:ext cx="457200" cy="203200"/>
          </a:xfrm>
          <a:prstGeom prst="rect">
            <a:avLst/>
          </a:prstGeom>
        </p:spPr>
      </p:pic>
      <p:sp>
        <p:nvSpPr>
          <p:cNvPr id="26" name="Shape 19"/>
          <p:cNvSpPr/>
          <p:nvPr/>
        </p:nvSpPr>
        <p:spPr>
          <a:xfrm>
            <a:off x="9345930" y="1945010"/>
            <a:ext cx="2023745" cy="2132965"/>
          </a:xfrm>
          <a:prstGeom prst="roundRect">
            <a:avLst>
              <a:gd name="adj" fmla="val 4550"/>
            </a:avLst>
          </a:prstGeom>
          <a:solidFill>
            <a:srgbClr val="1B212C"/>
          </a:solidFill>
          <a:ln w="19050">
            <a:solidFill>
              <a:srgbClr val="FF7A3D"/>
            </a:solidFill>
            <a:prstDash val="solid"/>
          </a:ln>
        </p:spPr>
      </p:sp>
      <p:sp>
        <p:nvSpPr>
          <p:cNvPr id="27" name="Text 20"/>
          <p:cNvSpPr/>
          <p:nvPr/>
        </p:nvSpPr>
        <p:spPr>
          <a:xfrm>
            <a:off x="9529445" y="2598105"/>
            <a:ext cx="1707515"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Grafana</a:t>
            </a:r>
            <a:endParaRPr lang="en-US" sz="2000" dirty="0"/>
          </a:p>
        </p:txBody>
      </p:sp>
      <p:sp>
        <p:nvSpPr>
          <p:cNvPr id="28" name="Text 21"/>
          <p:cNvSpPr/>
          <p:nvPr/>
        </p:nvSpPr>
        <p:spPr>
          <a:xfrm>
            <a:off x="9529445" y="2979105"/>
            <a:ext cx="1707515"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A tela. Liga o trace ao log.</a:t>
            </a:r>
            <a:endParaRPr lang="en-US" sz="1300" dirty="0"/>
          </a:p>
        </p:txBody>
      </p:sp>
      <p:sp>
        <p:nvSpPr>
          <p:cNvPr id="29" name="Text 22"/>
          <p:cNvSpPr/>
          <p:nvPr/>
        </p:nvSpPr>
        <p:spPr>
          <a:xfrm>
            <a:off x="812800" y="4392302"/>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A aplicação só fala com o Collector. O resto pode mudar sem mexer no código.</a:t>
            </a:r>
            <a:endParaRPr lang="en-US" sz="1600" dirty="0"/>
          </a:p>
        </p:txBody>
      </p:sp>
      <p:sp>
        <p:nvSpPr>
          <p:cNvPr id="30" name="Text 2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Live demo · A stack da demo</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PASSO 1</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A aplicação em Laravel</a:t>
            </a:r>
            <a:endParaRPr lang="en-US" sz="3600" dirty="0"/>
          </a:p>
        </p:txBody>
      </p:sp>
      <p:sp>
        <p:nvSpPr>
          <p:cNvPr id="4" name="Shape 2"/>
          <p:cNvSpPr/>
          <p:nvPr/>
        </p:nvSpPr>
        <p:spPr>
          <a:xfrm>
            <a:off x="812800" y="1986285"/>
            <a:ext cx="6110208" cy="2402840"/>
          </a:xfrm>
          <a:prstGeom prst="roundRect">
            <a:avLst>
              <a:gd name="adj" fmla="val 4228"/>
            </a:avLst>
          </a:prstGeom>
          <a:solidFill>
            <a:srgbClr val="11141B"/>
          </a:solidFill>
          <a:ln/>
        </p:spPr>
      </p:sp>
      <p:sp>
        <p:nvSpPr>
          <p:cNvPr id="5" name="Text 3"/>
          <p:cNvSpPr/>
          <p:nvPr/>
        </p:nvSpPr>
        <p:spPr>
          <a:xfrm>
            <a:off x="1066800" y="2240285"/>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8A93A3"/>
                </a:solidFill>
                <a:latin typeface="JetBrains Mono" pitchFamily="49" charset="0"/>
                <a:ea typeface="JetBrains Mono" pitchFamily="49" charset="-122"/>
                <a:cs typeface="JetBrains Mono" pitchFamily="49" charset="-120"/>
              </a:rPr>
              <a:t>docker-compose.yml</a:t>
            </a:r>
            <a:endParaRPr lang="en-US" sz="1300" dirty="0"/>
          </a:p>
        </p:txBody>
      </p:sp>
      <p:sp>
        <p:nvSpPr>
          <p:cNvPr id="6" name="Text 4"/>
          <p:cNvSpPr/>
          <p:nvPr/>
        </p:nvSpPr>
        <p:spPr>
          <a:xfrm>
            <a:off x="1066800" y="2573027"/>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app:        </a:t>
            </a:r>
            <a:r>
              <a:rPr lang="en-US" sz="1300" dirty="0">
                <a:solidFill>
                  <a:srgbClr val="8A93A3"/>
                </a:solidFill>
                <a:latin typeface="JetBrains Mono" pitchFamily="49" charset="0"/>
                <a:ea typeface="JetBrains Mono" pitchFamily="49" charset="-122"/>
                <a:cs typeface="JetBrains Mono" pitchFamily="49" charset="-120"/>
              </a:rPr>
              <a:t># Laravel + PHP-FPM</a:t>
            </a:r>
            <a:endParaRPr lang="en-US" sz="1300" dirty="0"/>
          </a:p>
        </p:txBody>
      </p:sp>
      <p:sp>
        <p:nvSpPr>
          <p:cNvPr id="7" name="Text 5"/>
          <p:cNvSpPr/>
          <p:nvPr/>
        </p:nvSpPr>
        <p:spPr>
          <a:xfrm>
            <a:off x="1066800" y="2905758"/>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collector: </a:t>
            </a:r>
            <a:r>
              <a:rPr lang="en-US" sz="1300" dirty="0">
                <a:solidFill>
                  <a:srgbClr val="8A93A3"/>
                </a:solidFill>
                <a:latin typeface="JetBrains Mono" pitchFamily="49" charset="0"/>
                <a:ea typeface="JetBrains Mono" pitchFamily="49" charset="-122"/>
                <a:cs typeface="JetBrains Mono" pitchFamily="49" charset="-120"/>
              </a:rPr>
              <a:t># OTLP na porta 4318</a:t>
            </a:r>
            <a:endParaRPr lang="en-US" sz="1300" dirty="0"/>
          </a:p>
        </p:txBody>
      </p:sp>
      <p:sp>
        <p:nvSpPr>
          <p:cNvPr id="8" name="Text 6"/>
          <p:cNvSpPr/>
          <p:nvPr/>
        </p:nvSpPr>
        <p:spPr>
          <a:xfrm>
            <a:off x="1066800" y="3238500"/>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tempo:     </a:t>
            </a:r>
            <a:r>
              <a:rPr lang="en-US" sz="1300" dirty="0">
                <a:solidFill>
                  <a:srgbClr val="8A93A3"/>
                </a:solidFill>
                <a:latin typeface="JetBrains Mono" pitchFamily="49" charset="0"/>
                <a:ea typeface="JetBrains Mono" pitchFamily="49" charset="-122"/>
                <a:cs typeface="JetBrains Mono" pitchFamily="49" charset="-120"/>
              </a:rPr>
              <a:t># guarda os traces</a:t>
            </a:r>
            <a:endParaRPr lang="en-US" sz="1300" dirty="0"/>
          </a:p>
        </p:txBody>
      </p:sp>
      <p:sp>
        <p:nvSpPr>
          <p:cNvPr id="9" name="Text 7"/>
          <p:cNvSpPr/>
          <p:nvPr/>
        </p:nvSpPr>
        <p:spPr>
          <a:xfrm>
            <a:off x="1066800" y="3571242"/>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loki:      </a:t>
            </a:r>
            <a:r>
              <a:rPr lang="en-US" sz="1300" dirty="0">
                <a:solidFill>
                  <a:srgbClr val="8A93A3"/>
                </a:solidFill>
                <a:latin typeface="JetBrains Mono" pitchFamily="49" charset="0"/>
                <a:ea typeface="JetBrains Mono" pitchFamily="49" charset="-122"/>
                <a:cs typeface="JetBrains Mono" pitchFamily="49" charset="-120"/>
              </a:rPr>
              <a:t># guarda os logs</a:t>
            </a:r>
            <a:endParaRPr lang="en-US" sz="1300" dirty="0"/>
          </a:p>
        </p:txBody>
      </p:sp>
      <p:sp>
        <p:nvSpPr>
          <p:cNvPr id="10" name="Text 8"/>
          <p:cNvSpPr/>
          <p:nvPr/>
        </p:nvSpPr>
        <p:spPr>
          <a:xfrm>
            <a:off x="1066800" y="3903985"/>
            <a:ext cx="577027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grafana:   </a:t>
            </a:r>
            <a:r>
              <a:rPr lang="en-US" sz="1300" dirty="0">
                <a:solidFill>
                  <a:srgbClr val="8A93A3"/>
                </a:solidFill>
                <a:latin typeface="JetBrains Mono" pitchFamily="49" charset="0"/>
                <a:ea typeface="JetBrains Mono" pitchFamily="49" charset="-122"/>
                <a:cs typeface="JetBrains Mono" pitchFamily="49" charset="-120"/>
              </a:rPr>
              <a:t># mostra tudo</a:t>
            </a:r>
            <a:endParaRPr lang="en-US" sz="1300" dirty="0"/>
          </a:p>
        </p:txBody>
      </p:sp>
      <p:sp>
        <p:nvSpPr>
          <p:cNvPr id="11" name="Shape 9"/>
          <p:cNvSpPr/>
          <p:nvPr/>
        </p:nvSpPr>
        <p:spPr>
          <a:xfrm>
            <a:off x="7129383" y="1989460"/>
            <a:ext cx="4246642" cy="2396490"/>
          </a:xfrm>
          <a:prstGeom prst="roundRect">
            <a:avLst>
              <a:gd name="adj" fmla="val 4107"/>
            </a:avLst>
          </a:prstGeom>
          <a:solidFill>
            <a:srgbClr val="FBFAF6"/>
          </a:solidFill>
          <a:ln w="6350">
            <a:solidFill>
              <a:srgbClr val="DAD5C8"/>
            </a:solidFill>
            <a:prstDash val="solid"/>
          </a:ln>
        </p:spPr>
      </p:sp>
      <p:sp>
        <p:nvSpPr>
          <p:cNvPr id="12" name="Text 10"/>
          <p:cNvSpPr/>
          <p:nvPr/>
        </p:nvSpPr>
        <p:spPr>
          <a:xfrm>
            <a:off x="7385288" y="2245358"/>
            <a:ext cx="384687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ENDPOINT</a:t>
            </a:r>
            <a:endParaRPr lang="en-US" sz="1200" dirty="0"/>
          </a:p>
        </p:txBody>
      </p:sp>
      <p:sp>
        <p:nvSpPr>
          <p:cNvPr id="13" name="Text 11"/>
          <p:cNvSpPr/>
          <p:nvPr/>
        </p:nvSpPr>
        <p:spPr>
          <a:xfrm>
            <a:off x="7385288" y="2560327"/>
            <a:ext cx="3846877"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GET /api/pedidos</a:t>
            </a:r>
            <a:endParaRPr lang="en-US" sz="2200" dirty="0"/>
          </a:p>
        </p:txBody>
      </p:sp>
      <p:sp>
        <p:nvSpPr>
          <p:cNvPr id="14" name="Text 12"/>
          <p:cNvSpPr/>
          <p:nvPr/>
        </p:nvSpPr>
        <p:spPr>
          <a:xfrm>
            <a:off x="7385288" y="2997200"/>
            <a:ext cx="3846877"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Lista pedidos com o nome do cliente e a quantidade de itens.</a:t>
            </a:r>
            <a:endParaRPr lang="en-US" sz="1600" dirty="0"/>
          </a:p>
        </p:txBody>
      </p:sp>
      <p:sp>
        <p:nvSpPr>
          <p:cNvPr id="15" name="Text 13"/>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Live demo · Passo 1 de 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LIVE DEMO · PASSO 2</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Uma request lenta</a:t>
            </a:r>
            <a:endParaRPr lang="en-US" sz="3600" dirty="0"/>
          </a:p>
        </p:txBody>
      </p:sp>
      <p:sp>
        <p:nvSpPr>
          <p:cNvPr id="4" name="Shape 2"/>
          <p:cNvSpPr/>
          <p:nvPr/>
        </p:nvSpPr>
        <p:spPr>
          <a:xfrm>
            <a:off x="815975" y="1938660"/>
            <a:ext cx="6418818" cy="3280410"/>
          </a:xfrm>
          <a:prstGeom prst="roundRect">
            <a:avLst>
              <a:gd name="adj" fmla="val 3000"/>
            </a:avLst>
          </a:prstGeom>
          <a:solidFill>
            <a:srgbClr val="0B0D12"/>
          </a:solidFill>
          <a:ln w="6350">
            <a:solidFill>
              <a:srgbClr val="2A3140"/>
            </a:solidFill>
            <a:prstDash val="solid"/>
          </a:ln>
        </p:spPr>
      </p:sp>
      <p:sp>
        <p:nvSpPr>
          <p:cNvPr id="5" name="Text 3"/>
          <p:cNvSpPr/>
          <p:nvPr/>
        </p:nvSpPr>
        <p:spPr>
          <a:xfrm>
            <a:off x="1071880" y="216915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7D5"/>
                </a:solidFill>
                <a:latin typeface="JetBrains Mono" pitchFamily="49" charset="0"/>
                <a:ea typeface="JetBrains Mono" pitchFamily="49" charset="-122"/>
                <a:cs typeface="JetBrains Mono" pitchFamily="49" charset="-120"/>
              </a:rPr>
              <a:t>public function index()</a:t>
            </a:r>
            <a:endParaRPr lang="en-US" sz="1300" dirty="0"/>
          </a:p>
        </p:txBody>
      </p:sp>
      <p:sp>
        <p:nvSpPr>
          <p:cNvPr id="6" name="Text 4"/>
          <p:cNvSpPr/>
          <p:nvPr/>
        </p:nvSpPr>
        <p:spPr>
          <a:xfrm>
            <a:off x="1071880" y="245490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7D5"/>
                </a:solidFill>
                <a:latin typeface="JetBrains Mono" pitchFamily="49" charset="0"/>
                <a:ea typeface="JetBrains Mono" pitchFamily="49" charset="-122"/>
                <a:cs typeface="JetBrains Mono" pitchFamily="49" charset="-120"/>
              </a:rPr>
              <a:t>{</a:t>
            </a:r>
            <a:endParaRPr lang="en-US" sz="1300" dirty="0"/>
          </a:p>
        </p:txBody>
      </p:sp>
      <p:sp>
        <p:nvSpPr>
          <p:cNvPr id="7" name="Text 5"/>
          <p:cNvSpPr/>
          <p:nvPr/>
        </p:nvSpPr>
        <p:spPr>
          <a:xfrm>
            <a:off x="1071880" y="274065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$pedidos = Pedido::limit(100)-&gt;get();</a:t>
            </a:r>
            <a:endParaRPr lang="en-US" sz="1300" dirty="0"/>
          </a:p>
        </p:txBody>
      </p:sp>
      <p:sp>
        <p:nvSpPr>
          <p:cNvPr id="8" name="Text 6"/>
          <p:cNvSpPr/>
          <p:nvPr/>
        </p:nvSpPr>
        <p:spPr>
          <a:xfrm>
            <a:off x="1071880" y="331215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return $pedidos-&gt;map(fn ($p) =&gt; [</a:t>
            </a:r>
            <a:endParaRPr lang="en-US" sz="1300" dirty="0"/>
          </a:p>
        </p:txBody>
      </p:sp>
      <p:sp>
        <p:nvSpPr>
          <p:cNvPr id="9" name="Text 7"/>
          <p:cNvSpPr/>
          <p:nvPr/>
        </p:nvSpPr>
        <p:spPr>
          <a:xfrm>
            <a:off x="1071880" y="359790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'id'     =&gt; $p-&gt;id,</a:t>
            </a:r>
            <a:endParaRPr lang="en-US" sz="1300" dirty="0"/>
          </a:p>
        </p:txBody>
      </p:sp>
      <p:sp>
        <p:nvSpPr>
          <p:cNvPr id="10" name="Text 8"/>
          <p:cNvSpPr/>
          <p:nvPr/>
        </p:nvSpPr>
        <p:spPr>
          <a:xfrm>
            <a:off x="1071880" y="388365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'cliente' =&gt; $p-&gt;cliente-&gt;nome,</a:t>
            </a:r>
            <a:endParaRPr lang="en-US" sz="1300" dirty="0"/>
          </a:p>
        </p:txBody>
      </p:sp>
      <p:sp>
        <p:nvSpPr>
          <p:cNvPr id="11" name="Text 9"/>
          <p:cNvSpPr/>
          <p:nvPr/>
        </p:nvSpPr>
        <p:spPr>
          <a:xfrm>
            <a:off x="1071880" y="416940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'itens'   =&gt; $p-&gt;itens-&gt;count(),</a:t>
            </a:r>
            <a:endParaRPr lang="en-US" sz="1300" dirty="0"/>
          </a:p>
        </p:txBody>
      </p:sp>
      <p:sp>
        <p:nvSpPr>
          <p:cNvPr id="12" name="Text 10"/>
          <p:cNvSpPr/>
          <p:nvPr/>
        </p:nvSpPr>
        <p:spPr>
          <a:xfrm>
            <a:off x="1071880" y="445515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F3F0E8"/>
                </a:solidFill>
                <a:latin typeface="JetBrains Mono" pitchFamily="49" charset="0"/>
                <a:ea typeface="JetBrains Mono" pitchFamily="49" charset="-122"/>
                <a:cs typeface="JetBrains Mono" pitchFamily="49" charset="-120"/>
              </a:rPr>
              <a:t>    ]);</a:t>
            </a:r>
            <a:endParaRPr lang="en-US" sz="1300" dirty="0"/>
          </a:p>
        </p:txBody>
      </p:sp>
      <p:sp>
        <p:nvSpPr>
          <p:cNvPr id="13" name="Text 11"/>
          <p:cNvSpPr/>
          <p:nvPr/>
        </p:nvSpPr>
        <p:spPr>
          <a:xfrm>
            <a:off x="1071880" y="4740908"/>
            <a:ext cx="6084218"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FC7D5"/>
                </a:solidFill>
                <a:latin typeface="JetBrains Mono" pitchFamily="49" charset="0"/>
                <a:ea typeface="JetBrains Mono" pitchFamily="49" charset="-122"/>
                <a:cs typeface="JetBrains Mono" pitchFamily="49" charset="-120"/>
              </a:rPr>
              <a:t>}</a:t>
            </a:r>
            <a:endParaRPr lang="en-US" sz="1300" dirty="0"/>
          </a:p>
        </p:txBody>
      </p:sp>
      <p:sp>
        <p:nvSpPr>
          <p:cNvPr id="14" name="Text 12"/>
          <p:cNvSpPr/>
          <p:nvPr/>
        </p:nvSpPr>
        <p:spPr>
          <a:xfrm>
            <a:off x="7441168" y="1935485"/>
            <a:ext cx="405617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Parece inocente.</a:t>
            </a:r>
            <a:endParaRPr lang="en-US" sz="2200" dirty="0"/>
          </a:p>
        </p:txBody>
      </p:sp>
      <p:sp>
        <p:nvSpPr>
          <p:cNvPr id="15" name="Text 13"/>
          <p:cNvSpPr/>
          <p:nvPr/>
        </p:nvSpPr>
        <p:spPr>
          <a:xfrm>
            <a:off x="7441168" y="2423158"/>
            <a:ext cx="405617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Sem erro, sem exceção, nada no laravel.log. Só lentidão.</a:t>
            </a:r>
            <a:endParaRPr lang="en-US" sz="1600" dirty="0"/>
          </a:p>
        </p:txBody>
      </p:sp>
      <p:sp>
        <p:nvSpPr>
          <p:cNvPr id="16" name="Text 14"/>
          <p:cNvSpPr/>
          <p:nvPr/>
        </p:nvSpPr>
        <p:spPr>
          <a:xfrm>
            <a:off x="7441168" y="3124200"/>
            <a:ext cx="405617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3CC8B4"/>
                </a:solidFill>
                <a:latin typeface="IBM Plex Sans" pitchFamily="34" charset="0"/>
                <a:ea typeface="IBM Plex Sans" pitchFamily="34" charset="-122"/>
                <a:cs typeface="IBM Plex Sans" pitchFamily="34" charset="-120"/>
              </a:rPr>
              <a:t>Onde está o problema?</a:t>
            </a:r>
            <a:endParaRPr lang="en-US" sz="16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Live demo · Passo 2 de 5</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PASSO 3</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Instrumentar com OpenTelemetry</a:t>
            </a:r>
            <a:endParaRPr lang="en-US" sz="3600" dirty="0"/>
          </a:p>
        </p:txBody>
      </p:sp>
      <p:sp>
        <p:nvSpPr>
          <p:cNvPr id="4" name="Shape 2"/>
          <p:cNvSpPr/>
          <p:nvPr/>
        </p:nvSpPr>
        <p:spPr>
          <a:xfrm>
            <a:off x="812800" y="1884685"/>
            <a:ext cx="5181600" cy="2054860"/>
          </a:xfrm>
          <a:prstGeom prst="roundRect">
            <a:avLst>
              <a:gd name="adj" fmla="val 4944"/>
            </a:avLst>
          </a:prstGeom>
          <a:solidFill>
            <a:srgbClr val="11141B"/>
          </a:solidFill>
          <a:ln/>
        </p:spPr>
      </p:sp>
      <p:sp>
        <p:nvSpPr>
          <p:cNvPr id="5" name="Text 3"/>
          <p:cNvSpPr/>
          <p:nvPr/>
        </p:nvSpPr>
        <p:spPr>
          <a:xfrm>
            <a:off x="1066800" y="2113285"/>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1. Extensão</a:t>
            </a:r>
            <a:endParaRPr lang="en-US" sz="1200" dirty="0"/>
          </a:p>
        </p:txBody>
      </p:sp>
      <p:sp>
        <p:nvSpPr>
          <p:cNvPr id="6" name="Text 4"/>
          <p:cNvSpPr/>
          <p:nvPr/>
        </p:nvSpPr>
        <p:spPr>
          <a:xfrm>
            <a:off x="1066800" y="2428242"/>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pecl install opentelemetry</a:t>
            </a:r>
            <a:endParaRPr lang="en-US" sz="1200" dirty="0"/>
          </a:p>
        </p:txBody>
      </p:sp>
      <p:sp>
        <p:nvSpPr>
          <p:cNvPr id="7" name="Text 5"/>
          <p:cNvSpPr/>
          <p:nvPr/>
        </p:nvSpPr>
        <p:spPr>
          <a:xfrm>
            <a:off x="1066800" y="27432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2. Pacotes</a:t>
            </a:r>
            <a:endParaRPr lang="en-US" sz="1200" dirty="0"/>
          </a:p>
        </p:txBody>
      </p:sp>
      <p:sp>
        <p:nvSpPr>
          <p:cNvPr id="8" name="Text 6"/>
          <p:cNvSpPr/>
          <p:nvPr/>
        </p:nvSpPr>
        <p:spPr>
          <a:xfrm>
            <a:off x="1066800" y="3058158"/>
            <a:ext cx="4813808"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composer require open-telemetry/sdk open-telemetry/exporter-otlp open-telemetry/opentelemetry-auto-laravel</a:t>
            </a:r>
            <a:endParaRPr lang="en-US" sz="1200" dirty="0"/>
          </a:p>
        </p:txBody>
      </p:sp>
      <p:sp>
        <p:nvSpPr>
          <p:cNvPr id="9" name="Shape 7"/>
          <p:cNvSpPr/>
          <p:nvPr/>
        </p:nvSpPr>
        <p:spPr>
          <a:xfrm>
            <a:off x="6197600" y="1884685"/>
            <a:ext cx="5181600" cy="2054860"/>
          </a:xfrm>
          <a:prstGeom prst="roundRect">
            <a:avLst>
              <a:gd name="adj" fmla="val 4944"/>
            </a:avLst>
          </a:prstGeom>
          <a:solidFill>
            <a:srgbClr val="11141B"/>
          </a:solidFill>
          <a:ln/>
        </p:spPr>
      </p:sp>
      <p:sp>
        <p:nvSpPr>
          <p:cNvPr id="10" name="Text 8"/>
          <p:cNvSpPr/>
          <p:nvPr/>
        </p:nvSpPr>
        <p:spPr>
          <a:xfrm>
            <a:off x="6451600" y="2113285"/>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3. Variáveis de ambiente</a:t>
            </a:r>
            <a:endParaRPr lang="en-US" sz="1200" dirty="0"/>
          </a:p>
        </p:txBody>
      </p:sp>
      <p:sp>
        <p:nvSpPr>
          <p:cNvPr id="11" name="Text 9"/>
          <p:cNvSpPr/>
          <p:nvPr/>
        </p:nvSpPr>
        <p:spPr>
          <a:xfrm>
            <a:off x="6451600" y="2390142"/>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OTEL_PHP_AUTOLOAD_ENABLED=true</a:t>
            </a:r>
            <a:endParaRPr lang="en-US" sz="1200" dirty="0"/>
          </a:p>
        </p:txBody>
      </p:sp>
      <p:sp>
        <p:nvSpPr>
          <p:cNvPr id="12" name="Text 10"/>
          <p:cNvSpPr/>
          <p:nvPr/>
        </p:nvSpPr>
        <p:spPr>
          <a:xfrm>
            <a:off x="6451600" y="2667000"/>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OTEL_SERVICE_NAME=demo-pedidos</a:t>
            </a:r>
            <a:endParaRPr lang="en-US" sz="1200" dirty="0"/>
          </a:p>
        </p:txBody>
      </p:sp>
      <p:sp>
        <p:nvSpPr>
          <p:cNvPr id="13" name="Text 11"/>
          <p:cNvSpPr/>
          <p:nvPr/>
        </p:nvSpPr>
        <p:spPr>
          <a:xfrm>
            <a:off x="6451600" y="2943858"/>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OTEL_TRACES_EXPORTER=otlp</a:t>
            </a:r>
            <a:endParaRPr lang="en-US" sz="1200" dirty="0"/>
          </a:p>
        </p:txBody>
      </p:sp>
      <p:sp>
        <p:nvSpPr>
          <p:cNvPr id="14" name="Text 12"/>
          <p:cNvSpPr/>
          <p:nvPr/>
        </p:nvSpPr>
        <p:spPr>
          <a:xfrm>
            <a:off x="6451600" y="3220727"/>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OTEL_EXPORTER_OTLP_PROTOCOL=http/protobuf</a:t>
            </a:r>
            <a:endParaRPr lang="en-US" sz="1200" dirty="0"/>
          </a:p>
        </p:txBody>
      </p:sp>
      <p:sp>
        <p:nvSpPr>
          <p:cNvPr id="15" name="Text 13"/>
          <p:cNvSpPr/>
          <p:nvPr/>
        </p:nvSpPr>
        <p:spPr>
          <a:xfrm>
            <a:off x="6451600" y="3497585"/>
            <a:ext cx="481380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OTEL_EXPORTER_OTLP_ENDPOINT=http://collector:4318</a:t>
            </a:r>
            <a:endParaRPr lang="en-US" sz="1200" dirty="0"/>
          </a:p>
        </p:txBody>
      </p:sp>
      <p:sp>
        <p:nvSpPr>
          <p:cNvPr id="16" name="Text 14"/>
          <p:cNvSpPr/>
          <p:nvPr/>
        </p:nvSpPr>
        <p:spPr>
          <a:xfrm>
            <a:off x="812800" y="4193542"/>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Zero linhas no controller.</a:t>
            </a:r>
            <a:endParaRPr lang="en-US" sz="2200" dirty="0"/>
          </a:p>
        </p:txBody>
      </p:sp>
      <p:sp>
        <p:nvSpPr>
          <p:cNvPr id="17" name="Text 15"/>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Live demo · Passo 3 de 5</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LIVE DEMO · PASSOS 4 E 5</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O trace aparece</a:t>
            </a:r>
            <a:endParaRPr lang="en-US" sz="3600" dirty="0"/>
          </a:p>
        </p:txBody>
      </p:sp>
      <p:sp>
        <p:nvSpPr>
          <p:cNvPr id="4" name="Shape 2"/>
          <p:cNvSpPr/>
          <p:nvPr/>
        </p:nvSpPr>
        <p:spPr>
          <a:xfrm>
            <a:off x="815975" y="1938660"/>
            <a:ext cx="10560050" cy="1807210"/>
          </a:xfrm>
          <a:prstGeom prst="roundRect">
            <a:avLst>
              <a:gd name="adj" fmla="val 5446"/>
            </a:avLst>
          </a:prstGeom>
          <a:solidFill>
            <a:srgbClr val="0B0D12"/>
          </a:solidFill>
          <a:ln w="6350">
            <a:solidFill>
              <a:srgbClr val="2A3140"/>
            </a:solidFill>
            <a:prstDash val="solid"/>
          </a:ln>
        </p:spPr>
      </p:sp>
      <p:sp>
        <p:nvSpPr>
          <p:cNvPr id="5" name="Text 3"/>
          <p:cNvSpPr/>
          <p:nvPr/>
        </p:nvSpPr>
        <p:spPr>
          <a:xfrm>
            <a:off x="1071880" y="2202185"/>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0E8"/>
                </a:solidFill>
                <a:latin typeface="JetBrains Mono" pitchFamily="49" charset="0"/>
                <a:ea typeface="JetBrains Mono" pitchFamily="49" charset="-122"/>
                <a:cs typeface="JetBrains Mono" pitchFamily="49" charset="-120"/>
              </a:rPr>
              <a:t>GET /api/pedidos</a:t>
            </a:r>
            <a:endParaRPr lang="en-US" sz="1200" dirty="0"/>
          </a:p>
        </p:txBody>
      </p:sp>
      <p:sp>
        <p:nvSpPr>
          <p:cNvPr id="6" name="Shape 4"/>
          <p:cNvSpPr/>
          <p:nvPr/>
        </p:nvSpPr>
        <p:spPr>
          <a:xfrm>
            <a:off x="3891280" y="2194558"/>
            <a:ext cx="7228840" cy="228600"/>
          </a:xfrm>
          <a:prstGeom prst="roundRect">
            <a:avLst>
              <a:gd name="adj" fmla="val 16667"/>
            </a:avLst>
          </a:prstGeom>
          <a:solidFill>
            <a:srgbClr val="3CC8B4"/>
          </a:solidFill>
          <a:ln/>
        </p:spPr>
      </p:sp>
      <p:sp>
        <p:nvSpPr>
          <p:cNvPr id="7" name="Text 5"/>
          <p:cNvSpPr/>
          <p:nvPr/>
        </p:nvSpPr>
        <p:spPr>
          <a:xfrm>
            <a:off x="1071880" y="2557785"/>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5"/>
                </a:solidFill>
                <a:latin typeface="JetBrains Mono" pitchFamily="49" charset="0"/>
                <a:ea typeface="JetBrains Mono" pitchFamily="49" charset="-122"/>
                <a:cs typeface="JetBrains Mono" pitchFamily="49" charset="-120"/>
              </a:rPr>
              <a:t>SELECT pedidos</a:t>
            </a:r>
            <a:endParaRPr lang="en-US" sz="1200" dirty="0"/>
          </a:p>
        </p:txBody>
      </p:sp>
      <p:sp>
        <p:nvSpPr>
          <p:cNvPr id="8" name="Shape 6"/>
          <p:cNvSpPr/>
          <p:nvPr/>
        </p:nvSpPr>
        <p:spPr>
          <a:xfrm>
            <a:off x="4035822" y="2550158"/>
            <a:ext cx="433784" cy="228600"/>
          </a:xfrm>
          <a:prstGeom prst="roundRect">
            <a:avLst>
              <a:gd name="adj" fmla="val 16667"/>
            </a:avLst>
          </a:prstGeom>
          <a:solidFill>
            <a:srgbClr val="6C7A96"/>
          </a:solidFill>
          <a:ln/>
        </p:spPr>
      </p:sp>
      <p:sp>
        <p:nvSpPr>
          <p:cNvPr id="9" name="Text 7"/>
          <p:cNvSpPr/>
          <p:nvPr/>
        </p:nvSpPr>
        <p:spPr>
          <a:xfrm>
            <a:off x="1071880" y="2913385"/>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5"/>
                </a:solidFill>
                <a:latin typeface="JetBrains Mono" pitchFamily="49" charset="0"/>
                <a:ea typeface="JetBrains Mono" pitchFamily="49" charset="-122"/>
                <a:cs typeface="JetBrains Mono" pitchFamily="49" charset="-120"/>
              </a:rPr>
              <a:t>SELECT clientes ×100</a:t>
            </a:r>
            <a:endParaRPr lang="en-US" sz="1200" dirty="0"/>
          </a:p>
        </p:txBody>
      </p:sp>
      <p:sp>
        <p:nvSpPr>
          <p:cNvPr id="10" name="Shape 8"/>
          <p:cNvSpPr/>
          <p:nvPr/>
        </p:nvSpPr>
        <p:spPr>
          <a:xfrm>
            <a:off x="4469606" y="2905758"/>
            <a:ext cx="2891552" cy="228600"/>
          </a:xfrm>
          <a:prstGeom prst="roundRect">
            <a:avLst>
              <a:gd name="adj" fmla="val 16667"/>
            </a:avLst>
          </a:prstGeom>
          <a:solidFill>
            <a:srgbClr val="FF7A3D"/>
          </a:solidFill>
          <a:ln/>
        </p:spPr>
      </p:sp>
      <p:sp>
        <p:nvSpPr>
          <p:cNvPr id="11" name="Text 9"/>
          <p:cNvSpPr/>
          <p:nvPr/>
        </p:nvSpPr>
        <p:spPr>
          <a:xfrm>
            <a:off x="1071880" y="3268985"/>
            <a:ext cx="2747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7D5"/>
                </a:solidFill>
                <a:latin typeface="JetBrains Mono" pitchFamily="49" charset="0"/>
                <a:ea typeface="JetBrains Mono" pitchFamily="49" charset="-122"/>
                <a:cs typeface="JetBrains Mono" pitchFamily="49" charset="-120"/>
              </a:rPr>
              <a:t>SELECT itens ×100</a:t>
            </a:r>
            <a:endParaRPr lang="en-US" sz="1200" dirty="0"/>
          </a:p>
        </p:txBody>
      </p:sp>
      <p:sp>
        <p:nvSpPr>
          <p:cNvPr id="12" name="Shape 10"/>
          <p:cNvSpPr/>
          <p:nvPr/>
        </p:nvSpPr>
        <p:spPr>
          <a:xfrm>
            <a:off x="7505700" y="3261358"/>
            <a:ext cx="3325257" cy="228600"/>
          </a:xfrm>
          <a:prstGeom prst="roundRect">
            <a:avLst>
              <a:gd name="adj" fmla="val 16667"/>
            </a:avLst>
          </a:prstGeom>
          <a:solidFill>
            <a:srgbClr val="FF7A3D"/>
          </a:solidFill>
          <a:ln/>
        </p:spPr>
      </p:sp>
      <p:sp>
        <p:nvSpPr>
          <p:cNvPr id="13" name="Text 11"/>
          <p:cNvSpPr/>
          <p:nvPr/>
        </p:nvSpPr>
        <p:spPr>
          <a:xfrm>
            <a:off x="812800" y="4053842"/>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Ilustração do que o Grafana vai mostrar: cada barra é um span, e o comprimento é o tempo.</a:t>
            </a:r>
            <a:endParaRPr lang="en-US" sz="1600" dirty="0"/>
          </a:p>
        </p:txBody>
      </p:sp>
      <p:sp>
        <p:nvSpPr>
          <p:cNvPr id="14" name="Text 12"/>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Live demo · Passos 4 e 5 de 5</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LIVE DEMO · RESULTADO</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O culpado: query N+1</a:t>
            </a:r>
            <a:endParaRPr lang="en-US" sz="3600" dirty="0"/>
          </a:p>
        </p:txBody>
      </p:sp>
      <p:sp>
        <p:nvSpPr>
          <p:cNvPr id="4" name="Shape 2"/>
          <p:cNvSpPr/>
          <p:nvPr/>
        </p:nvSpPr>
        <p:spPr>
          <a:xfrm>
            <a:off x="812800" y="1935485"/>
            <a:ext cx="5171440" cy="1968500"/>
          </a:xfrm>
          <a:prstGeom prst="roundRect">
            <a:avLst>
              <a:gd name="adj" fmla="val 5161"/>
            </a:avLst>
          </a:prstGeom>
          <a:solidFill>
            <a:srgbClr val="11141B"/>
          </a:solidFill>
          <a:ln/>
        </p:spPr>
      </p:sp>
      <p:sp>
        <p:nvSpPr>
          <p:cNvPr id="5" name="Text 3"/>
          <p:cNvSpPr/>
          <p:nvPr/>
        </p:nvSpPr>
        <p:spPr>
          <a:xfrm>
            <a:off x="1066800" y="2189485"/>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3D"/>
                </a:solidFill>
                <a:latin typeface="JetBrains Mono" pitchFamily="49" charset="0"/>
                <a:ea typeface="JetBrains Mono" pitchFamily="49" charset="-122"/>
                <a:cs typeface="JetBrains Mono" pitchFamily="49" charset="-120"/>
              </a:rPr>
              <a:t>ANTES</a:t>
            </a:r>
            <a:endParaRPr lang="en-US" sz="1200" dirty="0"/>
          </a:p>
        </p:txBody>
      </p:sp>
      <p:sp>
        <p:nvSpPr>
          <p:cNvPr id="6" name="Text 4"/>
          <p:cNvSpPr/>
          <p:nvPr/>
        </p:nvSpPr>
        <p:spPr>
          <a:xfrm>
            <a:off x="1066800" y="2479042"/>
            <a:ext cx="4803343"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3F0E8"/>
                </a:solidFill>
                <a:latin typeface="IBM Plex Sans" pitchFamily="34" charset="0"/>
                <a:ea typeface="IBM Plex Sans" pitchFamily="34" charset="-122"/>
                <a:cs typeface="IBM Plex Sans" pitchFamily="34" charset="-120"/>
              </a:rPr>
              <a:t>201</a:t>
            </a:r>
            <a:endParaRPr lang="en-US" sz="6000" dirty="0"/>
          </a:p>
        </p:txBody>
      </p:sp>
      <p:sp>
        <p:nvSpPr>
          <p:cNvPr id="7" name="Text 5"/>
          <p:cNvSpPr/>
          <p:nvPr/>
        </p:nvSpPr>
        <p:spPr>
          <a:xfrm>
            <a:off x="1066800" y="3355342"/>
            <a:ext cx="480334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queries numa única request.</a:t>
            </a:r>
            <a:endParaRPr lang="en-US" sz="1600" dirty="0"/>
          </a:p>
        </p:txBody>
      </p:sp>
      <p:sp>
        <p:nvSpPr>
          <p:cNvPr id="8" name="Shape 6"/>
          <p:cNvSpPr/>
          <p:nvPr/>
        </p:nvSpPr>
        <p:spPr>
          <a:xfrm>
            <a:off x="6193790" y="1941835"/>
            <a:ext cx="5179060" cy="1955800"/>
          </a:xfrm>
          <a:prstGeom prst="roundRect">
            <a:avLst>
              <a:gd name="adj" fmla="val 4870"/>
            </a:avLst>
          </a:prstGeom>
          <a:solidFill>
            <a:srgbClr val="FBFAF6"/>
          </a:solidFill>
          <a:ln w="12700">
            <a:solidFill>
              <a:srgbClr val="0F766E"/>
            </a:solidFill>
            <a:prstDash val="solid"/>
          </a:ln>
        </p:spPr>
      </p:sp>
      <p:sp>
        <p:nvSpPr>
          <p:cNvPr id="9" name="Text 7"/>
          <p:cNvSpPr/>
          <p:nvPr/>
        </p:nvSpPr>
        <p:spPr>
          <a:xfrm>
            <a:off x="6451600" y="2199642"/>
            <a:ext cx="480334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F766E"/>
                </a:solidFill>
                <a:latin typeface="JetBrains Mono" pitchFamily="49" charset="0"/>
                <a:ea typeface="JetBrains Mono" pitchFamily="49" charset="-122"/>
                <a:cs typeface="JetBrains Mono" pitchFamily="49" charset="-120"/>
              </a:rPr>
              <a:t>DEPOIS</a:t>
            </a:r>
            <a:endParaRPr lang="en-US" sz="1200" dirty="0"/>
          </a:p>
        </p:txBody>
      </p:sp>
      <p:sp>
        <p:nvSpPr>
          <p:cNvPr id="10" name="Text 8"/>
          <p:cNvSpPr/>
          <p:nvPr/>
        </p:nvSpPr>
        <p:spPr>
          <a:xfrm>
            <a:off x="6451600" y="2489200"/>
            <a:ext cx="4803343" cy="8255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0F766E"/>
                </a:solidFill>
                <a:latin typeface="IBM Plex Sans" pitchFamily="34" charset="0"/>
                <a:ea typeface="IBM Plex Sans" pitchFamily="34" charset="-122"/>
                <a:cs typeface="IBM Plex Sans" pitchFamily="34" charset="-120"/>
              </a:rPr>
              <a:t>3</a:t>
            </a:r>
            <a:endParaRPr lang="en-US" sz="6000" dirty="0"/>
          </a:p>
        </p:txBody>
      </p:sp>
      <p:sp>
        <p:nvSpPr>
          <p:cNvPr id="11" name="Text 9"/>
          <p:cNvSpPr/>
          <p:nvPr/>
        </p:nvSpPr>
        <p:spPr>
          <a:xfrm>
            <a:off x="6451600" y="3365500"/>
            <a:ext cx="4803343"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queries, com eager loading.</a:t>
            </a:r>
            <a:endParaRPr lang="en-US" sz="1600" dirty="0"/>
          </a:p>
        </p:txBody>
      </p:sp>
      <p:sp>
        <p:nvSpPr>
          <p:cNvPr id="12" name="Text 10"/>
          <p:cNvSpPr/>
          <p:nvPr/>
        </p:nvSpPr>
        <p:spPr>
          <a:xfrm>
            <a:off x="812800" y="4208785"/>
            <a:ext cx="10566400" cy="535940"/>
          </a:xfrm>
          <a:prstGeom prst="roundRect">
            <a:avLst>
              <a:gd name="adj" fmla="val 14218"/>
            </a:avLst>
          </a:prstGeom>
          <a:solidFill>
            <a:srgbClr val="11141B"/>
          </a:solidFill>
          <a:ln/>
        </p:spPr>
        <p:txBody>
          <a:bodyPr wrap="square" lIns="180882" tIns="130082" rIns="0" bIns="104682"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$pedidos = Pedido::with(['cliente', 'itens'])-&gt;limit(100)-&gt;get();</a:t>
            </a:r>
            <a:endParaRPr lang="en-US" sz="13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Live demo · Resultado</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LIVE DEMO · BÔNUS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O log com o mesmo trace_id</a:t>
            </a:r>
            <a:endParaRPr lang="en-US" sz="3600" dirty="0"/>
          </a:p>
        </p:txBody>
      </p:sp>
      <p:sp>
        <p:nvSpPr>
          <p:cNvPr id="4" name="Shape 2"/>
          <p:cNvSpPr/>
          <p:nvPr/>
        </p:nvSpPr>
        <p:spPr>
          <a:xfrm>
            <a:off x="815975" y="1887860"/>
            <a:ext cx="10560050" cy="930910"/>
          </a:xfrm>
          <a:prstGeom prst="roundRect">
            <a:avLst>
              <a:gd name="adj" fmla="val 10573"/>
            </a:avLst>
          </a:prstGeom>
          <a:solidFill>
            <a:srgbClr val="0B0D12"/>
          </a:solidFill>
          <a:ln w="6350">
            <a:solidFill>
              <a:srgbClr val="2A3140"/>
            </a:solidFill>
            <a:prstDash val="solid"/>
          </a:ln>
        </p:spPr>
      </p:sp>
      <p:sp>
        <p:nvSpPr>
          <p:cNvPr id="5" name="Text 3"/>
          <p:cNvSpPr/>
          <p:nvPr/>
        </p:nvSpPr>
        <p:spPr>
          <a:xfrm>
            <a:off x="1071880" y="2092958"/>
            <a:ext cx="103496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.env</a:t>
            </a:r>
            <a:endParaRPr lang="en-US" sz="1200" dirty="0"/>
          </a:p>
        </p:txBody>
      </p:sp>
      <p:sp>
        <p:nvSpPr>
          <p:cNvPr id="6" name="Text 4"/>
          <p:cNvSpPr/>
          <p:nvPr/>
        </p:nvSpPr>
        <p:spPr>
          <a:xfrm>
            <a:off x="1071880" y="2382527"/>
            <a:ext cx="1034968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OTEL_PHP_PSR3_MODE=inject</a:t>
            </a:r>
            <a:endParaRPr lang="en-US" sz="1300" dirty="0"/>
          </a:p>
        </p:txBody>
      </p:sp>
      <p:sp>
        <p:nvSpPr>
          <p:cNvPr id="7" name="Shape 5"/>
          <p:cNvSpPr/>
          <p:nvPr/>
        </p:nvSpPr>
        <p:spPr>
          <a:xfrm>
            <a:off x="815975" y="3079117"/>
            <a:ext cx="10560050" cy="930910"/>
          </a:xfrm>
          <a:prstGeom prst="roundRect">
            <a:avLst>
              <a:gd name="adj" fmla="val 10573"/>
            </a:avLst>
          </a:prstGeom>
          <a:solidFill>
            <a:srgbClr val="0B0D12"/>
          </a:solidFill>
          <a:ln w="6350">
            <a:solidFill>
              <a:srgbClr val="2A3140"/>
            </a:solidFill>
            <a:prstDash val="solid"/>
          </a:ln>
        </p:spPr>
      </p:sp>
      <p:sp>
        <p:nvSpPr>
          <p:cNvPr id="8" name="Text 6"/>
          <p:cNvSpPr/>
          <p:nvPr/>
        </p:nvSpPr>
        <p:spPr>
          <a:xfrm>
            <a:off x="1071880" y="3284227"/>
            <a:ext cx="103496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No controller</a:t>
            </a:r>
            <a:endParaRPr lang="en-US" sz="1200" dirty="0"/>
          </a:p>
        </p:txBody>
      </p:sp>
      <p:sp>
        <p:nvSpPr>
          <p:cNvPr id="9" name="Text 7"/>
          <p:cNvSpPr/>
          <p:nvPr/>
        </p:nvSpPr>
        <p:spPr>
          <a:xfrm>
            <a:off x="1071880" y="3573785"/>
            <a:ext cx="1034968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3F0E8"/>
                </a:solidFill>
                <a:latin typeface="JetBrains Mono" pitchFamily="49" charset="0"/>
                <a:ea typeface="JetBrains Mono" pitchFamily="49" charset="-122"/>
                <a:cs typeface="JetBrains Mono" pitchFamily="49" charset="-120"/>
              </a:rPr>
              <a:t>Log::info('Listando pedidos trace_id={trace_id} span_id={span_id}');</a:t>
            </a:r>
            <a:endParaRPr lang="en-US" sz="1300" dirty="0"/>
          </a:p>
        </p:txBody>
      </p:sp>
      <p:sp>
        <p:nvSpPr>
          <p:cNvPr id="10" name="Shape 8"/>
          <p:cNvSpPr/>
          <p:nvPr/>
        </p:nvSpPr>
        <p:spPr>
          <a:xfrm>
            <a:off x="815975" y="4270375"/>
            <a:ext cx="10560050" cy="913130"/>
          </a:xfrm>
          <a:prstGeom prst="roundRect">
            <a:avLst>
              <a:gd name="adj" fmla="val 10779"/>
            </a:avLst>
          </a:prstGeom>
          <a:solidFill>
            <a:srgbClr val="0B0D12"/>
          </a:solidFill>
          <a:ln w="6350">
            <a:solidFill>
              <a:srgbClr val="2A3140"/>
            </a:solidFill>
            <a:prstDash val="solid"/>
          </a:ln>
        </p:spPr>
      </p:sp>
      <p:sp>
        <p:nvSpPr>
          <p:cNvPr id="11" name="Text 9"/>
          <p:cNvSpPr/>
          <p:nvPr/>
        </p:nvSpPr>
        <p:spPr>
          <a:xfrm>
            <a:off x="1071880" y="4475485"/>
            <a:ext cx="103496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No laravel.log</a:t>
            </a:r>
            <a:endParaRPr lang="en-US" sz="1200" dirty="0"/>
          </a:p>
        </p:txBody>
      </p:sp>
      <p:sp>
        <p:nvSpPr>
          <p:cNvPr id="12" name="Text 10"/>
          <p:cNvSpPr/>
          <p:nvPr/>
        </p:nvSpPr>
        <p:spPr>
          <a:xfrm>
            <a:off x="1071880" y="4765042"/>
            <a:ext cx="103496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3D"/>
                </a:solidFill>
                <a:latin typeface="JetBrains Mono" pitchFamily="49" charset="0"/>
                <a:ea typeface="JetBrains Mono" pitchFamily="49" charset="-122"/>
                <a:cs typeface="JetBrains Mono" pitchFamily="49" charset="-120"/>
              </a:rPr>
              <a:t>local.INFO: Listando pedidos trace_id=4bf92f3577b34da6a3ce929d0e0e4736 span_id=00f067aa0ba902b7</a:t>
            </a:r>
            <a:endParaRPr lang="en-US" sz="1200" dirty="0"/>
          </a:p>
        </p:txBody>
      </p:sp>
      <p:sp>
        <p:nvSpPr>
          <p:cNvPr id="13" name="Text 11"/>
          <p:cNvSpPr/>
          <p:nvPr/>
        </p:nvSpPr>
        <p:spPr>
          <a:xfrm>
            <a:off x="812800" y="6238242"/>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Live demo · Bônus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SINAIS DE SAÚDE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Como saber se a aplicação está bem</a:t>
            </a:r>
            <a:endParaRPr lang="en-US" sz="3600" dirty="0"/>
          </a:p>
        </p:txBody>
      </p:sp>
      <p:sp>
        <p:nvSpPr>
          <p:cNvPr id="4" name="Shape 2"/>
          <p:cNvSpPr/>
          <p:nvPr/>
        </p:nvSpPr>
        <p:spPr>
          <a:xfrm>
            <a:off x="812800" y="1935485"/>
            <a:ext cx="2527300" cy="1992630"/>
          </a:xfrm>
          <a:prstGeom prst="roundRect">
            <a:avLst>
              <a:gd name="adj" fmla="val 5099"/>
            </a:avLst>
          </a:prstGeom>
          <a:solidFill>
            <a:srgbClr val="1B212C"/>
          </a:solidFill>
          <a:ln/>
        </p:spPr>
      </p:sp>
      <p:pic>
        <p:nvPicPr>
          <p:cNvPr id="5" name="Image 0" descr="Clock">    </p:cNvPr>
          <p:cNvPicPr>
            <a:picLocks noChangeAspect="1"/>
          </p:cNvPicPr>
          <p:nvPr/>
        </p:nvPicPr>
        <p:blipFill>
          <a:blip r:embed="rId1"/>
          <a:srcRect l="0" r="0" t="0" b="0"/>
          <a:stretch/>
        </p:blipFill>
        <p:spPr>
          <a:xfrm>
            <a:off x="1016000" y="2138685"/>
            <a:ext cx="355600" cy="355600"/>
          </a:xfrm>
          <a:prstGeom prst="rect">
            <a:avLst/>
          </a:prstGeom>
        </p:spPr>
      </p:pic>
      <p:sp>
        <p:nvSpPr>
          <p:cNvPr id="6" name="Text 3"/>
          <p:cNvSpPr/>
          <p:nvPr/>
        </p:nvSpPr>
        <p:spPr>
          <a:xfrm>
            <a:off x="1016000" y="25831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Latência</a:t>
            </a:r>
            <a:endParaRPr lang="en-US" sz="2000" dirty="0"/>
          </a:p>
        </p:txBody>
      </p:sp>
      <p:sp>
        <p:nvSpPr>
          <p:cNvPr id="7" name="Text 4"/>
          <p:cNvSpPr/>
          <p:nvPr/>
        </p:nvSpPr>
        <p:spPr>
          <a:xfrm>
            <a:off x="1016000" y="2976885"/>
            <a:ext cx="218452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Quanto tempo leva para responder?</a:t>
            </a:r>
            <a:endParaRPr lang="en-US" sz="1300" dirty="0"/>
          </a:p>
        </p:txBody>
      </p:sp>
      <p:sp>
        <p:nvSpPr>
          <p:cNvPr id="8" name="Text 5"/>
          <p:cNvSpPr/>
          <p:nvPr/>
        </p:nvSpPr>
        <p:spPr>
          <a:xfrm>
            <a:off x="1016000" y="351155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ms · percentis</a:t>
            </a:r>
            <a:endParaRPr lang="en-US" sz="1200" dirty="0"/>
          </a:p>
        </p:txBody>
      </p:sp>
      <p:sp>
        <p:nvSpPr>
          <p:cNvPr id="9" name="Shape 6"/>
          <p:cNvSpPr/>
          <p:nvPr/>
        </p:nvSpPr>
        <p:spPr>
          <a:xfrm>
            <a:off x="3492500" y="1935485"/>
            <a:ext cx="2527300" cy="1992630"/>
          </a:xfrm>
          <a:prstGeom prst="roundRect">
            <a:avLst>
              <a:gd name="adj" fmla="val 5099"/>
            </a:avLst>
          </a:prstGeom>
          <a:solidFill>
            <a:srgbClr val="1B212C"/>
          </a:solidFill>
          <a:ln/>
        </p:spPr>
      </p:sp>
      <p:pic>
        <p:nvPicPr>
          <p:cNvPr id="10" name="Image 1" descr="Activity">    </p:cNvPr>
          <p:cNvPicPr>
            <a:picLocks noChangeAspect="1"/>
          </p:cNvPicPr>
          <p:nvPr/>
        </p:nvPicPr>
        <p:blipFill>
          <a:blip r:embed="rId2"/>
          <a:srcRect l="0" r="0" t="0" b="0"/>
          <a:stretch/>
        </p:blipFill>
        <p:spPr>
          <a:xfrm>
            <a:off x="3695700" y="2138685"/>
            <a:ext cx="355600" cy="355600"/>
          </a:xfrm>
          <a:prstGeom prst="rect">
            <a:avLst/>
          </a:prstGeom>
        </p:spPr>
      </p:pic>
      <p:sp>
        <p:nvSpPr>
          <p:cNvPr id="11" name="Text 7"/>
          <p:cNvSpPr/>
          <p:nvPr/>
        </p:nvSpPr>
        <p:spPr>
          <a:xfrm>
            <a:off x="3695700" y="25831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Tráfego</a:t>
            </a:r>
            <a:endParaRPr lang="en-US" sz="2000" dirty="0"/>
          </a:p>
        </p:txBody>
      </p:sp>
      <p:sp>
        <p:nvSpPr>
          <p:cNvPr id="12" name="Text 8"/>
          <p:cNvSpPr/>
          <p:nvPr/>
        </p:nvSpPr>
        <p:spPr>
          <a:xfrm>
            <a:off x="3695700" y="2976885"/>
            <a:ext cx="218452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Quanta demanda está chegando?</a:t>
            </a:r>
            <a:endParaRPr lang="en-US" sz="1300" dirty="0"/>
          </a:p>
        </p:txBody>
      </p:sp>
      <p:sp>
        <p:nvSpPr>
          <p:cNvPr id="13" name="Text 9"/>
          <p:cNvSpPr/>
          <p:nvPr/>
        </p:nvSpPr>
        <p:spPr>
          <a:xfrm>
            <a:off x="3695700" y="351155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requests por segundo</a:t>
            </a:r>
            <a:endParaRPr lang="en-US" sz="1200" dirty="0"/>
          </a:p>
        </p:txBody>
      </p:sp>
      <p:sp>
        <p:nvSpPr>
          <p:cNvPr id="14" name="Shape 10"/>
          <p:cNvSpPr/>
          <p:nvPr/>
        </p:nvSpPr>
        <p:spPr>
          <a:xfrm>
            <a:off x="6172200" y="1935485"/>
            <a:ext cx="2527300" cy="1992630"/>
          </a:xfrm>
          <a:prstGeom prst="roundRect">
            <a:avLst>
              <a:gd name="adj" fmla="val 5099"/>
            </a:avLst>
          </a:prstGeom>
          <a:solidFill>
            <a:srgbClr val="1B212C"/>
          </a:solidFill>
          <a:ln/>
        </p:spPr>
      </p:sp>
      <p:pic>
        <p:nvPicPr>
          <p:cNvPr id="15" name="Image 2" descr="Warning">    </p:cNvPr>
          <p:cNvPicPr>
            <a:picLocks noChangeAspect="1"/>
          </p:cNvPicPr>
          <p:nvPr/>
        </p:nvPicPr>
        <p:blipFill>
          <a:blip r:embed="rId3"/>
          <a:srcRect l="0" r="0" t="0" b="0"/>
          <a:stretch/>
        </p:blipFill>
        <p:spPr>
          <a:xfrm>
            <a:off x="6375400" y="2138685"/>
            <a:ext cx="355600" cy="355600"/>
          </a:xfrm>
          <a:prstGeom prst="rect">
            <a:avLst/>
          </a:prstGeom>
        </p:spPr>
      </p:pic>
      <p:sp>
        <p:nvSpPr>
          <p:cNvPr id="16" name="Text 11"/>
          <p:cNvSpPr/>
          <p:nvPr/>
        </p:nvSpPr>
        <p:spPr>
          <a:xfrm>
            <a:off x="6375400" y="25831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Erros</a:t>
            </a:r>
            <a:endParaRPr lang="en-US" sz="2000" dirty="0"/>
          </a:p>
        </p:txBody>
      </p:sp>
      <p:sp>
        <p:nvSpPr>
          <p:cNvPr id="17" name="Text 12"/>
          <p:cNvSpPr/>
          <p:nvPr/>
        </p:nvSpPr>
        <p:spPr>
          <a:xfrm>
            <a:off x="6375400" y="2976885"/>
            <a:ext cx="218452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Que parte das requests falha?</a:t>
            </a:r>
            <a:endParaRPr lang="en-US" sz="1300" dirty="0"/>
          </a:p>
        </p:txBody>
      </p:sp>
      <p:sp>
        <p:nvSpPr>
          <p:cNvPr id="18" name="Text 13"/>
          <p:cNvSpPr/>
          <p:nvPr/>
        </p:nvSpPr>
        <p:spPr>
          <a:xfrm>
            <a:off x="6375400" y="351155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 de falhas</a:t>
            </a:r>
            <a:endParaRPr lang="en-US" sz="1200" dirty="0"/>
          </a:p>
        </p:txBody>
      </p:sp>
      <p:sp>
        <p:nvSpPr>
          <p:cNvPr id="19" name="Shape 14"/>
          <p:cNvSpPr/>
          <p:nvPr/>
        </p:nvSpPr>
        <p:spPr>
          <a:xfrm>
            <a:off x="8851900" y="1935485"/>
            <a:ext cx="2527300" cy="1992630"/>
          </a:xfrm>
          <a:prstGeom prst="roundRect">
            <a:avLst>
              <a:gd name="adj" fmla="val 5099"/>
            </a:avLst>
          </a:prstGeom>
          <a:solidFill>
            <a:srgbClr val="1B212C"/>
          </a:solidFill>
          <a:ln/>
        </p:spPr>
      </p:sp>
      <p:pic>
        <p:nvPicPr>
          <p:cNvPr id="20" name="Image 3" descr="Chart">    </p:cNvPr>
          <p:cNvPicPr>
            <a:picLocks noChangeAspect="1"/>
          </p:cNvPicPr>
          <p:nvPr/>
        </p:nvPicPr>
        <p:blipFill>
          <a:blip r:embed="rId4"/>
          <a:srcRect l="0" r="0" t="0" b="0"/>
          <a:stretch/>
        </p:blipFill>
        <p:spPr>
          <a:xfrm>
            <a:off x="9055100" y="2138685"/>
            <a:ext cx="355600" cy="355600"/>
          </a:xfrm>
          <a:prstGeom prst="rect">
            <a:avLst/>
          </a:prstGeom>
        </p:spPr>
      </p:pic>
      <p:sp>
        <p:nvSpPr>
          <p:cNvPr id="21" name="Text 15"/>
          <p:cNvSpPr/>
          <p:nvPr/>
        </p:nvSpPr>
        <p:spPr>
          <a:xfrm>
            <a:off x="9055100" y="2583185"/>
            <a:ext cx="21845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Saturação</a:t>
            </a:r>
            <a:endParaRPr lang="en-US" sz="2000" dirty="0"/>
          </a:p>
        </p:txBody>
      </p:sp>
      <p:sp>
        <p:nvSpPr>
          <p:cNvPr id="22" name="Text 16"/>
          <p:cNvSpPr/>
          <p:nvPr/>
        </p:nvSpPr>
        <p:spPr>
          <a:xfrm>
            <a:off x="9055100" y="2976885"/>
            <a:ext cx="2184527"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BFC7D5"/>
                </a:solidFill>
                <a:latin typeface="IBM Plex Sans" pitchFamily="34" charset="0"/>
                <a:ea typeface="IBM Plex Sans" pitchFamily="34" charset="-122"/>
                <a:cs typeface="IBM Plex Sans" pitchFamily="34" charset="-120"/>
              </a:rPr>
              <a:t>Quão perto do limite estamos?</a:t>
            </a:r>
            <a:endParaRPr lang="en-US" sz="1300" dirty="0"/>
          </a:p>
        </p:txBody>
      </p:sp>
      <p:sp>
        <p:nvSpPr>
          <p:cNvPr id="23" name="Text 17"/>
          <p:cNvSpPr/>
          <p:nvPr/>
        </p:nvSpPr>
        <p:spPr>
          <a:xfrm>
            <a:off x="9055100" y="3511550"/>
            <a:ext cx="218452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 de uso</a:t>
            </a:r>
            <a:endParaRPr lang="en-US" sz="1200" dirty="0"/>
          </a:p>
        </p:txBody>
      </p:sp>
      <p:sp>
        <p:nvSpPr>
          <p:cNvPr id="24" name="Shape 18"/>
          <p:cNvSpPr/>
          <p:nvPr/>
        </p:nvSpPr>
        <p:spPr>
          <a:xfrm>
            <a:off x="822325" y="4242433"/>
            <a:ext cx="10547350" cy="722630"/>
          </a:xfrm>
          <a:prstGeom prst="roundRect">
            <a:avLst>
              <a:gd name="adj" fmla="val 12742"/>
            </a:avLst>
          </a:prstGeom>
          <a:solidFill>
            <a:srgbClr val="1B212C"/>
          </a:solidFill>
          <a:ln w="19050">
            <a:solidFill>
              <a:srgbClr val="3CC8B4"/>
            </a:solidFill>
            <a:prstDash val="solid"/>
          </a:ln>
        </p:spPr>
      </p:sp>
      <p:pic>
        <p:nvPicPr>
          <p:cNvPr id="25" name="Image 4" descr="Link">    </p:cNvPr>
          <p:cNvPicPr>
            <a:picLocks noChangeAspect="1"/>
          </p:cNvPicPr>
          <p:nvPr/>
        </p:nvPicPr>
        <p:blipFill>
          <a:blip r:embed="rId5"/>
          <a:srcRect l="0" r="0" t="0" b="0"/>
          <a:stretch/>
        </p:blipFill>
        <p:spPr>
          <a:xfrm>
            <a:off x="1056640" y="4425950"/>
            <a:ext cx="355600" cy="355600"/>
          </a:xfrm>
          <a:prstGeom prst="rect">
            <a:avLst/>
          </a:prstGeom>
        </p:spPr>
      </p:pic>
      <p:sp>
        <p:nvSpPr>
          <p:cNvPr id="26" name="Text 19"/>
          <p:cNvSpPr/>
          <p:nvPr/>
        </p:nvSpPr>
        <p:spPr>
          <a:xfrm>
            <a:off x="1590040" y="4466592"/>
            <a:ext cx="8463153" cy="299720"/>
          </a:xfrm>
          <a:prstGeom prst="rect">
            <a:avLst/>
          </a:prstGeom>
          <a:noFill/>
          <a:ln/>
        </p:spPr>
        <p:txBody>
          <a:bodyPr wrap="square" lIns="0" tIns="0" rIns="0" bIns="0" rtlCol="0" anchor="t">
            <a:normAutofit/>
          </a:bodyPr>
          <a:lstStyle/>
          <a:p>
            <a:pPr algn="l" indent="0" marL="0">
              <a:lnSpc>
                <a:spcPts val="2160"/>
              </a:lnSpc>
              <a:buNone/>
            </a:pPr>
            <a:r>
              <a:rPr lang="en-US" sz="1600" b="1" dirty="0">
                <a:solidFill>
                  <a:srgbClr val="F3F0E8"/>
                </a:solidFill>
                <a:latin typeface="IBM Plex Sans" pitchFamily="34" charset="0"/>
                <a:ea typeface="IBM Plex Sans" pitchFamily="34" charset="-122"/>
                <a:cs typeface="IBM Plex Sans" pitchFamily="34" charset="-120"/>
              </a:rPr>
              <a:t>E o trace?</a:t>
            </a:r>
            <a:r>
              <a:rPr lang="en-US" sz="1600" dirty="0">
                <a:solidFill>
                  <a:srgbClr val="F3F0E8"/>
                </a:solidFill>
                <a:latin typeface="IBM Plex Sans" pitchFamily="34" charset="0"/>
                <a:ea typeface="IBM Plex Sans" pitchFamily="34" charset="-122"/>
                <a:cs typeface="IBM Plex Sans" pitchFamily="34" charset="-120"/>
              </a:rPr>
              <a:t> Os quatro sinais dizem </a:t>
            </a:r>
            <a:r>
              <a:rPr lang="en-US" sz="1600" i="1" dirty="0">
                <a:solidFill>
                  <a:srgbClr val="F3F0E8"/>
                </a:solidFill>
                <a:latin typeface="IBM Plex Sans" pitchFamily="34" charset="0"/>
                <a:ea typeface="IBM Plex Sans" pitchFamily="34" charset="-122"/>
                <a:cs typeface="IBM Plex Sans" pitchFamily="34" charset="-120"/>
              </a:rPr>
              <a:t>que</a:t>
            </a:r>
            <a:r>
              <a:rPr lang="en-US" sz="1600" dirty="0">
                <a:solidFill>
                  <a:srgbClr val="F3F0E8"/>
                </a:solidFill>
                <a:latin typeface="IBM Plex Sans" pitchFamily="34" charset="0"/>
                <a:ea typeface="IBM Plex Sans" pitchFamily="34" charset="-122"/>
                <a:cs typeface="IBM Plex Sans" pitchFamily="34" charset="-120"/>
              </a:rPr>
              <a:t> algo mudou. O trace diz </a:t>
            </a:r>
            <a:r>
              <a:rPr lang="en-US" sz="1600" i="1" dirty="0">
                <a:solidFill>
                  <a:srgbClr val="F3F0E8"/>
                </a:solidFill>
                <a:latin typeface="IBM Plex Sans" pitchFamily="34" charset="0"/>
                <a:ea typeface="IBM Plex Sans" pitchFamily="34" charset="-122"/>
                <a:cs typeface="IBM Plex Sans" pitchFamily="34" charset="-120"/>
              </a:rPr>
              <a:t>onde</a:t>
            </a:r>
            <a:r>
              <a:rPr lang="en-US" sz="1600" dirty="0">
                <a:solidFill>
                  <a:srgbClr val="F3F0E8"/>
                </a:solidFill>
                <a:latin typeface="IBM Plex Sans" pitchFamily="34" charset="0"/>
                <a:ea typeface="IBM Plex Sans" pitchFamily="34" charset="-122"/>
                <a:cs typeface="IBM Plex Sans" pitchFamily="34" charset="-120"/>
              </a:rPr>
              <a:t> e </a:t>
            </a:r>
            <a:r>
              <a:rPr lang="en-US" sz="1600" i="1" dirty="0">
                <a:solidFill>
                  <a:srgbClr val="F3F0E8"/>
                </a:solidFill>
                <a:latin typeface="IBM Plex Sans" pitchFamily="34" charset="0"/>
                <a:ea typeface="IBM Plex Sans" pitchFamily="34" charset="-122"/>
                <a:cs typeface="IBM Plex Sans" pitchFamily="34" charset="-120"/>
              </a:rPr>
              <a:t>por quê</a:t>
            </a:r>
            <a:r>
              <a:rPr lang="en-US" sz="1600" dirty="0">
                <a:solidFill>
                  <a:srgbClr val="F3F0E8"/>
                </a:solidFill>
                <a:latin typeface="IBM Plex Sans" pitchFamily="34" charset="0"/>
                <a:ea typeface="IBM Plex Sans" pitchFamily="34" charset="-122"/>
                <a:cs typeface="IBM Plex Sans" pitchFamily="34" charset="-120"/>
              </a:rPr>
              <a:t>.</a:t>
            </a:r>
            <a:endParaRPr lang="en-US" sz="1600" dirty="0"/>
          </a:p>
        </p:txBody>
      </p:sp>
      <p:sp>
        <p:nvSpPr>
          <p:cNvPr id="27" name="Text 20"/>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Sinais de saúde · Os quatro sinais de ouro (livro Google SRE)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SINAIS DE SAÚDE · LATÊNCIA</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Latência: a média esconde a cauda</a:t>
            </a:r>
            <a:endParaRPr lang="en-US" sz="3600" dirty="0"/>
          </a:p>
        </p:txBody>
      </p:sp>
      <p:sp>
        <p:nvSpPr>
          <p:cNvPr id="4" name="Text 2"/>
          <p:cNvSpPr/>
          <p:nvPr/>
        </p:nvSpPr>
        <p:spPr>
          <a:xfrm>
            <a:off x="812800" y="1833885"/>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Tempo entre receber a request e devolver a resposta. Cada barra é um grupo de requests parecidas.</a:t>
            </a:r>
            <a:endParaRPr lang="en-US" sz="1600" dirty="0"/>
          </a:p>
        </p:txBody>
      </p:sp>
      <p:sp>
        <p:nvSpPr>
          <p:cNvPr id="5" name="Shape 3"/>
          <p:cNvSpPr/>
          <p:nvPr/>
        </p:nvSpPr>
        <p:spPr>
          <a:xfrm>
            <a:off x="815975" y="2314575"/>
            <a:ext cx="10560050" cy="1898650"/>
          </a:xfrm>
          <a:prstGeom prst="roundRect">
            <a:avLst>
              <a:gd name="adj" fmla="val 5184"/>
            </a:avLst>
          </a:prstGeom>
          <a:solidFill>
            <a:srgbClr val="FBFAF6"/>
          </a:solidFill>
          <a:ln w="6350">
            <a:solidFill>
              <a:srgbClr val="DAD5C8"/>
            </a:solidFill>
            <a:prstDash val="solid"/>
          </a:ln>
        </p:spPr>
      </p:sp>
      <p:sp>
        <p:nvSpPr>
          <p:cNvPr id="6" name="Shape 4"/>
          <p:cNvSpPr/>
          <p:nvPr/>
        </p:nvSpPr>
        <p:spPr>
          <a:xfrm>
            <a:off x="995680" y="3855727"/>
            <a:ext cx="388461" cy="355600"/>
          </a:xfrm>
          <a:custGeom>
            <a:avLst/>
            <a:gdLst/>
            <a:ahLst/>
            <a:cxnLst/>
            <a:rect l="l" t="t" r="r" b="b"/>
            <a:pathLst>
              <a:path w="388461" h="355600">
                <a:moveTo>
                  <a:pt x="38100" y="0"/>
                </a:moveTo>
                <a:lnTo>
                  <a:pt x="350361" y="0"/>
                </a:lnTo>
                <a:arcTo hR="38100" wR="38100" stAng="16200000" swAng="5400000"/>
                <a:lnTo>
                  <a:pt x="388461" y="355600"/>
                </a:lnTo>
                <a:lnTo>
                  <a:pt x="0" y="355600"/>
                </a:lnTo>
                <a:lnTo>
                  <a:pt x="0" y="38100"/>
                </a:lnTo>
                <a:arcTo hR="38100" wR="38100" stAng="10800000" swAng="5400000"/>
                <a:close/>
              </a:path>
            </a:pathLst>
          </a:custGeom>
          <a:solidFill>
            <a:srgbClr val="0F766E"/>
          </a:solidFill>
          <a:ln/>
        </p:spPr>
      </p:sp>
      <p:sp>
        <p:nvSpPr>
          <p:cNvPr id="7" name="Shape 5"/>
          <p:cNvSpPr/>
          <p:nvPr/>
        </p:nvSpPr>
        <p:spPr>
          <a:xfrm>
            <a:off x="1422241" y="3506477"/>
            <a:ext cx="388541" cy="704850"/>
          </a:xfrm>
          <a:custGeom>
            <a:avLst/>
            <a:gdLst/>
            <a:ahLst/>
            <a:cxnLst/>
            <a:rect l="l" t="t" r="r" b="b"/>
            <a:pathLst>
              <a:path w="388541" h="704850">
                <a:moveTo>
                  <a:pt x="38100" y="0"/>
                </a:moveTo>
                <a:lnTo>
                  <a:pt x="350441" y="0"/>
                </a:lnTo>
                <a:arcTo hR="38100" wR="38100" stAng="16200000" swAng="5400000"/>
                <a:lnTo>
                  <a:pt x="388541" y="704850"/>
                </a:lnTo>
                <a:lnTo>
                  <a:pt x="0" y="704850"/>
                </a:lnTo>
                <a:lnTo>
                  <a:pt x="0" y="38100"/>
                </a:lnTo>
                <a:arcTo hR="38100" wR="38100" stAng="10800000" swAng="5400000"/>
                <a:close/>
              </a:path>
            </a:pathLst>
          </a:custGeom>
          <a:solidFill>
            <a:srgbClr val="0F766E"/>
          </a:solidFill>
          <a:ln/>
        </p:spPr>
      </p:sp>
      <p:sp>
        <p:nvSpPr>
          <p:cNvPr id="8" name="Shape 6"/>
          <p:cNvSpPr/>
          <p:nvPr/>
        </p:nvSpPr>
        <p:spPr>
          <a:xfrm>
            <a:off x="1848882" y="3030227"/>
            <a:ext cx="388461" cy="1181100"/>
          </a:xfrm>
          <a:custGeom>
            <a:avLst/>
            <a:gdLst/>
            <a:ahLst/>
            <a:cxnLst/>
            <a:rect l="l" t="t" r="r" b="b"/>
            <a:pathLst>
              <a:path w="388461" h="1181100">
                <a:moveTo>
                  <a:pt x="38100" y="0"/>
                </a:moveTo>
                <a:lnTo>
                  <a:pt x="350361" y="0"/>
                </a:lnTo>
                <a:arcTo hR="38100" wR="38100" stAng="16200000" swAng="5400000"/>
                <a:lnTo>
                  <a:pt x="388461" y="1181100"/>
                </a:lnTo>
                <a:lnTo>
                  <a:pt x="0" y="1181100"/>
                </a:lnTo>
                <a:lnTo>
                  <a:pt x="0" y="38100"/>
                </a:lnTo>
                <a:arcTo hR="38100" wR="38100" stAng="10800000" swAng="5400000"/>
                <a:close/>
              </a:path>
            </a:pathLst>
          </a:custGeom>
          <a:solidFill>
            <a:srgbClr val="0F766E"/>
          </a:solidFill>
          <a:ln/>
        </p:spPr>
      </p:sp>
      <p:sp>
        <p:nvSpPr>
          <p:cNvPr id="9" name="Shape 7"/>
          <p:cNvSpPr/>
          <p:nvPr/>
        </p:nvSpPr>
        <p:spPr>
          <a:xfrm>
            <a:off x="2275443" y="2680977"/>
            <a:ext cx="388541" cy="1530350"/>
          </a:xfrm>
          <a:custGeom>
            <a:avLst/>
            <a:gdLst/>
            <a:ahLst/>
            <a:cxnLst/>
            <a:rect l="l" t="t" r="r" b="b"/>
            <a:pathLst>
              <a:path w="388541" h="1530350">
                <a:moveTo>
                  <a:pt x="38100" y="0"/>
                </a:moveTo>
                <a:lnTo>
                  <a:pt x="350441" y="0"/>
                </a:lnTo>
                <a:arcTo hR="38100" wR="38100" stAng="16200000" swAng="5400000"/>
                <a:lnTo>
                  <a:pt x="388541" y="1530350"/>
                </a:lnTo>
                <a:lnTo>
                  <a:pt x="0" y="1530350"/>
                </a:lnTo>
                <a:lnTo>
                  <a:pt x="0" y="38100"/>
                </a:lnTo>
                <a:arcTo hR="38100" wR="38100" stAng="10800000" swAng="5400000"/>
                <a:close/>
              </a:path>
            </a:pathLst>
          </a:custGeom>
          <a:solidFill>
            <a:srgbClr val="0F766E"/>
          </a:solidFill>
          <a:ln/>
        </p:spPr>
      </p:sp>
      <p:sp>
        <p:nvSpPr>
          <p:cNvPr id="10" name="Shape 8"/>
          <p:cNvSpPr/>
          <p:nvPr/>
        </p:nvSpPr>
        <p:spPr>
          <a:xfrm>
            <a:off x="2702084" y="2560327"/>
            <a:ext cx="388461" cy="1651000"/>
          </a:xfrm>
          <a:custGeom>
            <a:avLst/>
            <a:gdLst/>
            <a:ahLst/>
            <a:cxnLst/>
            <a:rect l="l" t="t" r="r" b="b"/>
            <a:pathLst>
              <a:path w="388461" h="1651000">
                <a:moveTo>
                  <a:pt x="38100" y="0"/>
                </a:moveTo>
                <a:lnTo>
                  <a:pt x="350361" y="0"/>
                </a:lnTo>
                <a:arcTo hR="38100" wR="38100" stAng="16200000" swAng="5400000"/>
                <a:lnTo>
                  <a:pt x="388461" y="1651000"/>
                </a:lnTo>
                <a:lnTo>
                  <a:pt x="0" y="1651000"/>
                </a:lnTo>
                <a:lnTo>
                  <a:pt x="0" y="38100"/>
                </a:lnTo>
                <a:arcTo hR="38100" wR="38100" stAng="10800000" swAng="5400000"/>
                <a:close/>
              </a:path>
            </a:pathLst>
          </a:custGeom>
          <a:solidFill>
            <a:srgbClr val="0F766E"/>
          </a:solidFill>
          <a:ln/>
        </p:spPr>
      </p:sp>
      <p:sp>
        <p:nvSpPr>
          <p:cNvPr id="11" name="Shape 9"/>
          <p:cNvSpPr/>
          <p:nvPr/>
        </p:nvSpPr>
        <p:spPr>
          <a:xfrm>
            <a:off x="3128645" y="2795277"/>
            <a:ext cx="388541" cy="1416050"/>
          </a:xfrm>
          <a:custGeom>
            <a:avLst/>
            <a:gdLst/>
            <a:ahLst/>
            <a:cxnLst/>
            <a:rect l="l" t="t" r="r" b="b"/>
            <a:pathLst>
              <a:path w="388541" h="1416050">
                <a:moveTo>
                  <a:pt x="38100" y="0"/>
                </a:moveTo>
                <a:lnTo>
                  <a:pt x="350441" y="0"/>
                </a:lnTo>
                <a:arcTo hR="38100" wR="38100" stAng="16200000" swAng="5400000"/>
                <a:lnTo>
                  <a:pt x="388541" y="1416050"/>
                </a:lnTo>
                <a:lnTo>
                  <a:pt x="0" y="1416050"/>
                </a:lnTo>
                <a:lnTo>
                  <a:pt x="0" y="38100"/>
                </a:lnTo>
                <a:arcTo hR="38100" wR="38100" stAng="10800000" swAng="5400000"/>
                <a:close/>
              </a:path>
            </a:pathLst>
          </a:custGeom>
          <a:solidFill>
            <a:srgbClr val="0F766E"/>
          </a:solidFill>
          <a:ln/>
        </p:spPr>
      </p:sp>
      <p:sp>
        <p:nvSpPr>
          <p:cNvPr id="12" name="Shape 10"/>
          <p:cNvSpPr/>
          <p:nvPr/>
        </p:nvSpPr>
        <p:spPr>
          <a:xfrm>
            <a:off x="3555286" y="3030227"/>
            <a:ext cx="388461" cy="1181100"/>
          </a:xfrm>
          <a:custGeom>
            <a:avLst/>
            <a:gdLst/>
            <a:ahLst/>
            <a:cxnLst/>
            <a:rect l="l" t="t" r="r" b="b"/>
            <a:pathLst>
              <a:path w="388461" h="1181100">
                <a:moveTo>
                  <a:pt x="38100" y="0"/>
                </a:moveTo>
                <a:lnTo>
                  <a:pt x="350361" y="0"/>
                </a:lnTo>
                <a:arcTo hR="38100" wR="38100" stAng="16200000" swAng="5400000"/>
                <a:lnTo>
                  <a:pt x="388461" y="1181100"/>
                </a:lnTo>
                <a:lnTo>
                  <a:pt x="0" y="1181100"/>
                </a:lnTo>
                <a:lnTo>
                  <a:pt x="0" y="38100"/>
                </a:lnTo>
                <a:arcTo hR="38100" wR="38100" stAng="10800000" swAng="5400000"/>
                <a:close/>
              </a:path>
            </a:pathLst>
          </a:custGeom>
          <a:solidFill>
            <a:srgbClr val="7CCFC3"/>
          </a:solidFill>
          <a:ln/>
        </p:spPr>
      </p:sp>
      <p:sp>
        <p:nvSpPr>
          <p:cNvPr id="13" name="Shape 11"/>
          <p:cNvSpPr/>
          <p:nvPr/>
        </p:nvSpPr>
        <p:spPr>
          <a:xfrm>
            <a:off x="3981847" y="3208027"/>
            <a:ext cx="388541" cy="1003300"/>
          </a:xfrm>
          <a:custGeom>
            <a:avLst/>
            <a:gdLst/>
            <a:ahLst/>
            <a:cxnLst/>
            <a:rect l="l" t="t" r="r" b="b"/>
            <a:pathLst>
              <a:path w="388541" h="1003300">
                <a:moveTo>
                  <a:pt x="38100" y="0"/>
                </a:moveTo>
                <a:lnTo>
                  <a:pt x="350441" y="0"/>
                </a:lnTo>
                <a:arcTo hR="38100" wR="38100" stAng="16200000" swAng="5400000"/>
                <a:lnTo>
                  <a:pt x="388541" y="1003300"/>
                </a:lnTo>
                <a:lnTo>
                  <a:pt x="0" y="1003300"/>
                </a:lnTo>
                <a:lnTo>
                  <a:pt x="0" y="38100"/>
                </a:lnTo>
                <a:arcTo hR="38100" wR="38100" stAng="10800000" swAng="5400000"/>
                <a:close/>
              </a:path>
            </a:pathLst>
          </a:custGeom>
          <a:solidFill>
            <a:srgbClr val="7CCFC3"/>
          </a:solidFill>
          <a:ln/>
        </p:spPr>
      </p:sp>
      <p:sp>
        <p:nvSpPr>
          <p:cNvPr id="14" name="Shape 12"/>
          <p:cNvSpPr/>
          <p:nvPr/>
        </p:nvSpPr>
        <p:spPr>
          <a:xfrm>
            <a:off x="4408488" y="3385827"/>
            <a:ext cx="388461" cy="825500"/>
          </a:xfrm>
          <a:custGeom>
            <a:avLst/>
            <a:gdLst/>
            <a:ahLst/>
            <a:cxnLst/>
            <a:rect l="l" t="t" r="r" b="b"/>
            <a:pathLst>
              <a:path w="388461" h="825500">
                <a:moveTo>
                  <a:pt x="38100" y="0"/>
                </a:moveTo>
                <a:lnTo>
                  <a:pt x="350361" y="0"/>
                </a:lnTo>
                <a:arcTo hR="38100" wR="38100" stAng="16200000" swAng="5400000"/>
                <a:lnTo>
                  <a:pt x="388461" y="825500"/>
                </a:lnTo>
                <a:lnTo>
                  <a:pt x="0" y="825500"/>
                </a:lnTo>
                <a:lnTo>
                  <a:pt x="0" y="38100"/>
                </a:lnTo>
                <a:arcTo hR="38100" wR="38100" stAng="10800000" swAng="5400000"/>
                <a:close/>
              </a:path>
            </a:pathLst>
          </a:custGeom>
          <a:solidFill>
            <a:srgbClr val="7CCFC3"/>
          </a:solidFill>
          <a:ln/>
        </p:spPr>
      </p:sp>
      <p:sp>
        <p:nvSpPr>
          <p:cNvPr id="15" name="Shape 13"/>
          <p:cNvSpPr/>
          <p:nvPr/>
        </p:nvSpPr>
        <p:spPr>
          <a:xfrm>
            <a:off x="4835049" y="3563627"/>
            <a:ext cx="388541" cy="647700"/>
          </a:xfrm>
          <a:custGeom>
            <a:avLst/>
            <a:gdLst/>
            <a:ahLst/>
            <a:cxnLst/>
            <a:rect l="l" t="t" r="r" b="b"/>
            <a:pathLst>
              <a:path w="388541" h="647700">
                <a:moveTo>
                  <a:pt x="38100" y="0"/>
                </a:moveTo>
                <a:lnTo>
                  <a:pt x="350441" y="0"/>
                </a:lnTo>
                <a:arcTo hR="38100" wR="38100" stAng="16200000" swAng="5400000"/>
                <a:lnTo>
                  <a:pt x="388541" y="647700"/>
                </a:lnTo>
                <a:lnTo>
                  <a:pt x="0" y="647700"/>
                </a:lnTo>
                <a:lnTo>
                  <a:pt x="0" y="38100"/>
                </a:lnTo>
                <a:arcTo hR="38100" wR="38100" stAng="10800000" swAng="5400000"/>
                <a:close/>
              </a:path>
            </a:pathLst>
          </a:custGeom>
          <a:solidFill>
            <a:srgbClr val="7CCFC3"/>
          </a:solidFill>
          <a:ln/>
        </p:spPr>
      </p:sp>
      <p:sp>
        <p:nvSpPr>
          <p:cNvPr id="16" name="Shape 14"/>
          <p:cNvSpPr/>
          <p:nvPr/>
        </p:nvSpPr>
        <p:spPr>
          <a:xfrm>
            <a:off x="5261689" y="3677927"/>
            <a:ext cx="388461" cy="533400"/>
          </a:xfrm>
          <a:custGeom>
            <a:avLst/>
            <a:gdLst/>
            <a:ahLst/>
            <a:cxnLst/>
            <a:rect l="l" t="t" r="r" b="b"/>
            <a:pathLst>
              <a:path w="388461" h="533400">
                <a:moveTo>
                  <a:pt x="38100" y="0"/>
                </a:moveTo>
                <a:lnTo>
                  <a:pt x="350361" y="0"/>
                </a:lnTo>
                <a:arcTo hR="38100" wR="38100" stAng="16200000" swAng="5400000"/>
                <a:lnTo>
                  <a:pt x="388461" y="533400"/>
                </a:lnTo>
                <a:lnTo>
                  <a:pt x="0" y="533400"/>
                </a:lnTo>
                <a:lnTo>
                  <a:pt x="0" y="38100"/>
                </a:lnTo>
                <a:arcTo hR="38100" wR="38100" stAng="10800000" swAng="5400000"/>
                <a:close/>
              </a:path>
            </a:pathLst>
          </a:custGeom>
          <a:solidFill>
            <a:srgbClr val="7CCFC3"/>
          </a:solidFill>
          <a:ln/>
        </p:spPr>
      </p:sp>
      <p:sp>
        <p:nvSpPr>
          <p:cNvPr id="17" name="Shape 15"/>
          <p:cNvSpPr/>
          <p:nvPr/>
        </p:nvSpPr>
        <p:spPr>
          <a:xfrm>
            <a:off x="5688251" y="3798577"/>
            <a:ext cx="388541" cy="412750"/>
          </a:xfrm>
          <a:custGeom>
            <a:avLst/>
            <a:gdLst/>
            <a:ahLst/>
            <a:cxnLst/>
            <a:rect l="l" t="t" r="r" b="b"/>
            <a:pathLst>
              <a:path w="388541" h="412750">
                <a:moveTo>
                  <a:pt x="38100" y="0"/>
                </a:moveTo>
                <a:lnTo>
                  <a:pt x="350441" y="0"/>
                </a:lnTo>
                <a:arcTo hR="38100" wR="38100" stAng="16200000" swAng="5400000"/>
                <a:lnTo>
                  <a:pt x="388541" y="412750"/>
                </a:lnTo>
                <a:lnTo>
                  <a:pt x="0" y="412750"/>
                </a:lnTo>
                <a:lnTo>
                  <a:pt x="0" y="38100"/>
                </a:lnTo>
                <a:arcTo hR="38100" wR="38100" stAng="10800000" swAng="5400000"/>
                <a:close/>
              </a:path>
            </a:pathLst>
          </a:custGeom>
          <a:solidFill>
            <a:srgbClr val="7CCFC3"/>
          </a:solidFill>
          <a:ln/>
        </p:spPr>
      </p:sp>
      <p:sp>
        <p:nvSpPr>
          <p:cNvPr id="18" name="Shape 16"/>
          <p:cNvSpPr/>
          <p:nvPr/>
        </p:nvSpPr>
        <p:spPr>
          <a:xfrm>
            <a:off x="6114891" y="3887477"/>
            <a:ext cx="388461" cy="323850"/>
          </a:xfrm>
          <a:custGeom>
            <a:avLst/>
            <a:gdLst/>
            <a:ahLst/>
            <a:cxnLst/>
            <a:rect l="l" t="t" r="r" b="b"/>
            <a:pathLst>
              <a:path w="388461" h="323850">
                <a:moveTo>
                  <a:pt x="38100" y="0"/>
                </a:moveTo>
                <a:lnTo>
                  <a:pt x="350361" y="0"/>
                </a:lnTo>
                <a:arcTo hR="38100" wR="38100" stAng="16200000" swAng="5400000"/>
                <a:lnTo>
                  <a:pt x="388461" y="323850"/>
                </a:lnTo>
                <a:lnTo>
                  <a:pt x="0" y="323850"/>
                </a:lnTo>
                <a:lnTo>
                  <a:pt x="0" y="38100"/>
                </a:lnTo>
                <a:arcTo hR="38100" wR="38100" stAng="10800000" swAng="5400000"/>
                <a:close/>
              </a:path>
            </a:pathLst>
          </a:custGeom>
          <a:solidFill>
            <a:srgbClr val="7CCFC3"/>
          </a:solidFill>
          <a:ln/>
        </p:spPr>
      </p:sp>
      <p:sp>
        <p:nvSpPr>
          <p:cNvPr id="19" name="Shape 17"/>
          <p:cNvSpPr/>
          <p:nvPr/>
        </p:nvSpPr>
        <p:spPr>
          <a:xfrm>
            <a:off x="6541453" y="3963677"/>
            <a:ext cx="388541" cy="247650"/>
          </a:xfrm>
          <a:custGeom>
            <a:avLst/>
            <a:gdLst/>
            <a:ahLst/>
            <a:cxnLst/>
            <a:rect l="l" t="t" r="r" b="b"/>
            <a:pathLst>
              <a:path w="388541" h="247650">
                <a:moveTo>
                  <a:pt x="38100" y="0"/>
                </a:moveTo>
                <a:lnTo>
                  <a:pt x="350441" y="0"/>
                </a:lnTo>
                <a:arcTo hR="38100" wR="38100" stAng="16200000" swAng="5400000"/>
                <a:lnTo>
                  <a:pt x="388541" y="247650"/>
                </a:lnTo>
                <a:lnTo>
                  <a:pt x="0" y="247650"/>
                </a:lnTo>
                <a:lnTo>
                  <a:pt x="0" y="38100"/>
                </a:lnTo>
                <a:arcTo hR="38100" wR="38100" stAng="10800000" swAng="5400000"/>
                <a:close/>
              </a:path>
            </a:pathLst>
          </a:custGeom>
          <a:solidFill>
            <a:srgbClr val="7CCFC3"/>
          </a:solidFill>
          <a:ln/>
        </p:spPr>
      </p:sp>
      <p:sp>
        <p:nvSpPr>
          <p:cNvPr id="20" name="Shape 18"/>
          <p:cNvSpPr/>
          <p:nvPr/>
        </p:nvSpPr>
        <p:spPr>
          <a:xfrm>
            <a:off x="6968093" y="4020827"/>
            <a:ext cx="388461" cy="190500"/>
          </a:xfrm>
          <a:custGeom>
            <a:avLst/>
            <a:gdLst/>
            <a:ahLst/>
            <a:cxnLst/>
            <a:rect l="l" t="t" r="r" b="b"/>
            <a:pathLst>
              <a:path w="388461" h="190500">
                <a:moveTo>
                  <a:pt x="38100" y="0"/>
                </a:moveTo>
                <a:lnTo>
                  <a:pt x="350361" y="0"/>
                </a:lnTo>
                <a:arcTo hR="38100" wR="38100" stAng="16200000" swAng="5400000"/>
                <a:lnTo>
                  <a:pt x="388461" y="190500"/>
                </a:lnTo>
                <a:lnTo>
                  <a:pt x="0" y="190500"/>
                </a:lnTo>
                <a:lnTo>
                  <a:pt x="0" y="38100"/>
                </a:lnTo>
                <a:arcTo hR="38100" wR="38100" stAng="10800000" swAng="5400000"/>
                <a:close/>
              </a:path>
            </a:pathLst>
          </a:custGeom>
          <a:solidFill>
            <a:srgbClr val="7CCFC3"/>
          </a:solidFill>
          <a:ln/>
        </p:spPr>
      </p:sp>
      <p:sp>
        <p:nvSpPr>
          <p:cNvPr id="21" name="Shape 19"/>
          <p:cNvSpPr/>
          <p:nvPr/>
        </p:nvSpPr>
        <p:spPr>
          <a:xfrm>
            <a:off x="7394655" y="4071627"/>
            <a:ext cx="388541" cy="139700"/>
          </a:xfrm>
          <a:custGeom>
            <a:avLst/>
            <a:gdLst/>
            <a:ahLst/>
            <a:cxnLst/>
            <a:rect l="l" t="t" r="r" b="b"/>
            <a:pathLst>
              <a:path w="388541" h="139700">
                <a:moveTo>
                  <a:pt x="38100" y="0"/>
                </a:moveTo>
                <a:lnTo>
                  <a:pt x="350441" y="0"/>
                </a:lnTo>
                <a:arcTo hR="38100" wR="38100" stAng="16200000" swAng="5400000"/>
                <a:lnTo>
                  <a:pt x="388541" y="139700"/>
                </a:lnTo>
                <a:lnTo>
                  <a:pt x="0" y="139700"/>
                </a:lnTo>
                <a:lnTo>
                  <a:pt x="0" y="38100"/>
                </a:lnTo>
                <a:arcTo hR="38100" wR="38100" stAng="10800000" swAng="5400000"/>
                <a:close/>
              </a:path>
            </a:pathLst>
          </a:custGeom>
          <a:solidFill>
            <a:srgbClr val="C2410C"/>
          </a:solidFill>
          <a:ln/>
        </p:spPr>
      </p:sp>
      <p:sp>
        <p:nvSpPr>
          <p:cNvPr id="22" name="Shape 20"/>
          <p:cNvSpPr/>
          <p:nvPr/>
        </p:nvSpPr>
        <p:spPr>
          <a:xfrm>
            <a:off x="7821295" y="4103377"/>
            <a:ext cx="388541" cy="107950"/>
          </a:xfrm>
          <a:custGeom>
            <a:avLst/>
            <a:gdLst/>
            <a:ahLst/>
            <a:cxnLst/>
            <a:rect l="l" t="t" r="r" b="b"/>
            <a:pathLst>
              <a:path w="388541" h="107950">
                <a:moveTo>
                  <a:pt x="38100" y="0"/>
                </a:moveTo>
                <a:lnTo>
                  <a:pt x="350441" y="0"/>
                </a:lnTo>
                <a:arcTo hR="38100" wR="38100" stAng="16200000" swAng="5400000"/>
                <a:lnTo>
                  <a:pt x="388541" y="107950"/>
                </a:lnTo>
                <a:lnTo>
                  <a:pt x="0" y="107950"/>
                </a:lnTo>
                <a:lnTo>
                  <a:pt x="0" y="38100"/>
                </a:lnTo>
                <a:arcTo hR="38100" wR="38100" stAng="10800000" swAng="5400000"/>
                <a:close/>
              </a:path>
            </a:pathLst>
          </a:custGeom>
          <a:solidFill>
            <a:srgbClr val="C2410C"/>
          </a:solidFill>
          <a:ln/>
        </p:spPr>
      </p:sp>
      <p:sp>
        <p:nvSpPr>
          <p:cNvPr id="23" name="Shape 21"/>
          <p:cNvSpPr/>
          <p:nvPr/>
        </p:nvSpPr>
        <p:spPr>
          <a:xfrm>
            <a:off x="8247936" y="4128777"/>
            <a:ext cx="388541" cy="82550"/>
          </a:xfrm>
          <a:custGeom>
            <a:avLst/>
            <a:gdLst/>
            <a:ahLst/>
            <a:cxnLst/>
            <a:rect l="l" t="t" r="r" b="b"/>
            <a:pathLst>
              <a:path w="388541" h="82550">
                <a:moveTo>
                  <a:pt x="38100" y="0"/>
                </a:moveTo>
                <a:lnTo>
                  <a:pt x="350441" y="0"/>
                </a:lnTo>
                <a:arcTo hR="38100" wR="38100" stAng="16200000" swAng="5400000"/>
                <a:lnTo>
                  <a:pt x="388541" y="82550"/>
                </a:lnTo>
                <a:lnTo>
                  <a:pt x="0" y="82550"/>
                </a:lnTo>
                <a:lnTo>
                  <a:pt x="0" y="38100"/>
                </a:lnTo>
                <a:arcTo hR="38100" wR="38100" stAng="10800000" swAng="5400000"/>
                <a:close/>
              </a:path>
            </a:pathLst>
          </a:custGeom>
          <a:solidFill>
            <a:srgbClr val="C2410C"/>
          </a:solidFill>
          <a:ln/>
        </p:spPr>
      </p:sp>
      <p:sp>
        <p:nvSpPr>
          <p:cNvPr id="24" name="Shape 22"/>
          <p:cNvSpPr/>
          <p:nvPr/>
        </p:nvSpPr>
        <p:spPr>
          <a:xfrm>
            <a:off x="8674577" y="4154177"/>
            <a:ext cx="388541" cy="57150"/>
          </a:xfrm>
          <a:custGeom>
            <a:avLst/>
            <a:gdLst/>
            <a:ahLst/>
            <a:cxnLst/>
            <a:rect l="l" t="t" r="r" b="b"/>
            <a:pathLst>
              <a:path w="388541" h="57150">
                <a:moveTo>
                  <a:pt x="38100" y="0"/>
                </a:moveTo>
                <a:lnTo>
                  <a:pt x="350441" y="0"/>
                </a:lnTo>
                <a:arcTo hR="38100" wR="38100" stAng="16200000" swAng="5400000"/>
                <a:lnTo>
                  <a:pt x="388541" y="57150"/>
                </a:lnTo>
                <a:lnTo>
                  <a:pt x="0" y="57150"/>
                </a:lnTo>
                <a:lnTo>
                  <a:pt x="0" y="38100"/>
                </a:lnTo>
                <a:arcTo hR="38100" wR="38100" stAng="10800000" swAng="5400000"/>
                <a:close/>
              </a:path>
            </a:pathLst>
          </a:custGeom>
          <a:solidFill>
            <a:srgbClr val="C2410C"/>
          </a:solidFill>
          <a:ln/>
        </p:spPr>
      </p:sp>
      <p:sp>
        <p:nvSpPr>
          <p:cNvPr id="25" name="Shape 23"/>
          <p:cNvSpPr/>
          <p:nvPr/>
        </p:nvSpPr>
        <p:spPr>
          <a:xfrm>
            <a:off x="9101217" y="4166877"/>
            <a:ext cx="388541" cy="44450"/>
          </a:xfrm>
          <a:custGeom>
            <a:avLst/>
            <a:gdLst/>
            <a:ahLst/>
            <a:cxnLst/>
            <a:rect l="l" t="t" r="r" b="b"/>
            <a:pathLst>
              <a:path w="388541" h="44450">
                <a:moveTo>
                  <a:pt x="38100" y="0"/>
                </a:moveTo>
                <a:lnTo>
                  <a:pt x="350441" y="0"/>
                </a:lnTo>
                <a:arcTo hR="38100" wR="38100" stAng="16200000" swAng="5400000"/>
                <a:lnTo>
                  <a:pt x="388541" y="44450"/>
                </a:lnTo>
                <a:lnTo>
                  <a:pt x="0" y="44450"/>
                </a:lnTo>
                <a:lnTo>
                  <a:pt x="0" y="38100"/>
                </a:lnTo>
                <a:arcTo hR="38100" wR="38100" stAng="10800000" swAng="5400000"/>
                <a:close/>
              </a:path>
            </a:pathLst>
          </a:custGeom>
          <a:solidFill>
            <a:srgbClr val="C2410C"/>
          </a:solidFill>
          <a:ln/>
        </p:spPr>
      </p:sp>
      <p:sp>
        <p:nvSpPr>
          <p:cNvPr id="26" name="Shape 24"/>
          <p:cNvSpPr/>
          <p:nvPr/>
        </p:nvSpPr>
        <p:spPr>
          <a:xfrm>
            <a:off x="9527858" y="4173227"/>
            <a:ext cx="388541" cy="38100"/>
          </a:xfrm>
          <a:custGeom>
            <a:avLst/>
            <a:gdLst/>
            <a:ahLst/>
            <a:cxnLst/>
            <a:rect l="l" t="t" r="r" b="b"/>
            <a:pathLst>
              <a:path w="388541" h="38100">
                <a:moveTo>
                  <a:pt x="38100" y="0"/>
                </a:moveTo>
                <a:lnTo>
                  <a:pt x="350441" y="0"/>
                </a:lnTo>
                <a:arcTo hR="38100" wR="38100" stAng="16200000" swAng="5400000"/>
                <a:lnTo>
                  <a:pt x="388541" y="38100"/>
                </a:lnTo>
                <a:lnTo>
                  <a:pt x="0" y="38100"/>
                </a:lnTo>
                <a:lnTo>
                  <a:pt x="0" y="38100"/>
                </a:lnTo>
                <a:arcTo hR="38100" wR="38100" stAng="10800000" swAng="5400000"/>
                <a:close/>
              </a:path>
            </a:pathLst>
          </a:custGeom>
          <a:solidFill>
            <a:srgbClr val="C2410C"/>
          </a:solidFill>
          <a:ln/>
        </p:spPr>
      </p:sp>
      <p:sp>
        <p:nvSpPr>
          <p:cNvPr id="27" name="Shape 25"/>
          <p:cNvSpPr/>
          <p:nvPr/>
        </p:nvSpPr>
        <p:spPr>
          <a:xfrm>
            <a:off x="9954499" y="4179577"/>
            <a:ext cx="388541" cy="31750"/>
          </a:xfrm>
          <a:custGeom>
            <a:avLst/>
            <a:gdLst/>
            <a:ahLst/>
            <a:cxnLst/>
            <a:rect l="l" t="t" r="r" b="b"/>
            <a:pathLst>
              <a:path w="388541" h="31750">
                <a:moveTo>
                  <a:pt x="31750" y="0"/>
                </a:moveTo>
                <a:lnTo>
                  <a:pt x="356791" y="0"/>
                </a:lnTo>
                <a:arcTo hR="31750" wR="31750" stAng="16200000" swAng="5400000"/>
                <a:lnTo>
                  <a:pt x="388541" y="31750"/>
                </a:lnTo>
                <a:lnTo>
                  <a:pt x="0" y="31750"/>
                </a:lnTo>
                <a:lnTo>
                  <a:pt x="0" y="31750"/>
                </a:lnTo>
                <a:arcTo hR="31750" wR="31750" stAng="10800000" swAng="5400000"/>
                <a:close/>
              </a:path>
            </a:pathLst>
          </a:custGeom>
          <a:solidFill>
            <a:srgbClr val="C2410C"/>
          </a:solidFill>
          <a:ln/>
        </p:spPr>
      </p:sp>
      <p:sp>
        <p:nvSpPr>
          <p:cNvPr id="28" name="Shape 26"/>
          <p:cNvSpPr/>
          <p:nvPr/>
        </p:nvSpPr>
        <p:spPr>
          <a:xfrm>
            <a:off x="10381139" y="4185927"/>
            <a:ext cx="388541" cy="25400"/>
          </a:xfrm>
          <a:custGeom>
            <a:avLst/>
            <a:gdLst/>
            <a:ahLst/>
            <a:cxnLst/>
            <a:rect l="l" t="t" r="r" b="b"/>
            <a:pathLst>
              <a:path w="388541" h="25400">
                <a:moveTo>
                  <a:pt x="25400" y="0"/>
                </a:moveTo>
                <a:lnTo>
                  <a:pt x="363141" y="0"/>
                </a:lnTo>
                <a:arcTo hR="25400" wR="25400" stAng="16200000" swAng="5400000"/>
                <a:lnTo>
                  <a:pt x="388541" y="25400"/>
                </a:lnTo>
                <a:lnTo>
                  <a:pt x="0" y="25400"/>
                </a:lnTo>
                <a:lnTo>
                  <a:pt x="0" y="25400"/>
                </a:lnTo>
                <a:arcTo hR="25400" wR="25400" stAng="10800000" swAng="5400000"/>
                <a:close/>
              </a:path>
            </a:pathLst>
          </a:custGeom>
          <a:solidFill>
            <a:srgbClr val="C2410C"/>
          </a:solidFill>
          <a:ln/>
        </p:spPr>
      </p:sp>
      <p:sp>
        <p:nvSpPr>
          <p:cNvPr id="29" name="Shape 27"/>
          <p:cNvSpPr/>
          <p:nvPr/>
        </p:nvSpPr>
        <p:spPr>
          <a:xfrm>
            <a:off x="10807780" y="4185927"/>
            <a:ext cx="388541" cy="25400"/>
          </a:xfrm>
          <a:custGeom>
            <a:avLst/>
            <a:gdLst/>
            <a:ahLst/>
            <a:cxnLst/>
            <a:rect l="l" t="t" r="r" b="b"/>
            <a:pathLst>
              <a:path w="388541" h="25400">
                <a:moveTo>
                  <a:pt x="25400" y="0"/>
                </a:moveTo>
                <a:lnTo>
                  <a:pt x="363141" y="0"/>
                </a:lnTo>
                <a:arcTo hR="25400" wR="25400" stAng="16200000" swAng="5400000"/>
                <a:lnTo>
                  <a:pt x="388541" y="25400"/>
                </a:lnTo>
                <a:lnTo>
                  <a:pt x="0" y="25400"/>
                </a:lnTo>
                <a:lnTo>
                  <a:pt x="0" y="25400"/>
                </a:lnTo>
                <a:arcTo hR="25400" wR="25400" stAng="10800000" swAng="5400000"/>
                <a:close/>
              </a:path>
            </a:pathLst>
          </a:custGeom>
          <a:solidFill>
            <a:srgbClr val="C2410C"/>
          </a:solidFill>
          <a:ln/>
        </p:spPr>
      </p:sp>
      <p:sp>
        <p:nvSpPr>
          <p:cNvPr id="30" name="Text 28"/>
          <p:cNvSpPr/>
          <p:nvPr/>
        </p:nvSpPr>
        <p:spPr>
          <a:xfrm>
            <a:off x="812800" y="4419600"/>
            <a:ext cx="153628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 mais rápidas</a:t>
            </a:r>
            <a:endParaRPr lang="en-US" sz="1200" dirty="0"/>
          </a:p>
        </p:txBody>
      </p:sp>
      <p:sp>
        <p:nvSpPr>
          <p:cNvPr id="31" name="Text 29"/>
          <p:cNvSpPr/>
          <p:nvPr/>
        </p:nvSpPr>
        <p:spPr>
          <a:xfrm>
            <a:off x="9952641" y="4419600"/>
            <a:ext cx="1426559"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mais lentas →</a:t>
            </a:r>
            <a:endParaRPr lang="en-US" sz="1200" dirty="0"/>
          </a:p>
        </p:txBody>
      </p:sp>
      <p:sp>
        <p:nvSpPr>
          <p:cNvPr id="32" name="Shape 30"/>
          <p:cNvSpPr/>
          <p:nvPr/>
        </p:nvSpPr>
        <p:spPr>
          <a:xfrm>
            <a:off x="812800" y="4871727"/>
            <a:ext cx="177800" cy="177800"/>
          </a:xfrm>
          <a:prstGeom prst="roundRect">
            <a:avLst>
              <a:gd name="adj" fmla="val 21429"/>
            </a:avLst>
          </a:prstGeom>
          <a:solidFill>
            <a:srgbClr val="0F766E"/>
          </a:solidFill>
          <a:ln/>
        </p:spPr>
      </p:sp>
      <p:sp>
        <p:nvSpPr>
          <p:cNvPr id="33" name="Text 31"/>
          <p:cNvSpPr/>
          <p:nvPr/>
        </p:nvSpPr>
        <p:spPr>
          <a:xfrm>
            <a:off x="1066800" y="4836158"/>
            <a:ext cx="283606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Metade das requests (até o p50)</a:t>
            </a:r>
            <a:endParaRPr lang="en-US" sz="1400" dirty="0"/>
          </a:p>
        </p:txBody>
      </p:sp>
      <p:sp>
        <p:nvSpPr>
          <p:cNvPr id="34" name="Shape 32"/>
          <p:cNvSpPr/>
          <p:nvPr/>
        </p:nvSpPr>
        <p:spPr>
          <a:xfrm>
            <a:off x="3902869" y="4871727"/>
            <a:ext cx="177800" cy="177800"/>
          </a:xfrm>
          <a:prstGeom prst="roundRect">
            <a:avLst>
              <a:gd name="adj" fmla="val 21429"/>
            </a:avLst>
          </a:prstGeom>
          <a:solidFill>
            <a:srgbClr val="7CCFC3"/>
          </a:solidFill>
          <a:ln/>
        </p:spPr>
      </p:sp>
      <p:sp>
        <p:nvSpPr>
          <p:cNvPr id="35" name="Text 33"/>
          <p:cNvSpPr/>
          <p:nvPr/>
        </p:nvSpPr>
        <p:spPr>
          <a:xfrm>
            <a:off x="4156869" y="4836158"/>
            <a:ext cx="21632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Quase todas (até o p95)</a:t>
            </a:r>
            <a:endParaRPr lang="en-US" sz="1400" dirty="0"/>
          </a:p>
        </p:txBody>
      </p:sp>
      <p:sp>
        <p:nvSpPr>
          <p:cNvPr id="36" name="Shape 34"/>
          <p:cNvSpPr/>
          <p:nvPr/>
        </p:nvSpPr>
        <p:spPr>
          <a:xfrm>
            <a:off x="6320155" y="4871727"/>
            <a:ext cx="177800" cy="177800"/>
          </a:xfrm>
          <a:prstGeom prst="roundRect">
            <a:avLst>
              <a:gd name="adj" fmla="val 21429"/>
            </a:avLst>
          </a:prstGeom>
          <a:solidFill>
            <a:srgbClr val="C2410C"/>
          </a:solidFill>
          <a:ln/>
        </p:spPr>
      </p:sp>
      <p:sp>
        <p:nvSpPr>
          <p:cNvPr id="37" name="Text 35"/>
          <p:cNvSpPr/>
          <p:nvPr/>
        </p:nvSpPr>
        <p:spPr>
          <a:xfrm>
            <a:off x="6574155" y="4836158"/>
            <a:ext cx="17830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Os 5% mais lentos</a:t>
            </a:r>
            <a:endParaRPr lang="en-US" sz="1400" dirty="0"/>
          </a:p>
        </p:txBody>
      </p:sp>
      <p:sp>
        <p:nvSpPr>
          <p:cNvPr id="38" name="Text 36"/>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Sinais de saúde · Latência · Distribuição ilustrativa, não são dados reais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SINAIS DE SAÚDE · PERCENTIL</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O percentil 95 em um exemplo</a:t>
            </a:r>
            <a:endParaRPr lang="en-US" sz="3600" dirty="0"/>
          </a:p>
        </p:txBody>
      </p:sp>
      <p:sp>
        <p:nvSpPr>
          <p:cNvPr id="4" name="Text 2"/>
          <p:cNvSpPr/>
          <p:nvPr/>
        </p:nvSpPr>
        <p:spPr>
          <a:xfrm>
            <a:off x="812800" y="1833885"/>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Exemplo: 20 requests, em milissegundos, da mais rápida para a mais lenta.</a:t>
            </a:r>
            <a:endParaRPr lang="en-US" sz="1600" dirty="0"/>
          </a:p>
        </p:txBody>
      </p:sp>
      <p:sp>
        <p:nvSpPr>
          <p:cNvPr id="5" name="Text 3"/>
          <p:cNvSpPr/>
          <p:nvPr/>
        </p:nvSpPr>
        <p:spPr>
          <a:xfrm>
            <a:off x="81280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80</a:t>
            </a:r>
            <a:endParaRPr lang="en-US" sz="1400" dirty="0"/>
          </a:p>
        </p:txBody>
      </p:sp>
      <p:sp>
        <p:nvSpPr>
          <p:cNvPr id="6" name="Text 4"/>
          <p:cNvSpPr/>
          <p:nvPr/>
        </p:nvSpPr>
        <p:spPr>
          <a:xfrm>
            <a:off x="187706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85</a:t>
            </a:r>
            <a:endParaRPr lang="en-US" sz="1400" dirty="0"/>
          </a:p>
        </p:txBody>
      </p:sp>
      <p:sp>
        <p:nvSpPr>
          <p:cNvPr id="7" name="Text 5"/>
          <p:cNvSpPr/>
          <p:nvPr/>
        </p:nvSpPr>
        <p:spPr>
          <a:xfrm>
            <a:off x="294132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90</a:t>
            </a:r>
            <a:endParaRPr lang="en-US" sz="1400" dirty="0"/>
          </a:p>
        </p:txBody>
      </p:sp>
      <p:sp>
        <p:nvSpPr>
          <p:cNvPr id="8" name="Text 6"/>
          <p:cNvSpPr/>
          <p:nvPr/>
        </p:nvSpPr>
        <p:spPr>
          <a:xfrm>
            <a:off x="400558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90</a:t>
            </a:r>
            <a:endParaRPr lang="en-US" sz="1400" dirty="0"/>
          </a:p>
        </p:txBody>
      </p:sp>
      <p:sp>
        <p:nvSpPr>
          <p:cNvPr id="9" name="Text 7"/>
          <p:cNvSpPr/>
          <p:nvPr/>
        </p:nvSpPr>
        <p:spPr>
          <a:xfrm>
            <a:off x="506984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95</a:t>
            </a:r>
            <a:endParaRPr lang="en-US" sz="1400" dirty="0"/>
          </a:p>
        </p:txBody>
      </p:sp>
      <p:sp>
        <p:nvSpPr>
          <p:cNvPr id="10" name="Text 8"/>
          <p:cNvSpPr/>
          <p:nvPr/>
        </p:nvSpPr>
        <p:spPr>
          <a:xfrm>
            <a:off x="613410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100</a:t>
            </a:r>
            <a:endParaRPr lang="en-US" sz="1400" dirty="0"/>
          </a:p>
        </p:txBody>
      </p:sp>
      <p:sp>
        <p:nvSpPr>
          <p:cNvPr id="11" name="Text 9"/>
          <p:cNvSpPr/>
          <p:nvPr/>
        </p:nvSpPr>
        <p:spPr>
          <a:xfrm>
            <a:off x="719836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100</a:t>
            </a:r>
            <a:endParaRPr lang="en-US" sz="1400" dirty="0"/>
          </a:p>
        </p:txBody>
      </p:sp>
      <p:sp>
        <p:nvSpPr>
          <p:cNvPr id="12" name="Text 10"/>
          <p:cNvSpPr/>
          <p:nvPr/>
        </p:nvSpPr>
        <p:spPr>
          <a:xfrm>
            <a:off x="826262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105</a:t>
            </a:r>
            <a:endParaRPr lang="en-US" sz="1400" dirty="0"/>
          </a:p>
        </p:txBody>
      </p:sp>
      <p:sp>
        <p:nvSpPr>
          <p:cNvPr id="13" name="Text 11"/>
          <p:cNvSpPr/>
          <p:nvPr/>
        </p:nvSpPr>
        <p:spPr>
          <a:xfrm>
            <a:off x="932688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110</a:t>
            </a:r>
            <a:endParaRPr lang="en-US" sz="1400" dirty="0"/>
          </a:p>
        </p:txBody>
      </p:sp>
      <p:sp>
        <p:nvSpPr>
          <p:cNvPr id="14" name="Text 12"/>
          <p:cNvSpPr/>
          <p:nvPr/>
        </p:nvSpPr>
        <p:spPr>
          <a:xfrm>
            <a:off x="10391140" y="2311400"/>
            <a:ext cx="988060"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110</a:t>
            </a:r>
            <a:endParaRPr lang="en-US" sz="1400" dirty="0"/>
          </a:p>
        </p:txBody>
      </p:sp>
      <p:sp>
        <p:nvSpPr>
          <p:cNvPr id="15" name="Text 13"/>
          <p:cNvSpPr/>
          <p:nvPr/>
        </p:nvSpPr>
        <p:spPr>
          <a:xfrm>
            <a:off x="812800" y="2839727"/>
            <a:ext cx="98496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115</a:t>
            </a:r>
            <a:endParaRPr lang="en-US" sz="1400" dirty="0"/>
          </a:p>
        </p:txBody>
      </p:sp>
      <p:sp>
        <p:nvSpPr>
          <p:cNvPr id="16" name="Text 14"/>
          <p:cNvSpPr/>
          <p:nvPr/>
        </p:nvSpPr>
        <p:spPr>
          <a:xfrm>
            <a:off x="1873964" y="2839727"/>
            <a:ext cx="98504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120</a:t>
            </a:r>
            <a:endParaRPr lang="en-US" sz="1400" dirty="0"/>
          </a:p>
        </p:txBody>
      </p:sp>
      <p:sp>
        <p:nvSpPr>
          <p:cNvPr id="17" name="Text 15"/>
          <p:cNvSpPr/>
          <p:nvPr/>
        </p:nvSpPr>
        <p:spPr>
          <a:xfrm>
            <a:off x="2935208" y="2839727"/>
            <a:ext cx="98496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120</a:t>
            </a:r>
            <a:endParaRPr lang="en-US" sz="1400" dirty="0"/>
          </a:p>
        </p:txBody>
      </p:sp>
      <p:sp>
        <p:nvSpPr>
          <p:cNvPr id="18" name="Text 16"/>
          <p:cNvSpPr/>
          <p:nvPr/>
        </p:nvSpPr>
        <p:spPr>
          <a:xfrm>
            <a:off x="3996373" y="2839727"/>
            <a:ext cx="98504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130</a:t>
            </a:r>
            <a:endParaRPr lang="en-US" sz="1400" dirty="0"/>
          </a:p>
        </p:txBody>
      </p:sp>
      <p:sp>
        <p:nvSpPr>
          <p:cNvPr id="19" name="Text 17"/>
          <p:cNvSpPr/>
          <p:nvPr/>
        </p:nvSpPr>
        <p:spPr>
          <a:xfrm>
            <a:off x="5057616" y="2839727"/>
            <a:ext cx="98496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140</a:t>
            </a:r>
            <a:endParaRPr lang="en-US" sz="1400" dirty="0"/>
          </a:p>
        </p:txBody>
      </p:sp>
      <p:sp>
        <p:nvSpPr>
          <p:cNvPr id="20" name="Text 18"/>
          <p:cNvSpPr/>
          <p:nvPr/>
        </p:nvSpPr>
        <p:spPr>
          <a:xfrm>
            <a:off x="6118781" y="2839727"/>
            <a:ext cx="98504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150</a:t>
            </a:r>
            <a:endParaRPr lang="en-US" sz="1400" dirty="0"/>
          </a:p>
        </p:txBody>
      </p:sp>
      <p:sp>
        <p:nvSpPr>
          <p:cNvPr id="21" name="Text 19"/>
          <p:cNvSpPr/>
          <p:nvPr/>
        </p:nvSpPr>
        <p:spPr>
          <a:xfrm>
            <a:off x="7180025" y="2839727"/>
            <a:ext cx="98496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160</a:t>
            </a:r>
            <a:endParaRPr lang="en-US" sz="1400" dirty="0"/>
          </a:p>
        </p:txBody>
      </p:sp>
      <p:sp>
        <p:nvSpPr>
          <p:cNvPr id="22" name="Text 20"/>
          <p:cNvSpPr/>
          <p:nvPr/>
        </p:nvSpPr>
        <p:spPr>
          <a:xfrm>
            <a:off x="8241189" y="2839727"/>
            <a:ext cx="985044" cy="452120"/>
          </a:xfrm>
          <a:prstGeom prst="roundRect">
            <a:avLst>
              <a:gd name="adj" fmla="val 14045"/>
            </a:avLst>
          </a:prstGeom>
          <a:solidFill>
            <a:srgbClr val="1B212C"/>
          </a:solidFill>
          <a:ln/>
        </p:spPr>
        <p:txBody>
          <a:bodyPr wrap="square" lIns="0" tIns="83001" rIns="0" bIns="57602" rtlCol="0" anchor="t">
            <a:normAutofit/>
          </a:bodyPr>
          <a:lstStyle/>
          <a:p>
            <a:pPr algn="ctr" indent="0" marL="0">
              <a:lnSpc>
                <a:spcPts val="1960"/>
              </a:lnSpc>
              <a:buNone/>
            </a:pPr>
            <a:r>
              <a:rPr lang="en-US" sz="1400" dirty="0">
                <a:solidFill>
                  <a:srgbClr val="F3F0E8"/>
                </a:solidFill>
                <a:latin typeface="JetBrains Mono" pitchFamily="49" charset="0"/>
                <a:ea typeface="JetBrains Mono" pitchFamily="49" charset="-122"/>
                <a:cs typeface="JetBrains Mono" pitchFamily="49" charset="-120"/>
              </a:rPr>
              <a:t>180</a:t>
            </a:r>
            <a:endParaRPr lang="en-US" sz="1400" dirty="0"/>
          </a:p>
        </p:txBody>
      </p:sp>
      <p:sp>
        <p:nvSpPr>
          <p:cNvPr id="23" name="Text 21"/>
          <p:cNvSpPr/>
          <p:nvPr/>
        </p:nvSpPr>
        <p:spPr>
          <a:xfrm>
            <a:off x="9302433" y="2839727"/>
            <a:ext cx="985044" cy="452120"/>
          </a:xfrm>
          <a:prstGeom prst="roundRect">
            <a:avLst>
              <a:gd name="adj" fmla="val 14045"/>
            </a:avLst>
          </a:prstGeom>
          <a:solidFill>
            <a:srgbClr val="FF7A3D"/>
          </a:solidFill>
          <a:ln/>
        </p:spPr>
        <p:txBody>
          <a:bodyPr wrap="square" lIns="0" tIns="83001" rIns="0" bIns="57602" rtlCol="0" anchor="t">
            <a:normAutofit/>
          </a:bodyPr>
          <a:lstStyle/>
          <a:p>
            <a:pPr algn="ctr" indent="0" marL="0">
              <a:lnSpc>
                <a:spcPts val="1960"/>
              </a:lnSpc>
              <a:buNone/>
            </a:pPr>
            <a:r>
              <a:rPr lang="en-US" sz="1400" b="1" dirty="0">
                <a:solidFill>
                  <a:srgbClr val="11141B"/>
                </a:solidFill>
                <a:latin typeface="JetBrains Mono" pitchFamily="49" charset="0"/>
                <a:ea typeface="JetBrains Mono" pitchFamily="49" charset="-122"/>
                <a:cs typeface="JetBrains Mono" pitchFamily="49" charset="-120"/>
              </a:rPr>
              <a:t>250</a:t>
            </a:r>
            <a:endParaRPr lang="en-US" sz="1400" dirty="0"/>
          </a:p>
        </p:txBody>
      </p:sp>
      <p:sp>
        <p:nvSpPr>
          <p:cNvPr id="24" name="Text 22"/>
          <p:cNvSpPr/>
          <p:nvPr/>
        </p:nvSpPr>
        <p:spPr>
          <a:xfrm>
            <a:off x="10373202" y="2849252"/>
            <a:ext cx="996474" cy="433070"/>
          </a:xfrm>
          <a:prstGeom prst="roundRect">
            <a:avLst>
              <a:gd name="adj" fmla="val 12463"/>
            </a:avLst>
          </a:prstGeom>
          <a:solidFill>
            <a:srgbClr val="1B212C"/>
          </a:solidFill>
          <a:ln w="19050">
            <a:solidFill>
              <a:srgbClr val="FF7A3D"/>
            </a:solidFill>
            <a:prstDash val="solid"/>
          </a:ln>
        </p:spPr>
        <p:txBody>
          <a:bodyPr wrap="square" lIns="0" tIns="72456" rIns="0" bIns="47056" rtlCol="0" anchor="t">
            <a:normAutofit/>
          </a:bodyPr>
          <a:lstStyle/>
          <a:p>
            <a:pPr algn="ctr" indent="0" marL="0">
              <a:lnSpc>
                <a:spcPts val="1960"/>
              </a:lnSpc>
              <a:buNone/>
            </a:pPr>
            <a:r>
              <a:rPr lang="en-US" sz="1400" dirty="0">
                <a:solidFill>
                  <a:srgbClr val="FF7A3D"/>
                </a:solidFill>
                <a:latin typeface="JetBrains Mono" pitchFamily="49" charset="0"/>
                <a:ea typeface="JetBrains Mono" pitchFamily="49" charset="-122"/>
                <a:cs typeface="JetBrains Mono" pitchFamily="49" charset="-120"/>
              </a:rPr>
              <a:t>1800</a:t>
            </a:r>
            <a:endParaRPr lang="en-US" sz="1400" dirty="0"/>
          </a:p>
        </p:txBody>
      </p:sp>
      <p:sp>
        <p:nvSpPr>
          <p:cNvPr id="25" name="Shape 23"/>
          <p:cNvSpPr/>
          <p:nvPr/>
        </p:nvSpPr>
        <p:spPr>
          <a:xfrm>
            <a:off x="812800" y="3530600"/>
            <a:ext cx="177800" cy="177800"/>
          </a:xfrm>
          <a:prstGeom prst="roundRect">
            <a:avLst>
              <a:gd name="adj" fmla="val 21429"/>
            </a:avLst>
          </a:prstGeom>
          <a:solidFill>
            <a:srgbClr val="FF7A3D"/>
          </a:solidFill>
          <a:ln/>
        </p:spPr>
      </p:sp>
      <p:sp>
        <p:nvSpPr>
          <p:cNvPr id="26" name="Text 24"/>
          <p:cNvSpPr/>
          <p:nvPr/>
        </p:nvSpPr>
        <p:spPr>
          <a:xfrm>
            <a:off x="1066800" y="3495042"/>
            <a:ext cx="386095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p95 ≈ 250 ms: a 19ª de 20 (95% de 20 = 19)</a:t>
            </a:r>
            <a:endParaRPr lang="en-US" sz="1400" dirty="0"/>
          </a:p>
        </p:txBody>
      </p:sp>
      <p:sp>
        <p:nvSpPr>
          <p:cNvPr id="27" name="Shape 25"/>
          <p:cNvSpPr/>
          <p:nvPr/>
        </p:nvSpPr>
        <p:spPr>
          <a:xfrm>
            <a:off x="4937284" y="3559175"/>
            <a:ext cx="120650" cy="120650"/>
          </a:xfrm>
          <a:prstGeom prst="roundRect">
            <a:avLst>
              <a:gd name="adj" fmla="val 23684"/>
            </a:avLst>
          </a:prstGeom>
          <a:noFill/>
          <a:ln w="19050">
            <a:solidFill>
              <a:srgbClr val="FF7A3D"/>
            </a:solidFill>
            <a:prstDash val="solid"/>
          </a:ln>
        </p:spPr>
      </p:sp>
      <p:sp>
        <p:nvSpPr>
          <p:cNvPr id="28" name="Text 26"/>
          <p:cNvSpPr/>
          <p:nvPr/>
        </p:nvSpPr>
        <p:spPr>
          <a:xfrm>
            <a:off x="5143659" y="3495042"/>
            <a:ext cx="273234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A 20ª ficou de fora: 1800 ms</a:t>
            </a:r>
            <a:endParaRPr lang="en-US" sz="1400" dirty="0"/>
          </a:p>
        </p:txBody>
      </p:sp>
      <p:sp>
        <p:nvSpPr>
          <p:cNvPr id="29" name="Shape 27"/>
          <p:cNvSpPr/>
          <p:nvPr/>
        </p:nvSpPr>
        <p:spPr>
          <a:xfrm>
            <a:off x="812800" y="3947158"/>
            <a:ext cx="3420507" cy="947420"/>
          </a:xfrm>
          <a:prstGeom prst="roundRect">
            <a:avLst>
              <a:gd name="adj" fmla="val 8043"/>
            </a:avLst>
          </a:prstGeom>
          <a:solidFill>
            <a:srgbClr val="1B212C"/>
          </a:solidFill>
          <a:ln/>
        </p:spPr>
      </p:sp>
      <p:sp>
        <p:nvSpPr>
          <p:cNvPr id="30" name="Text 28"/>
          <p:cNvSpPr/>
          <p:nvPr/>
        </p:nvSpPr>
        <p:spPr>
          <a:xfrm>
            <a:off x="1016000" y="4099558"/>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MÉDIA</a:t>
            </a:r>
            <a:endParaRPr lang="en-US" sz="1200" dirty="0"/>
          </a:p>
        </p:txBody>
      </p:sp>
      <p:sp>
        <p:nvSpPr>
          <p:cNvPr id="31" name="Text 29"/>
          <p:cNvSpPr/>
          <p:nvPr/>
        </p:nvSpPr>
        <p:spPr>
          <a:xfrm>
            <a:off x="1016000" y="4351027"/>
            <a:ext cx="310453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3F0E8"/>
                </a:solidFill>
                <a:latin typeface="IBM Plex Sans" pitchFamily="34" charset="0"/>
                <a:ea typeface="IBM Plex Sans" pitchFamily="34" charset="-122"/>
                <a:cs typeface="IBM Plex Sans" pitchFamily="34" charset="-120"/>
              </a:rPr>
              <a:t>≈ 207 ms</a:t>
            </a:r>
            <a:endParaRPr lang="en-US" sz="2800" dirty="0"/>
          </a:p>
        </p:txBody>
      </p:sp>
      <p:sp>
        <p:nvSpPr>
          <p:cNvPr id="32" name="Shape 30"/>
          <p:cNvSpPr/>
          <p:nvPr/>
        </p:nvSpPr>
        <p:spPr>
          <a:xfrm>
            <a:off x="4385707" y="3947158"/>
            <a:ext cx="3420586" cy="947420"/>
          </a:xfrm>
          <a:prstGeom prst="roundRect">
            <a:avLst>
              <a:gd name="adj" fmla="val 8043"/>
            </a:avLst>
          </a:prstGeom>
          <a:solidFill>
            <a:srgbClr val="1B212C"/>
          </a:solidFill>
          <a:ln/>
        </p:spPr>
      </p:sp>
      <p:sp>
        <p:nvSpPr>
          <p:cNvPr id="33" name="Text 31"/>
          <p:cNvSpPr/>
          <p:nvPr/>
        </p:nvSpPr>
        <p:spPr>
          <a:xfrm>
            <a:off x="4588907" y="4099558"/>
            <a:ext cx="31046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MEDIANA (P50)</a:t>
            </a:r>
            <a:endParaRPr lang="en-US" sz="1200" dirty="0"/>
          </a:p>
        </p:txBody>
      </p:sp>
      <p:sp>
        <p:nvSpPr>
          <p:cNvPr id="34" name="Text 32"/>
          <p:cNvSpPr/>
          <p:nvPr/>
        </p:nvSpPr>
        <p:spPr>
          <a:xfrm>
            <a:off x="4588907" y="4351027"/>
            <a:ext cx="3104612"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3CC8B4"/>
                </a:solidFill>
                <a:latin typeface="IBM Plex Sans" pitchFamily="34" charset="0"/>
                <a:ea typeface="IBM Plex Sans" pitchFamily="34" charset="-122"/>
                <a:cs typeface="IBM Plex Sans" pitchFamily="34" charset="-120"/>
              </a:rPr>
              <a:t>≈ 112 ms</a:t>
            </a:r>
            <a:endParaRPr lang="en-US" sz="2800" dirty="0"/>
          </a:p>
        </p:txBody>
      </p:sp>
      <p:sp>
        <p:nvSpPr>
          <p:cNvPr id="35" name="Shape 33"/>
          <p:cNvSpPr/>
          <p:nvPr/>
        </p:nvSpPr>
        <p:spPr>
          <a:xfrm>
            <a:off x="7958693" y="3947158"/>
            <a:ext cx="3420507" cy="947420"/>
          </a:xfrm>
          <a:prstGeom prst="roundRect">
            <a:avLst>
              <a:gd name="adj" fmla="val 8043"/>
            </a:avLst>
          </a:prstGeom>
          <a:solidFill>
            <a:srgbClr val="1B212C"/>
          </a:solidFill>
          <a:ln/>
        </p:spPr>
      </p:sp>
      <p:sp>
        <p:nvSpPr>
          <p:cNvPr id="36" name="Text 34"/>
          <p:cNvSpPr/>
          <p:nvPr/>
        </p:nvSpPr>
        <p:spPr>
          <a:xfrm>
            <a:off x="8161893" y="4099558"/>
            <a:ext cx="310453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JetBrains Mono" pitchFamily="49" charset="0"/>
                <a:ea typeface="JetBrains Mono" pitchFamily="49" charset="-122"/>
                <a:cs typeface="JetBrains Mono" pitchFamily="49" charset="-120"/>
              </a:rPr>
              <a:t>P95</a:t>
            </a:r>
            <a:endParaRPr lang="en-US" sz="1200" dirty="0"/>
          </a:p>
        </p:txBody>
      </p:sp>
      <p:sp>
        <p:nvSpPr>
          <p:cNvPr id="37" name="Text 35"/>
          <p:cNvSpPr/>
          <p:nvPr/>
        </p:nvSpPr>
        <p:spPr>
          <a:xfrm>
            <a:off x="8161893" y="4351027"/>
            <a:ext cx="3104530" cy="416560"/>
          </a:xfrm>
          <a:prstGeom prst="rect">
            <a:avLst/>
          </a:prstGeom>
          <a:noFill/>
          <a:ln/>
        </p:spPr>
        <p:txBody>
          <a:bodyPr wrap="square" lIns="0" tIns="0" rIns="0" bIns="0" rtlCol="0" anchor="t">
            <a:normAutofit/>
          </a:bodyPr>
          <a:lstStyle/>
          <a:p>
            <a:pPr algn="l" indent="0" marL="0">
              <a:lnSpc>
                <a:spcPts val="3080"/>
              </a:lnSpc>
              <a:buNone/>
            </a:pPr>
            <a:r>
              <a:rPr lang="en-US" sz="2800" b="1" dirty="0">
                <a:solidFill>
                  <a:srgbClr val="FF7A3D"/>
                </a:solidFill>
                <a:latin typeface="IBM Plex Sans" pitchFamily="34" charset="0"/>
                <a:ea typeface="IBM Plex Sans" pitchFamily="34" charset="-122"/>
                <a:cs typeface="IBM Plex Sans" pitchFamily="34" charset="-120"/>
              </a:rPr>
              <a:t>≈ 250 ms</a:t>
            </a:r>
            <a:endParaRPr lang="en-US" sz="2800" dirty="0"/>
          </a:p>
        </p:txBody>
      </p:sp>
      <p:sp>
        <p:nvSpPr>
          <p:cNvPr id="38" name="Text 36"/>
          <p:cNvSpPr/>
          <p:nvPr/>
        </p:nvSpPr>
        <p:spPr>
          <a:xfrm>
            <a:off x="812800" y="5097785"/>
            <a:ext cx="10883392"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3F0E8"/>
                </a:solidFill>
                <a:latin typeface="IBM Plex Sans" pitchFamily="34" charset="0"/>
                <a:ea typeface="IBM Plex Sans" pitchFamily="34" charset="-122"/>
                <a:cs typeface="IBM Plex Sans" pitchFamily="34" charset="-120"/>
              </a:rPr>
              <a:t>95 de cada 100 requests foram mais rápidas que o p95.</a:t>
            </a:r>
            <a:endParaRPr lang="en-US" sz="1800" dirty="0"/>
          </a:p>
        </p:txBody>
      </p:sp>
      <p:sp>
        <p:nvSpPr>
          <p:cNvPr id="39" name="Text 37"/>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Sinais de saúde · Percentil · Exemplo inventado para ilustrar</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SINAIS DE SAÚDE · PERCENTIL</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Por que olhar o p95 e não só a média</a:t>
            </a:r>
            <a:endParaRPr lang="en-US" sz="3600" dirty="0"/>
          </a:p>
        </p:txBody>
      </p:sp>
      <p:sp>
        <p:nvSpPr>
          <p:cNvPr id="4" name="Shape 2"/>
          <p:cNvSpPr/>
          <p:nvPr/>
        </p:nvSpPr>
        <p:spPr>
          <a:xfrm>
            <a:off x="815975" y="1887860"/>
            <a:ext cx="3414157" cy="2019300"/>
          </a:xfrm>
          <a:prstGeom prst="roundRect">
            <a:avLst>
              <a:gd name="adj" fmla="val 4874"/>
            </a:avLst>
          </a:prstGeom>
          <a:solidFill>
            <a:srgbClr val="FBFAF6"/>
          </a:solidFill>
          <a:ln w="6350">
            <a:solidFill>
              <a:srgbClr val="DAD5C8"/>
            </a:solidFill>
            <a:prstDash val="solid"/>
          </a:ln>
        </p:spPr>
      </p:sp>
      <p:pic>
        <p:nvPicPr>
          <p:cNvPr id="5" name="Image 0" descr="Users">    </p:cNvPr>
          <p:cNvPicPr>
            <a:picLocks noChangeAspect="1"/>
          </p:cNvPicPr>
          <p:nvPr/>
        </p:nvPicPr>
        <p:blipFill>
          <a:blip r:embed="rId1"/>
          <a:srcRect l="0" r="0" t="0" b="0"/>
          <a:stretch/>
        </p:blipFill>
        <p:spPr>
          <a:xfrm>
            <a:off x="1046480" y="2118358"/>
            <a:ext cx="355600" cy="355600"/>
          </a:xfrm>
          <a:prstGeom prst="rect">
            <a:avLst/>
          </a:prstGeom>
        </p:spPr>
      </p:pic>
      <p:sp>
        <p:nvSpPr>
          <p:cNvPr id="6" name="Text 3"/>
          <p:cNvSpPr/>
          <p:nvPr/>
        </p:nvSpPr>
        <p:spPr>
          <a:xfrm>
            <a:off x="1046480" y="2562858"/>
            <a:ext cx="30417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41B"/>
                </a:solidFill>
                <a:latin typeface="IBM Plex Sans" pitchFamily="34" charset="0"/>
                <a:ea typeface="IBM Plex Sans" pitchFamily="34" charset="-122"/>
                <a:cs typeface="IBM Plex Sans" pitchFamily="34" charset="-120"/>
              </a:rPr>
              <a:t>Mostra quem sofre</a:t>
            </a:r>
            <a:endParaRPr lang="en-US" sz="2000" dirty="0"/>
          </a:p>
        </p:txBody>
      </p:sp>
      <p:sp>
        <p:nvSpPr>
          <p:cNvPr id="7" name="Text 4"/>
          <p:cNvSpPr/>
          <p:nvPr/>
        </p:nvSpPr>
        <p:spPr>
          <a:xfrm>
            <a:off x="1046480" y="2956558"/>
            <a:ext cx="3041741"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A média dilui os casos ruins. O p95 mostra a experiência dos 5% mais lentos.</a:t>
            </a:r>
            <a:endParaRPr lang="en-US" sz="1400" dirty="0"/>
          </a:p>
        </p:txBody>
      </p:sp>
      <p:sp>
        <p:nvSpPr>
          <p:cNvPr id="8" name="Shape 5"/>
          <p:cNvSpPr/>
          <p:nvPr/>
        </p:nvSpPr>
        <p:spPr>
          <a:xfrm>
            <a:off x="4388882" y="1887860"/>
            <a:ext cx="3414236" cy="2019300"/>
          </a:xfrm>
          <a:prstGeom prst="roundRect">
            <a:avLst>
              <a:gd name="adj" fmla="val 4874"/>
            </a:avLst>
          </a:prstGeom>
          <a:solidFill>
            <a:srgbClr val="FBFAF6"/>
          </a:solidFill>
          <a:ln w="6350">
            <a:solidFill>
              <a:srgbClr val="DAD5C8"/>
            </a:solidFill>
            <a:prstDash val="solid"/>
          </a:ln>
        </p:spPr>
      </p:sp>
      <p:pic>
        <p:nvPicPr>
          <p:cNvPr id="9" name="Image 1" descr="Activity">    </p:cNvPr>
          <p:cNvPicPr>
            <a:picLocks noChangeAspect="1"/>
          </p:cNvPicPr>
          <p:nvPr/>
        </p:nvPicPr>
        <p:blipFill>
          <a:blip r:embed="rId2"/>
          <a:srcRect l="0" r="0" t="0" b="0"/>
          <a:stretch/>
        </p:blipFill>
        <p:spPr>
          <a:xfrm>
            <a:off x="4619387" y="2118358"/>
            <a:ext cx="355600" cy="355600"/>
          </a:xfrm>
          <a:prstGeom prst="rect">
            <a:avLst/>
          </a:prstGeom>
        </p:spPr>
      </p:pic>
      <p:sp>
        <p:nvSpPr>
          <p:cNvPr id="10" name="Text 6"/>
          <p:cNvSpPr/>
          <p:nvPr/>
        </p:nvSpPr>
        <p:spPr>
          <a:xfrm>
            <a:off x="4619387" y="2562858"/>
            <a:ext cx="3041823"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41B"/>
                </a:solidFill>
                <a:latin typeface="IBM Plex Sans" pitchFamily="34" charset="0"/>
                <a:ea typeface="IBM Plex Sans" pitchFamily="34" charset="-122"/>
                <a:cs typeface="IBM Plex Sans" pitchFamily="34" charset="-120"/>
              </a:rPr>
              <a:t>A cauda é comum</a:t>
            </a:r>
            <a:endParaRPr lang="en-US" sz="2000" dirty="0"/>
          </a:p>
        </p:txBody>
      </p:sp>
      <p:sp>
        <p:nvSpPr>
          <p:cNvPr id="11" name="Text 7"/>
          <p:cNvSpPr/>
          <p:nvPr/>
        </p:nvSpPr>
        <p:spPr>
          <a:xfrm>
            <a:off x="4619387" y="2956558"/>
            <a:ext cx="3041823"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Numa página com 20 chamadas, a chance de ao menos uma cair nos 5% lentos é de 64%.</a:t>
            </a:r>
            <a:endParaRPr lang="en-US" sz="1400" dirty="0"/>
          </a:p>
        </p:txBody>
      </p:sp>
      <p:sp>
        <p:nvSpPr>
          <p:cNvPr id="12" name="Shape 8"/>
          <p:cNvSpPr/>
          <p:nvPr/>
        </p:nvSpPr>
        <p:spPr>
          <a:xfrm>
            <a:off x="7961868" y="1887860"/>
            <a:ext cx="3414157" cy="2019300"/>
          </a:xfrm>
          <a:prstGeom prst="roundRect">
            <a:avLst>
              <a:gd name="adj" fmla="val 4874"/>
            </a:avLst>
          </a:prstGeom>
          <a:solidFill>
            <a:srgbClr val="FBFAF6"/>
          </a:solidFill>
          <a:ln w="6350">
            <a:solidFill>
              <a:srgbClr val="DAD5C8"/>
            </a:solidFill>
            <a:prstDash val="solid"/>
          </a:ln>
        </p:spPr>
      </p:sp>
      <p:pic>
        <p:nvPicPr>
          <p:cNvPr id="13" name="Image 2" descr="Search">    </p:cNvPr>
          <p:cNvPicPr>
            <a:picLocks noChangeAspect="1"/>
          </p:cNvPicPr>
          <p:nvPr/>
        </p:nvPicPr>
        <p:blipFill>
          <a:blip r:embed="rId3"/>
          <a:srcRect l="0" r="0" t="0" b="0"/>
          <a:stretch/>
        </p:blipFill>
        <p:spPr>
          <a:xfrm>
            <a:off x="8192374" y="2118358"/>
            <a:ext cx="355600" cy="355600"/>
          </a:xfrm>
          <a:prstGeom prst="rect">
            <a:avLst/>
          </a:prstGeom>
        </p:spPr>
      </p:pic>
      <p:sp>
        <p:nvSpPr>
          <p:cNvPr id="14" name="Text 9"/>
          <p:cNvSpPr/>
          <p:nvPr/>
        </p:nvSpPr>
        <p:spPr>
          <a:xfrm>
            <a:off x="8192374" y="2562858"/>
            <a:ext cx="3041741"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1141B"/>
                </a:solidFill>
                <a:latin typeface="IBM Plex Sans" pitchFamily="34" charset="0"/>
                <a:ea typeface="IBM Plex Sans" pitchFamily="34" charset="-122"/>
                <a:cs typeface="IBM Plex Sans" pitchFamily="34" charset="-120"/>
              </a:rPr>
              <a:t>Aponta a causa</a:t>
            </a:r>
            <a:endParaRPr lang="en-US" sz="2000" dirty="0"/>
          </a:p>
        </p:txBody>
      </p:sp>
      <p:sp>
        <p:nvSpPr>
          <p:cNvPr id="15" name="Text 10"/>
          <p:cNvSpPr/>
          <p:nvPr/>
        </p:nvSpPr>
        <p:spPr>
          <a:xfrm>
            <a:off x="8192374" y="2956558"/>
            <a:ext cx="3041741"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4A5568"/>
                </a:solidFill>
                <a:latin typeface="IBM Plex Sans" pitchFamily="34" charset="0"/>
                <a:ea typeface="IBM Plex Sans" pitchFamily="34" charset="-122"/>
                <a:cs typeface="IBM Plex Sans" pitchFamily="34" charset="-120"/>
              </a:rPr>
              <a:t>Cauda alta costuma ser N+1, lock no banco ou serviço externo lento.</a:t>
            </a:r>
            <a:endParaRPr lang="en-US" sz="1400" dirty="0"/>
          </a:p>
        </p:txBody>
      </p:sp>
      <p:sp>
        <p:nvSpPr>
          <p:cNvPr id="16" name="Shape 11"/>
          <p:cNvSpPr/>
          <p:nvPr/>
        </p:nvSpPr>
        <p:spPr>
          <a:xfrm>
            <a:off x="812800" y="4164335"/>
            <a:ext cx="3420507" cy="784860"/>
          </a:xfrm>
          <a:prstGeom prst="roundRect">
            <a:avLst>
              <a:gd name="adj" fmla="val 9709"/>
            </a:avLst>
          </a:prstGeom>
          <a:solidFill>
            <a:srgbClr val="11141B"/>
          </a:solidFill>
          <a:ln/>
        </p:spPr>
      </p:sp>
      <p:sp>
        <p:nvSpPr>
          <p:cNvPr id="17" name="Text 12"/>
          <p:cNvSpPr/>
          <p:nvPr/>
        </p:nvSpPr>
        <p:spPr>
          <a:xfrm>
            <a:off x="990600" y="4316735"/>
            <a:ext cx="31568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CC8B4"/>
                </a:solidFill>
                <a:latin typeface="JetBrains Mono" pitchFamily="49" charset="0"/>
                <a:ea typeface="JetBrains Mono" pitchFamily="49" charset="-122"/>
                <a:cs typeface="JetBrains Mono" pitchFamily="49" charset="-120"/>
              </a:rPr>
              <a:t>p50</a:t>
            </a:r>
            <a:endParaRPr lang="en-US" sz="1400" dirty="0"/>
          </a:p>
        </p:txBody>
      </p:sp>
      <p:sp>
        <p:nvSpPr>
          <p:cNvPr id="18" name="Text 13"/>
          <p:cNvSpPr/>
          <p:nvPr/>
        </p:nvSpPr>
        <p:spPr>
          <a:xfrm>
            <a:off x="990600" y="4565650"/>
            <a:ext cx="315685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3F0E8"/>
                </a:solidFill>
                <a:latin typeface="IBM Plex Sans" pitchFamily="34" charset="0"/>
                <a:ea typeface="IBM Plex Sans" pitchFamily="34" charset="-122"/>
                <a:cs typeface="IBM Plex Sans" pitchFamily="34" charset="-120"/>
              </a:rPr>
              <a:t>O caso típico</a:t>
            </a:r>
            <a:endParaRPr lang="en-US" sz="1400" dirty="0"/>
          </a:p>
        </p:txBody>
      </p:sp>
      <p:sp>
        <p:nvSpPr>
          <p:cNvPr id="19" name="Shape 14"/>
          <p:cNvSpPr/>
          <p:nvPr/>
        </p:nvSpPr>
        <p:spPr>
          <a:xfrm>
            <a:off x="4385707" y="4164335"/>
            <a:ext cx="3420586" cy="784860"/>
          </a:xfrm>
          <a:prstGeom prst="roundRect">
            <a:avLst>
              <a:gd name="adj" fmla="val 9709"/>
            </a:avLst>
          </a:prstGeom>
          <a:solidFill>
            <a:srgbClr val="11141B"/>
          </a:solidFill>
          <a:ln/>
        </p:spPr>
      </p:sp>
      <p:sp>
        <p:nvSpPr>
          <p:cNvPr id="20" name="Text 15"/>
          <p:cNvSpPr/>
          <p:nvPr/>
        </p:nvSpPr>
        <p:spPr>
          <a:xfrm>
            <a:off x="4563507" y="4316735"/>
            <a:ext cx="3156936"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7A3D"/>
                </a:solidFill>
                <a:latin typeface="JetBrains Mono" pitchFamily="49" charset="0"/>
                <a:ea typeface="JetBrains Mono" pitchFamily="49" charset="-122"/>
                <a:cs typeface="JetBrains Mono" pitchFamily="49" charset="-120"/>
              </a:rPr>
              <a:t>p95</a:t>
            </a:r>
            <a:endParaRPr lang="en-US" sz="1400" dirty="0"/>
          </a:p>
        </p:txBody>
      </p:sp>
      <p:sp>
        <p:nvSpPr>
          <p:cNvPr id="21" name="Text 16"/>
          <p:cNvSpPr/>
          <p:nvPr/>
        </p:nvSpPr>
        <p:spPr>
          <a:xfrm>
            <a:off x="4563507" y="4565650"/>
            <a:ext cx="3156936"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3F0E8"/>
                </a:solidFill>
                <a:latin typeface="IBM Plex Sans" pitchFamily="34" charset="0"/>
                <a:ea typeface="IBM Plex Sans" pitchFamily="34" charset="-122"/>
                <a:cs typeface="IBM Plex Sans" pitchFamily="34" charset="-120"/>
              </a:rPr>
              <a:t>Bom para alertas e SLOs</a:t>
            </a:r>
            <a:endParaRPr lang="en-US" sz="1400" dirty="0"/>
          </a:p>
        </p:txBody>
      </p:sp>
      <p:sp>
        <p:nvSpPr>
          <p:cNvPr id="22" name="Shape 17"/>
          <p:cNvSpPr/>
          <p:nvPr/>
        </p:nvSpPr>
        <p:spPr>
          <a:xfrm>
            <a:off x="7958693" y="4164335"/>
            <a:ext cx="3420507" cy="784860"/>
          </a:xfrm>
          <a:prstGeom prst="roundRect">
            <a:avLst>
              <a:gd name="adj" fmla="val 9709"/>
            </a:avLst>
          </a:prstGeom>
          <a:solidFill>
            <a:srgbClr val="11141B"/>
          </a:solidFill>
          <a:ln/>
        </p:spPr>
      </p:sp>
      <p:sp>
        <p:nvSpPr>
          <p:cNvPr id="23" name="Text 18"/>
          <p:cNvSpPr/>
          <p:nvPr/>
        </p:nvSpPr>
        <p:spPr>
          <a:xfrm>
            <a:off x="8136493" y="4316735"/>
            <a:ext cx="3156854"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BFC7D5"/>
                </a:solidFill>
                <a:latin typeface="JetBrains Mono" pitchFamily="49" charset="0"/>
                <a:ea typeface="JetBrains Mono" pitchFamily="49" charset="-122"/>
                <a:cs typeface="JetBrains Mono" pitchFamily="49" charset="-120"/>
              </a:rPr>
              <a:t>p99</a:t>
            </a:r>
            <a:endParaRPr lang="en-US" sz="1400" dirty="0"/>
          </a:p>
        </p:txBody>
      </p:sp>
      <p:sp>
        <p:nvSpPr>
          <p:cNvPr id="24" name="Text 19"/>
          <p:cNvSpPr/>
          <p:nvPr/>
        </p:nvSpPr>
        <p:spPr>
          <a:xfrm>
            <a:off x="8136493" y="4565650"/>
            <a:ext cx="3156854" cy="256540"/>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F3F0E8"/>
                </a:solidFill>
                <a:latin typeface="IBM Plex Sans" pitchFamily="34" charset="0"/>
                <a:ea typeface="IBM Plex Sans" pitchFamily="34" charset="-122"/>
                <a:cs typeface="IBM Plex Sans" pitchFamily="34" charset="-120"/>
              </a:rPr>
              <a:t>Casos raros, com mais ruído</a:t>
            </a:r>
            <a:endParaRPr lang="en-US" sz="1400" dirty="0"/>
          </a:p>
        </p:txBody>
      </p:sp>
      <p:sp>
        <p:nvSpPr>
          <p:cNvPr id="25" name="Text 20"/>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Sinais de saúde · Percentil · 64% = 1 − 0,95 elevado a 20</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SINAIS DE SAÚDE · ERROS</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Taxa de erro: quantas requests falham</a:t>
            </a:r>
            <a:endParaRPr lang="en-US" sz="3600" dirty="0"/>
          </a:p>
        </p:txBody>
      </p:sp>
      <p:sp>
        <p:nvSpPr>
          <p:cNvPr id="4" name="Shape 2"/>
          <p:cNvSpPr/>
          <p:nvPr/>
        </p:nvSpPr>
        <p:spPr>
          <a:xfrm>
            <a:off x="812800" y="1884685"/>
            <a:ext cx="6380480" cy="2717800"/>
          </a:xfrm>
          <a:prstGeom prst="roundRect">
            <a:avLst>
              <a:gd name="adj" fmla="val 3738"/>
            </a:avLst>
          </a:prstGeom>
          <a:solidFill>
            <a:srgbClr val="1B212C"/>
          </a:solidFill>
          <a:ln/>
        </p:spPr>
      </p:sp>
      <p:pic>
        <p:nvPicPr>
          <p:cNvPr id="5" name="Image 0" descr="Gráfico de linha da taxa de erro ao longo do tempo: fica perto de 1%, sobe até cerca de 9% e cruza a linha tracejada do limite de alerta, de 5%, antes de voltar ao normal.">    </p:cNvPr>
          <p:cNvPicPr>
            <a:picLocks noChangeAspect="1"/>
          </p:cNvPicPr>
          <p:nvPr/>
        </p:nvPicPr>
        <p:blipFill>
          <a:blip r:embed="rId1"/>
          <a:srcRect l="0" r="0" t="0" b="0"/>
          <a:stretch/>
        </p:blipFill>
        <p:spPr>
          <a:xfrm>
            <a:off x="1016000" y="2087885"/>
            <a:ext cx="5461000" cy="1905000"/>
          </a:xfrm>
          <a:prstGeom prst="rect">
            <a:avLst/>
          </a:prstGeom>
        </p:spPr>
      </p:pic>
      <p:sp>
        <p:nvSpPr>
          <p:cNvPr id="6" name="Shape 3"/>
          <p:cNvSpPr/>
          <p:nvPr/>
        </p:nvSpPr>
        <p:spPr>
          <a:xfrm>
            <a:off x="1016000" y="4191000"/>
            <a:ext cx="304800" cy="38100"/>
          </a:xfrm>
          <a:prstGeom prst="roundRect">
            <a:avLst>
              <a:gd name="adj" fmla="val 50000"/>
            </a:avLst>
          </a:prstGeom>
          <a:solidFill>
            <a:srgbClr val="3CC8B4"/>
          </a:solidFill>
          <a:ln/>
        </p:spPr>
      </p:sp>
      <p:sp>
        <p:nvSpPr>
          <p:cNvPr id="7" name="Text 4"/>
          <p:cNvSpPr/>
          <p:nvPr/>
        </p:nvSpPr>
        <p:spPr>
          <a:xfrm>
            <a:off x="1397000" y="4094485"/>
            <a:ext cx="1092899"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7D5"/>
                </a:solidFill>
                <a:latin typeface="IBM Plex Sans" pitchFamily="34" charset="0"/>
                <a:ea typeface="IBM Plex Sans" pitchFamily="34" charset="-122"/>
                <a:cs typeface="IBM Plex Sans" pitchFamily="34" charset="-120"/>
              </a:rPr>
              <a:t>Taxa de erro</a:t>
            </a:r>
            <a:endParaRPr lang="en-US" sz="1300" dirty="0"/>
          </a:p>
        </p:txBody>
      </p:sp>
      <p:sp>
        <p:nvSpPr>
          <p:cNvPr id="8" name="Shape 5"/>
          <p:cNvSpPr/>
          <p:nvPr/>
        </p:nvSpPr>
        <p:spPr>
          <a:xfrm>
            <a:off x="2561749" y="4210050"/>
            <a:ext cx="304800" cy="0"/>
          </a:xfrm>
          <a:prstGeom prst="line">
            <a:avLst/>
          </a:prstGeom>
          <a:noFill/>
          <a:ln w="25400">
            <a:solidFill>
              <a:srgbClr val="FF7A3D"/>
            </a:solidFill>
            <a:prstDash val="dash"/>
          </a:ln>
        </p:spPr>
      </p:sp>
      <p:sp>
        <p:nvSpPr>
          <p:cNvPr id="9" name="Text 6"/>
          <p:cNvSpPr/>
          <p:nvPr/>
        </p:nvSpPr>
        <p:spPr>
          <a:xfrm>
            <a:off x="2942749" y="4094485"/>
            <a:ext cx="2738057"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FC7D5"/>
                </a:solidFill>
                <a:latin typeface="IBM Plex Sans" pitchFamily="34" charset="0"/>
                <a:ea typeface="IBM Plex Sans" pitchFamily="34" charset="-122"/>
                <a:cs typeface="IBM Plex Sans" pitchFamily="34" charset="-120"/>
              </a:rPr>
              <a:t>Limite do alerta (exemplo: 5%)</a:t>
            </a:r>
            <a:endParaRPr lang="en-US" sz="1300" dirty="0"/>
          </a:p>
        </p:txBody>
      </p:sp>
      <p:sp>
        <p:nvSpPr>
          <p:cNvPr id="10" name="Shape 7"/>
          <p:cNvSpPr/>
          <p:nvPr/>
        </p:nvSpPr>
        <p:spPr>
          <a:xfrm>
            <a:off x="7396480" y="1884685"/>
            <a:ext cx="3982720" cy="1173480"/>
          </a:xfrm>
          <a:prstGeom prst="roundRect">
            <a:avLst>
              <a:gd name="adj" fmla="val 8658"/>
            </a:avLst>
          </a:prstGeom>
          <a:solidFill>
            <a:srgbClr val="1B212C"/>
          </a:solidFill>
          <a:ln/>
        </p:spPr>
      </p:sp>
      <p:sp>
        <p:nvSpPr>
          <p:cNvPr id="11" name="Text 8"/>
          <p:cNvSpPr/>
          <p:nvPr/>
        </p:nvSpPr>
        <p:spPr>
          <a:xfrm>
            <a:off x="7599680" y="2062485"/>
            <a:ext cx="36836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FÓRMULA</a:t>
            </a:r>
            <a:endParaRPr lang="en-US" sz="1200" dirty="0"/>
          </a:p>
        </p:txBody>
      </p:sp>
      <p:sp>
        <p:nvSpPr>
          <p:cNvPr id="12" name="Text 9"/>
          <p:cNvSpPr/>
          <p:nvPr/>
        </p:nvSpPr>
        <p:spPr>
          <a:xfrm>
            <a:off x="7599680" y="2352042"/>
            <a:ext cx="3683610" cy="55372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3F0E8"/>
                </a:solidFill>
                <a:latin typeface="IBM Plex Sans" pitchFamily="34" charset="0"/>
                <a:ea typeface="IBM Plex Sans" pitchFamily="34" charset="-122"/>
                <a:cs typeface="IBM Plex Sans" pitchFamily="34" charset="-120"/>
              </a:rPr>
              <a:t>taxa de erro = requests com falha ÷ total de requests</a:t>
            </a:r>
            <a:endParaRPr lang="en-US" sz="1600" dirty="0"/>
          </a:p>
        </p:txBody>
      </p:sp>
      <p:sp>
        <p:nvSpPr>
          <p:cNvPr id="13" name="Shape 10"/>
          <p:cNvSpPr/>
          <p:nvPr/>
        </p:nvSpPr>
        <p:spPr>
          <a:xfrm>
            <a:off x="7396480" y="3210558"/>
            <a:ext cx="3982720" cy="1391920"/>
          </a:xfrm>
          <a:prstGeom prst="roundRect">
            <a:avLst>
              <a:gd name="adj" fmla="val 7299"/>
            </a:avLst>
          </a:prstGeom>
          <a:solidFill>
            <a:srgbClr val="1B212C"/>
          </a:solidFill>
          <a:ln/>
        </p:spPr>
      </p:sp>
      <p:sp>
        <p:nvSpPr>
          <p:cNvPr id="14" name="Text 11"/>
          <p:cNvSpPr/>
          <p:nvPr/>
        </p:nvSpPr>
        <p:spPr>
          <a:xfrm>
            <a:off x="7599680" y="3388358"/>
            <a:ext cx="36836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O QUE CONTA</a:t>
            </a:r>
            <a:endParaRPr lang="en-US" sz="1200" dirty="0"/>
          </a:p>
        </p:txBody>
      </p:sp>
      <p:sp>
        <p:nvSpPr>
          <p:cNvPr id="15" name="Text 12"/>
          <p:cNvSpPr/>
          <p:nvPr/>
        </p:nvSpPr>
        <p:spPr>
          <a:xfrm>
            <a:off x="7677912" y="3677927"/>
            <a:ext cx="3597758" cy="772160"/>
          </a:xfrm>
          <a:prstGeom prst="rect">
            <a:avLst/>
          </a:prstGeom>
          <a:noFill/>
          <a:ln/>
        </p:spPr>
        <p:txBody>
          <a:bodyPr wrap="square" lIns="0" tIns="0" rIns="0" bIns="0" rtlCol="0" anchor="t">
            <a:normAutofit/>
          </a:bodyPr>
          <a:lstStyle/>
          <a:p>
            <a:pPr algn="l" marL="175768" indent="-175768">
              <a:lnSpc>
                <a:spcPts val="1960"/>
              </a:lnSpc>
              <a:buSzPct val="100000"/>
              <a:buChar char="•"/>
            </a:pPr>
            <a:r>
              <a:rPr lang="en-US" sz="1400" dirty="0">
                <a:solidFill>
                  <a:srgbClr val="F3F0E8"/>
                </a:solidFill>
                <a:latin typeface="IBM Plex Sans" pitchFamily="34" charset="0"/>
                <a:ea typeface="IBM Plex Sans" pitchFamily="34" charset="-122"/>
                <a:cs typeface="IBM Plex Sans" pitchFamily="34" charset="-120"/>
              </a:rPr>
              <a:t>5xx e exceções não tratadas</a:t>
            </a:r>
            <a:endParaRPr lang="en-US" sz="1400" dirty="0"/>
          </a:p>
          <a:p>
            <a:pPr algn="l" marL="175768" indent="-175768">
              <a:lnSpc>
                <a:spcPts val="1960"/>
              </a:lnSpc>
              <a:buSzPct val="100000"/>
              <a:buChar char="•"/>
            </a:pPr>
            <a:r>
              <a:rPr lang="en-US" sz="1400" dirty="0">
                <a:solidFill>
                  <a:srgbClr val="F3F0E8"/>
                </a:solidFill>
                <a:latin typeface="IBM Plex Sans" pitchFamily="34" charset="0"/>
                <a:ea typeface="IBM Plex Sans" pitchFamily="34" charset="-122"/>
                <a:cs typeface="IBM Plex Sans" pitchFamily="34" charset="-120"/>
              </a:rPr>
              <a:t>Timeouts e falhas de dependências</a:t>
            </a:r>
            <a:endParaRPr lang="en-US" sz="1400" dirty="0"/>
          </a:p>
          <a:p>
            <a:pPr algn="l" marL="175768" indent="-175768">
              <a:lnSpc>
                <a:spcPts val="1960"/>
              </a:lnSpc>
              <a:buSzPct val="100000"/>
              <a:buChar char="•"/>
            </a:pPr>
            <a:r>
              <a:rPr lang="en-US" sz="1400" dirty="0">
                <a:solidFill>
                  <a:srgbClr val="F3F0E8"/>
                </a:solidFill>
                <a:latin typeface="IBM Plex Sans" pitchFamily="34" charset="0"/>
                <a:ea typeface="IBM Plex Sans" pitchFamily="34" charset="-122"/>
                <a:cs typeface="IBM Plex Sans" pitchFamily="34" charset="-120"/>
              </a:rPr>
              <a:t>4xx só se vierem em massa</a:t>
            </a:r>
            <a:endParaRPr lang="en-US" sz="1400" dirty="0"/>
          </a:p>
        </p:txBody>
      </p:sp>
      <p:sp>
        <p:nvSpPr>
          <p:cNvPr id="16" name="Text 13"/>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Sinais de saúde · Erros · Gráfico ilustrativo, com dados inventados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SINAIS DE SAÚDE · TRÁFEGO E SATURAÇÃO</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Quanta demanda e quanto aguentamos</a:t>
            </a:r>
            <a:endParaRPr lang="en-US" sz="3600" dirty="0"/>
          </a:p>
        </p:txBody>
      </p:sp>
      <p:sp>
        <p:nvSpPr>
          <p:cNvPr id="4" name="Shape 2"/>
          <p:cNvSpPr/>
          <p:nvPr/>
        </p:nvSpPr>
        <p:spPr>
          <a:xfrm>
            <a:off x="815975" y="1837060"/>
            <a:ext cx="4222274" cy="2978150"/>
          </a:xfrm>
          <a:prstGeom prst="roundRect">
            <a:avLst>
              <a:gd name="adj" fmla="val 3305"/>
            </a:avLst>
          </a:prstGeom>
          <a:solidFill>
            <a:srgbClr val="FBFAF6"/>
          </a:solidFill>
          <a:ln w="6350">
            <a:solidFill>
              <a:srgbClr val="DAD5C8"/>
            </a:solidFill>
            <a:prstDash val="solid"/>
          </a:ln>
        </p:spPr>
      </p:sp>
      <p:sp>
        <p:nvSpPr>
          <p:cNvPr id="5" name="Text 3"/>
          <p:cNvSpPr/>
          <p:nvPr/>
        </p:nvSpPr>
        <p:spPr>
          <a:xfrm>
            <a:off x="1021080" y="2042158"/>
            <a:ext cx="39264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TRÁFEGO</a:t>
            </a:r>
            <a:endParaRPr lang="en-US" sz="1200" dirty="0"/>
          </a:p>
        </p:txBody>
      </p:sp>
      <p:sp>
        <p:nvSpPr>
          <p:cNvPr id="6" name="Text 4"/>
          <p:cNvSpPr/>
          <p:nvPr/>
        </p:nvSpPr>
        <p:spPr>
          <a:xfrm>
            <a:off x="1021080" y="2344427"/>
            <a:ext cx="3926426"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41B"/>
                </a:solidFill>
                <a:latin typeface="IBM Plex Sans" pitchFamily="34" charset="0"/>
                <a:ea typeface="IBM Plex Sans" pitchFamily="34" charset="-122"/>
                <a:cs typeface="IBM Plex Sans" pitchFamily="34" charset="-120"/>
              </a:rPr>
              <a:t>Requests por segundo</a:t>
            </a:r>
            <a:endParaRPr lang="en-US" sz="1800" dirty="0"/>
          </a:p>
        </p:txBody>
      </p:sp>
      <p:sp>
        <p:nvSpPr>
          <p:cNvPr id="7" name="Shape 5"/>
          <p:cNvSpPr/>
          <p:nvPr/>
        </p:nvSpPr>
        <p:spPr>
          <a:xfrm>
            <a:off x="1021080" y="3310892"/>
            <a:ext cx="271066" cy="349250"/>
          </a:xfrm>
          <a:custGeom>
            <a:avLst/>
            <a:gdLst/>
            <a:ahLst/>
            <a:cxnLst/>
            <a:rect l="l" t="t" r="r" b="b"/>
            <a:pathLst>
              <a:path w="271066" h="349250">
                <a:moveTo>
                  <a:pt x="38100" y="0"/>
                </a:moveTo>
                <a:lnTo>
                  <a:pt x="232966" y="0"/>
                </a:lnTo>
                <a:arcTo hR="38100" wR="38100" stAng="16200000" swAng="5400000"/>
                <a:lnTo>
                  <a:pt x="271066" y="349250"/>
                </a:lnTo>
                <a:lnTo>
                  <a:pt x="0" y="349250"/>
                </a:lnTo>
                <a:lnTo>
                  <a:pt x="0" y="38100"/>
                </a:lnTo>
                <a:arcTo hR="38100" wR="38100" stAng="10800000" swAng="5400000"/>
                <a:close/>
              </a:path>
            </a:pathLst>
          </a:custGeom>
          <a:solidFill>
            <a:srgbClr val="0F766E"/>
          </a:solidFill>
          <a:ln/>
        </p:spPr>
      </p:sp>
      <p:sp>
        <p:nvSpPr>
          <p:cNvPr id="8" name="Shape 6"/>
          <p:cNvSpPr/>
          <p:nvPr/>
        </p:nvSpPr>
        <p:spPr>
          <a:xfrm>
            <a:off x="1342946" y="3247392"/>
            <a:ext cx="271145" cy="412750"/>
          </a:xfrm>
          <a:custGeom>
            <a:avLst/>
            <a:gdLst/>
            <a:ahLst/>
            <a:cxnLst/>
            <a:rect l="l" t="t" r="r" b="b"/>
            <a:pathLst>
              <a:path w="271145" h="412750">
                <a:moveTo>
                  <a:pt x="38100" y="0"/>
                </a:moveTo>
                <a:lnTo>
                  <a:pt x="233045" y="0"/>
                </a:lnTo>
                <a:arcTo hR="38100" wR="38100" stAng="16200000" swAng="5400000"/>
                <a:lnTo>
                  <a:pt x="271145" y="412750"/>
                </a:lnTo>
                <a:lnTo>
                  <a:pt x="0" y="412750"/>
                </a:lnTo>
                <a:lnTo>
                  <a:pt x="0" y="38100"/>
                </a:lnTo>
                <a:arcTo hR="38100" wR="38100" stAng="10800000" swAng="5400000"/>
                <a:close/>
              </a:path>
            </a:pathLst>
          </a:custGeom>
          <a:solidFill>
            <a:srgbClr val="0F766E"/>
          </a:solidFill>
          <a:ln/>
        </p:spPr>
      </p:sp>
      <p:sp>
        <p:nvSpPr>
          <p:cNvPr id="9" name="Shape 7"/>
          <p:cNvSpPr/>
          <p:nvPr/>
        </p:nvSpPr>
        <p:spPr>
          <a:xfrm>
            <a:off x="1664891" y="3279142"/>
            <a:ext cx="271066" cy="381000"/>
          </a:xfrm>
          <a:custGeom>
            <a:avLst/>
            <a:gdLst/>
            <a:ahLst/>
            <a:cxnLst/>
            <a:rect l="l" t="t" r="r" b="b"/>
            <a:pathLst>
              <a:path w="271066" h="381000">
                <a:moveTo>
                  <a:pt x="38100" y="0"/>
                </a:moveTo>
                <a:lnTo>
                  <a:pt x="232966" y="0"/>
                </a:lnTo>
                <a:arcTo hR="38100" wR="38100" stAng="16200000" swAng="5400000"/>
                <a:lnTo>
                  <a:pt x="271066" y="381000"/>
                </a:lnTo>
                <a:lnTo>
                  <a:pt x="0" y="381000"/>
                </a:lnTo>
                <a:lnTo>
                  <a:pt x="0" y="38100"/>
                </a:lnTo>
                <a:arcTo hR="38100" wR="38100" stAng="10800000" swAng="5400000"/>
                <a:close/>
              </a:path>
            </a:pathLst>
          </a:custGeom>
          <a:solidFill>
            <a:srgbClr val="0F766E"/>
          </a:solidFill>
          <a:ln/>
        </p:spPr>
      </p:sp>
      <p:sp>
        <p:nvSpPr>
          <p:cNvPr id="10" name="Shape 8"/>
          <p:cNvSpPr/>
          <p:nvPr/>
        </p:nvSpPr>
        <p:spPr>
          <a:xfrm>
            <a:off x="1986756" y="3120392"/>
            <a:ext cx="271145" cy="539750"/>
          </a:xfrm>
          <a:custGeom>
            <a:avLst/>
            <a:gdLst/>
            <a:ahLst/>
            <a:cxnLst/>
            <a:rect l="l" t="t" r="r" b="b"/>
            <a:pathLst>
              <a:path w="271145" h="539750">
                <a:moveTo>
                  <a:pt x="38100" y="0"/>
                </a:moveTo>
                <a:lnTo>
                  <a:pt x="233045" y="0"/>
                </a:lnTo>
                <a:arcTo hR="38100" wR="38100" stAng="16200000" swAng="5400000"/>
                <a:lnTo>
                  <a:pt x="271145" y="539750"/>
                </a:lnTo>
                <a:lnTo>
                  <a:pt x="0" y="539750"/>
                </a:lnTo>
                <a:lnTo>
                  <a:pt x="0" y="38100"/>
                </a:lnTo>
                <a:arcTo hR="38100" wR="38100" stAng="10800000" swAng="5400000"/>
                <a:close/>
              </a:path>
            </a:pathLst>
          </a:custGeom>
          <a:solidFill>
            <a:srgbClr val="0F766E"/>
          </a:solidFill>
          <a:ln/>
        </p:spPr>
      </p:sp>
      <p:sp>
        <p:nvSpPr>
          <p:cNvPr id="11" name="Shape 9"/>
          <p:cNvSpPr/>
          <p:nvPr/>
        </p:nvSpPr>
        <p:spPr>
          <a:xfrm>
            <a:off x="2308701" y="2993392"/>
            <a:ext cx="271066" cy="666750"/>
          </a:xfrm>
          <a:custGeom>
            <a:avLst/>
            <a:gdLst/>
            <a:ahLst/>
            <a:cxnLst/>
            <a:rect l="l" t="t" r="r" b="b"/>
            <a:pathLst>
              <a:path w="271066" h="666750">
                <a:moveTo>
                  <a:pt x="38100" y="0"/>
                </a:moveTo>
                <a:lnTo>
                  <a:pt x="232966" y="0"/>
                </a:lnTo>
                <a:arcTo hR="38100" wR="38100" stAng="16200000" swAng="5400000"/>
                <a:lnTo>
                  <a:pt x="271066" y="666750"/>
                </a:lnTo>
                <a:lnTo>
                  <a:pt x="0" y="666750"/>
                </a:lnTo>
                <a:lnTo>
                  <a:pt x="0" y="38100"/>
                </a:lnTo>
                <a:arcTo hR="38100" wR="38100" stAng="10800000" swAng="5400000"/>
                <a:close/>
              </a:path>
            </a:pathLst>
          </a:custGeom>
          <a:solidFill>
            <a:srgbClr val="0F766E"/>
          </a:solidFill>
          <a:ln/>
        </p:spPr>
      </p:sp>
      <p:sp>
        <p:nvSpPr>
          <p:cNvPr id="12" name="Shape 10"/>
          <p:cNvSpPr/>
          <p:nvPr/>
        </p:nvSpPr>
        <p:spPr>
          <a:xfrm>
            <a:off x="2630567" y="3056892"/>
            <a:ext cx="271145" cy="603250"/>
          </a:xfrm>
          <a:custGeom>
            <a:avLst/>
            <a:gdLst/>
            <a:ahLst/>
            <a:cxnLst/>
            <a:rect l="l" t="t" r="r" b="b"/>
            <a:pathLst>
              <a:path w="271145" h="603250">
                <a:moveTo>
                  <a:pt x="38100" y="0"/>
                </a:moveTo>
                <a:lnTo>
                  <a:pt x="233045" y="0"/>
                </a:lnTo>
                <a:arcTo hR="38100" wR="38100" stAng="16200000" swAng="5400000"/>
                <a:lnTo>
                  <a:pt x="271145" y="603250"/>
                </a:lnTo>
                <a:lnTo>
                  <a:pt x="0" y="603250"/>
                </a:lnTo>
                <a:lnTo>
                  <a:pt x="0" y="38100"/>
                </a:lnTo>
                <a:arcTo hR="38100" wR="38100" stAng="10800000" swAng="5400000"/>
                <a:close/>
              </a:path>
            </a:pathLst>
          </a:custGeom>
          <a:solidFill>
            <a:srgbClr val="0F766E"/>
          </a:solidFill>
          <a:ln/>
        </p:spPr>
      </p:sp>
      <p:sp>
        <p:nvSpPr>
          <p:cNvPr id="13" name="Shape 11"/>
          <p:cNvSpPr/>
          <p:nvPr/>
        </p:nvSpPr>
        <p:spPr>
          <a:xfrm>
            <a:off x="2952512" y="2866392"/>
            <a:ext cx="271066" cy="793750"/>
          </a:xfrm>
          <a:custGeom>
            <a:avLst/>
            <a:gdLst/>
            <a:ahLst/>
            <a:cxnLst/>
            <a:rect l="l" t="t" r="r" b="b"/>
            <a:pathLst>
              <a:path w="271066" h="793750">
                <a:moveTo>
                  <a:pt x="38100" y="0"/>
                </a:moveTo>
                <a:lnTo>
                  <a:pt x="232966" y="0"/>
                </a:lnTo>
                <a:arcTo hR="38100" wR="38100" stAng="16200000" swAng="5400000"/>
                <a:lnTo>
                  <a:pt x="271066" y="793750"/>
                </a:lnTo>
                <a:lnTo>
                  <a:pt x="0" y="793750"/>
                </a:lnTo>
                <a:lnTo>
                  <a:pt x="0" y="38100"/>
                </a:lnTo>
                <a:arcTo hR="38100" wR="38100" stAng="10800000" swAng="5400000"/>
                <a:close/>
              </a:path>
            </a:pathLst>
          </a:custGeom>
          <a:solidFill>
            <a:srgbClr val="0F766E"/>
          </a:solidFill>
          <a:ln/>
        </p:spPr>
      </p:sp>
      <p:sp>
        <p:nvSpPr>
          <p:cNvPr id="14" name="Shape 12"/>
          <p:cNvSpPr/>
          <p:nvPr/>
        </p:nvSpPr>
        <p:spPr>
          <a:xfrm>
            <a:off x="3274378" y="2739392"/>
            <a:ext cx="271145" cy="920750"/>
          </a:xfrm>
          <a:custGeom>
            <a:avLst/>
            <a:gdLst/>
            <a:ahLst/>
            <a:cxnLst/>
            <a:rect l="l" t="t" r="r" b="b"/>
            <a:pathLst>
              <a:path w="271145" h="920750">
                <a:moveTo>
                  <a:pt x="38100" y="0"/>
                </a:moveTo>
                <a:lnTo>
                  <a:pt x="233045" y="0"/>
                </a:lnTo>
                <a:arcTo hR="38100" wR="38100" stAng="16200000" swAng="5400000"/>
                <a:lnTo>
                  <a:pt x="271145" y="920750"/>
                </a:lnTo>
                <a:lnTo>
                  <a:pt x="0" y="920750"/>
                </a:lnTo>
                <a:lnTo>
                  <a:pt x="0" y="38100"/>
                </a:lnTo>
                <a:arcTo hR="38100" wR="38100" stAng="10800000" swAng="5400000"/>
                <a:close/>
              </a:path>
            </a:pathLst>
          </a:custGeom>
          <a:solidFill>
            <a:srgbClr val="0F766E"/>
          </a:solidFill>
          <a:ln/>
        </p:spPr>
      </p:sp>
      <p:sp>
        <p:nvSpPr>
          <p:cNvPr id="15" name="Shape 13"/>
          <p:cNvSpPr/>
          <p:nvPr/>
        </p:nvSpPr>
        <p:spPr>
          <a:xfrm>
            <a:off x="3596323" y="2802892"/>
            <a:ext cx="271066" cy="857250"/>
          </a:xfrm>
          <a:custGeom>
            <a:avLst/>
            <a:gdLst/>
            <a:ahLst/>
            <a:cxnLst/>
            <a:rect l="l" t="t" r="r" b="b"/>
            <a:pathLst>
              <a:path w="271066" h="857250">
                <a:moveTo>
                  <a:pt x="38100" y="0"/>
                </a:moveTo>
                <a:lnTo>
                  <a:pt x="232966" y="0"/>
                </a:lnTo>
                <a:arcTo hR="38100" wR="38100" stAng="16200000" swAng="5400000"/>
                <a:lnTo>
                  <a:pt x="271066" y="857250"/>
                </a:lnTo>
                <a:lnTo>
                  <a:pt x="0" y="857250"/>
                </a:lnTo>
                <a:lnTo>
                  <a:pt x="0" y="38100"/>
                </a:lnTo>
                <a:arcTo hR="38100" wR="38100" stAng="10800000" swAng="5400000"/>
                <a:close/>
              </a:path>
            </a:pathLst>
          </a:custGeom>
          <a:solidFill>
            <a:srgbClr val="0F766E"/>
          </a:solidFill>
          <a:ln/>
        </p:spPr>
      </p:sp>
      <p:sp>
        <p:nvSpPr>
          <p:cNvPr id="16" name="Shape 14"/>
          <p:cNvSpPr/>
          <p:nvPr/>
        </p:nvSpPr>
        <p:spPr>
          <a:xfrm>
            <a:off x="3918188" y="2929892"/>
            <a:ext cx="271145" cy="730250"/>
          </a:xfrm>
          <a:custGeom>
            <a:avLst/>
            <a:gdLst/>
            <a:ahLst/>
            <a:cxnLst/>
            <a:rect l="l" t="t" r="r" b="b"/>
            <a:pathLst>
              <a:path w="271145" h="730250">
                <a:moveTo>
                  <a:pt x="38100" y="0"/>
                </a:moveTo>
                <a:lnTo>
                  <a:pt x="233045" y="0"/>
                </a:lnTo>
                <a:arcTo hR="38100" wR="38100" stAng="16200000" swAng="5400000"/>
                <a:lnTo>
                  <a:pt x="271145" y="730250"/>
                </a:lnTo>
                <a:lnTo>
                  <a:pt x="0" y="730250"/>
                </a:lnTo>
                <a:lnTo>
                  <a:pt x="0" y="38100"/>
                </a:lnTo>
                <a:arcTo hR="38100" wR="38100" stAng="10800000" swAng="5400000"/>
                <a:close/>
              </a:path>
            </a:pathLst>
          </a:custGeom>
          <a:solidFill>
            <a:srgbClr val="0F766E"/>
          </a:solidFill>
          <a:ln/>
        </p:spPr>
      </p:sp>
      <p:sp>
        <p:nvSpPr>
          <p:cNvPr id="17" name="Shape 15"/>
          <p:cNvSpPr/>
          <p:nvPr/>
        </p:nvSpPr>
        <p:spPr>
          <a:xfrm>
            <a:off x="4240133" y="3088642"/>
            <a:ext cx="271066" cy="571500"/>
          </a:xfrm>
          <a:custGeom>
            <a:avLst/>
            <a:gdLst/>
            <a:ahLst/>
            <a:cxnLst/>
            <a:rect l="l" t="t" r="r" b="b"/>
            <a:pathLst>
              <a:path w="271066" h="571500">
                <a:moveTo>
                  <a:pt x="38100" y="0"/>
                </a:moveTo>
                <a:lnTo>
                  <a:pt x="232966" y="0"/>
                </a:lnTo>
                <a:arcTo hR="38100" wR="38100" stAng="16200000" swAng="5400000"/>
                <a:lnTo>
                  <a:pt x="271066" y="571500"/>
                </a:lnTo>
                <a:lnTo>
                  <a:pt x="0" y="571500"/>
                </a:lnTo>
                <a:lnTo>
                  <a:pt x="0" y="38100"/>
                </a:lnTo>
                <a:arcTo hR="38100" wR="38100" stAng="10800000" swAng="5400000"/>
                <a:close/>
              </a:path>
            </a:pathLst>
          </a:custGeom>
          <a:solidFill>
            <a:srgbClr val="0F766E"/>
          </a:solidFill>
          <a:ln/>
        </p:spPr>
      </p:sp>
      <p:sp>
        <p:nvSpPr>
          <p:cNvPr id="18" name="Shape 16"/>
          <p:cNvSpPr/>
          <p:nvPr/>
        </p:nvSpPr>
        <p:spPr>
          <a:xfrm>
            <a:off x="4561999" y="3183892"/>
            <a:ext cx="271145" cy="476250"/>
          </a:xfrm>
          <a:custGeom>
            <a:avLst/>
            <a:gdLst/>
            <a:ahLst/>
            <a:cxnLst/>
            <a:rect l="l" t="t" r="r" b="b"/>
            <a:pathLst>
              <a:path w="271145" h="476250">
                <a:moveTo>
                  <a:pt x="38100" y="0"/>
                </a:moveTo>
                <a:lnTo>
                  <a:pt x="233045" y="0"/>
                </a:lnTo>
                <a:arcTo hR="38100" wR="38100" stAng="16200000" swAng="5400000"/>
                <a:lnTo>
                  <a:pt x="271145" y="476250"/>
                </a:lnTo>
                <a:lnTo>
                  <a:pt x="0" y="476250"/>
                </a:lnTo>
                <a:lnTo>
                  <a:pt x="0" y="38100"/>
                </a:lnTo>
                <a:arcTo hR="38100" wR="38100" stAng="10800000" swAng="5400000"/>
                <a:close/>
              </a:path>
            </a:pathLst>
          </a:custGeom>
          <a:solidFill>
            <a:srgbClr val="0F766E"/>
          </a:solidFill>
          <a:ln/>
        </p:spPr>
      </p:sp>
      <p:sp>
        <p:nvSpPr>
          <p:cNvPr id="19" name="Text 17"/>
          <p:cNvSpPr/>
          <p:nvPr/>
        </p:nvSpPr>
        <p:spPr>
          <a:xfrm>
            <a:off x="1021080" y="3749042"/>
            <a:ext cx="3926426" cy="471170"/>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A demanda que chega. Sozinho não diz se está bom, mas dá contexto aos outros sinais.</a:t>
            </a:r>
            <a:endParaRPr lang="en-US" sz="1300" dirty="0"/>
          </a:p>
        </p:txBody>
      </p:sp>
      <p:sp>
        <p:nvSpPr>
          <p:cNvPr id="20" name="Shape 18"/>
          <p:cNvSpPr/>
          <p:nvPr/>
        </p:nvSpPr>
        <p:spPr>
          <a:xfrm>
            <a:off x="5247799" y="1837060"/>
            <a:ext cx="6128226" cy="2978150"/>
          </a:xfrm>
          <a:prstGeom prst="roundRect">
            <a:avLst>
              <a:gd name="adj" fmla="val 3305"/>
            </a:avLst>
          </a:prstGeom>
          <a:solidFill>
            <a:srgbClr val="FBFAF6"/>
          </a:solidFill>
          <a:ln w="6350">
            <a:solidFill>
              <a:srgbClr val="DAD5C8"/>
            </a:solidFill>
            <a:prstDash val="solid"/>
          </a:ln>
        </p:spPr>
      </p:sp>
      <p:sp>
        <p:nvSpPr>
          <p:cNvPr id="21" name="Text 19"/>
          <p:cNvSpPr/>
          <p:nvPr/>
        </p:nvSpPr>
        <p:spPr>
          <a:xfrm>
            <a:off x="5452904" y="2042158"/>
            <a:ext cx="58895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JetBrains Mono" pitchFamily="49" charset="0"/>
                <a:ea typeface="JetBrains Mono" pitchFamily="49" charset="-122"/>
                <a:cs typeface="JetBrains Mono" pitchFamily="49" charset="-120"/>
              </a:rPr>
              <a:t>SATURAÇÃO</a:t>
            </a:r>
            <a:endParaRPr lang="en-US" sz="1200" dirty="0"/>
          </a:p>
        </p:txBody>
      </p:sp>
      <p:sp>
        <p:nvSpPr>
          <p:cNvPr id="22" name="Text 20"/>
          <p:cNvSpPr/>
          <p:nvPr/>
        </p:nvSpPr>
        <p:spPr>
          <a:xfrm>
            <a:off x="5452904" y="2344427"/>
            <a:ext cx="588955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1141B"/>
                </a:solidFill>
                <a:latin typeface="IBM Plex Sans" pitchFamily="34" charset="0"/>
                <a:ea typeface="IBM Plex Sans" pitchFamily="34" charset="-122"/>
                <a:cs typeface="IBM Plex Sans" pitchFamily="34" charset="-120"/>
              </a:rPr>
              <a:t>Quão perto do limite</a:t>
            </a:r>
            <a:endParaRPr lang="en-US" sz="1800" dirty="0"/>
          </a:p>
        </p:txBody>
      </p:sp>
      <p:sp>
        <p:nvSpPr>
          <p:cNvPr id="23" name="Text 21"/>
          <p:cNvSpPr/>
          <p:nvPr/>
        </p:nvSpPr>
        <p:spPr>
          <a:xfrm>
            <a:off x="5452904" y="2707642"/>
            <a:ext cx="190652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41B"/>
                </a:solidFill>
                <a:latin typeface="IBM Plex Sans" pitchFamily="34" charset="0"/>
                <a:ea typeface="IBM Plex Sans" pitchFamily="34" charset="-122"/>
                <a:cs typeface="IBM Plex Sans" pitchFamily="34" charset="-120"/>
              </a:rPr>
              <a:t>Workers do PHP-FPM</a:t>
            </a:r>
            <a:endParaRPr lang="en-US" sz="1300" dirty="0"/>
          </a:p>
        </p:txBody>
      </p:sp>
      <p:sp>
        <p:nvSpPr>
          <p:cNvPr id="24" name="Text 22"/>
          <p:cNvSpPr/>
          <p:nvPr/>
        </p:nvSpPr>
        <p:spPr>
          <a:xfrm>
            <a:off x="8756904" y="2707642"/>
            <a:ext cx="2414016" cy="25654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C2410C"/>
                </a:solidFill>
                <a:latin typeface="JetBrains Mono" pitchFamily="49" charset="0"/>
                <a:ea typeface="JetBrains Mono" pitchFamily="49" charset="-122"/>
                <a:cs typeface="JetBrains Mono" pitchFamily="49" charset="-120"/>
              </a:rPr>
              <a:t>18 de 20 · quase cheio</a:t>
            </a:r>
            <a:endParaRPr lang="en-US" sz="1200" dirty="0"/>
          </a:p>
        </p:txBody>
      </p:sp>
      <p:sp>
        <p:nvSpPr>
          <p:cNvPr id="25" name="Shape 23"/>
          <p:cNvSpPr/>
          <p:nvPr/>
        </p:nvSpPr>
        <p:spPr>
          <a:xfrm>
            <a:off x="5452904" y="2976885"/>
            <a:ext cx="5718016" cy="139700"/>
          </a:xfrm>
          <a:prstGeom prst="roundRect">
            <a:avLst>
              <a:gd name="adj" fmla="val 50000"/>
            </a:avLst>
          </a:prstGeom>
          <a:solidFill>
            <a:srgbClr val="E4DFD2"/>
          </a:solidFill>
          <a:ln/>
        </p:spPr>
      </p:sp>
      <p:sp>
        <p:nvSpPr>
          <p:cNvPr id="26" name="Shape 24"/>
          <p:cNvSpPr/>
          <p:nvPr/>
        </p:nvSpPr>
        <p:spPr>
          <a:xfrm>
            <a:off x="5452904" y="2976885"/>
            <a:ext cx="5146199" cy="139700"/>
          </a:xfrm>
          <a:custGeom>
            <a:avLst/>
            <a:gdLst/>
            <a:ahLst/>
            <a:cxnLst/>
            <a:rect l="l" t="t" r="r" b="b"/>
            <a:pathLst>
              <a:path w="5146199" h="139700">
                <a:moveTo>
                  <a:pt x="0" y="69850"/>
                </a:moveTo>
                <a:arcTo hR="69850" wR="69850" stAng="10800000" swAng="5400000"/>
                <a:lnTo>
                  <a:pt x="5146199" y="0"/>
                </a:lnTo>
                <a:lnTo>
                  <a:pt x="5146199" y="139700"/>
                </a:lnTo>
                <a:lnTo>
                  <a:pt x="69850" y="139700"/>
                </a:lnTo>
                <a:arcTo hR="69850" wR="69850" stAng="5400000" swAng="5400000"/>
                <a:close/>
              </a:path>
            </a:pathLst>
          </a:custGeom>
          <a:solidFill>
            <a:srgbClr val="C2410C"/>
          </a:solidFill>
          <a:ln/>
        </p:spPr>
      </p:sp>
      <p:sp>
        <p:nvSpPr>
          <p:cNvPr id="27" name="Text 25"/>
          <p:cNvSpPr/>
          <p:nvPr/>
        </p:nvSpPr>
        <p:spPr>
          <a:xfrm>
            <a:off x="5452904" y="3205485"/>
            <a:ext cx="377476"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41B"/>
                </a:solidFill>
                <a:latin typeface="IBM Plex Sans" pitchFamily="34" charset="0"/>
                <a:ea typeface="IBM Plex Sans" pitchFamily="34" charset="-122"/>
                <a:cs typeface="IBM Plex Sans" pitchFamily="34" charset="-120"/>
              </a:rPr>
              <a:t>CPU</a:t>
            </a:r>
            <a:endParaRPr lang="en-US" sz="1300" dirty="0"/>
          </a:p>
        </p:txBody>
      </p:sp>
      <p:sp>
        <p:nvSpPr>
          <p:cNvPr id="28" name="Text 26"/>
          <p:cNvSpPr/>
          <p:nvPr/>
        </p:nvSpPr>
        <p:spPr>
          <a:xfrm>
            <a:off x="10841736" y="3205485"/>
            <a:ext cx="329184" cy="25654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F766E"/>
                </a:solidFill>
                <a:latin typeface="JetBrains Mono" pitchFamily="49" charset="0"/>
                <a:ea typeface="JetBrains Mono" pitchFamily="49" charset="-122"/>
                <a:cs typeface="JetBrains Mono" pitchFamily="49" charset="-120"/>
              </a:rPr>
              <a:t>55%</a:t>
            </a:r>
            <a:endParaRPr lang="en-US" sz="1200" dirty="0"/>
          </a:p>
        </p:txBody>
      </p:sp>
      <p:sp>
        <p:nvSpPr>
          <p:cNvPr id="29" name="Shape 27"/>
          <p:cNvSpPr/>
          <p:nvPr/>
        </p:nvSpPr>
        <p:spPr>
          <a:xfrm>
            <a:off x="5452904" y="3474727"/>
            <a:ext cx="5718016" cy="139700"/>
          </a:xfrm>
          <a:prstGeom prst="roundRect">
            <a:avLst>
              <a:gd name="adj" fmla="val 50000"/>
            </a:avLst>
          </a:prstGeom>
          <a:solidFill>
            <a:srgbClr val="E4DFD2"/>
          </a:solidFill>
          <a:ln/>
        </p:spPr>
      </p:sp>
      <p:sp>
        <p:nvSpPr>
          <p:cNvPr id="30" name="Shape 28"/>
          <p:cNvSpPr/>
          <p:nvPr/>
        </p:nvSpPr>
        <p:spPr>
          <a:xfrm>
            <a:off x="5452904" y="3474727"/>
            <a:ext cx="3144917" cy="139700"/>
          </a:xfrm>
          <a:custGeom>
            <a:avLst/>
            <a:gdLst/>
            <a:ahLst/>
            <a:cxnLst/>
            <a:rect l="l" t="t" r="r" b="b"/>
            <a:pathLst>
              <a:path w="3144917" h="139700">
                <a:moveTo>
                  <a:pt x="0" y="69850"/>
                </a:moveTo>
                <a:arcTo hR="69850" wR="69850" stAng="10800000" swAng="5400000"/>
                <a:lnTo>
                  <a:pt x="3144917" y="0"/>
                </a:lnTo>
                <a:lnTo>
                  <a:pt x="3144917" y="139700"/>
                </a:lnTo>
                <a:lnTo>
                  <a:pt x="69850" y="139700"/>
                </a:lnTo>
                <a:arcTo hR="69850" wR="69850" stAng="5400000" swAng="5400000"/>
                <a:close/>
              </a:path>
            </a:pathLst>
          </a:custGeom>
          <a:solidFill>
            <a:srgbClr val="0F766E"/>
          </a:solidFill>
          <a:ln/>
        </p:spPr>
      </p:sp>
      <p:sp>
        <p:nvSpPr>
          <p:cNvPr id="31" name="Text 29"/>
          <p:cNvSpPr/>
          <p:nvPr/>
        </p:nvSpPr>
        <p:spPr>
          <a:xfrm>
            <a:off x="5452904" y="3703327"/>
            <a:ext cx="781622"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41B"/>
                </a:solidFill>
                <a:latin typeface="IBM Plex Sans" pitchFamily="34" charset="0"/>
                <a:ea typeface="IBM Plex Sans" pitchFamily="34" charset="-122"/>
                <a:cs typeface="IBM Plex Sans" pitchFamily="34" charset="-120"/>
              </a:rPr>
              <a:t>Memória</a:t>
            </a:r>
            <a:endParaRPr lang="en-US" sz="1300" dirty="0"/>
          </a:p>
        </p:txBody>
      </p:sp>
      <p:sp>
        <p:nvSpPr>
          <p:cNvPr id="32" name="Text 30"/>
          <p:cNvSpPr/>
          <p:nvPr/>
        </p:nvSpPr>
        <p:spPr>
          <a:xfrm>
            <a:off x="10841736" y="3703327"/>
            <a:ext cx="329184" cy="25654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F766E"/>
                </a:solidFill>
                <a:latin typeface="JetBrains Mono" pitchFamily="49" charset="0"/>
                <a:ea typeface="JetBrains Mono" pitchFamily="49" charset="-122"/>
                <a:cs typeface="JetBrains Mono" pitchFamily="49" charset="-120"/>
              </a:rPr>
              <a:t>70%</a:t>
            </a:r>
            <a:endParaRPr lang="en-US" sz="1200" dirty="0"/>
          </a:p>
        </p:txBody>
      </p:sp>
      <p:sp>
        <p:nvSpPr>
          <p:cNvPr id="33" name="Shape 31"/>
          <p:cNvSpPr/>
          <p:nvPr/>
        </p:nvSpPr>
        <p:spPr>
          <a:xfrm>
            <a:off x="5452904" y="3972558"/>
            <a:ext cx="5718016" cy="139700"/>
          </a:xfrm>
          <a:prstGeom prst="roundRect">
            <a:avLst>
              <a:gd name="adj" fmla="val 50000"/>
            </a:avLst>
          </a:prstGeom>
          <a:solidFill>
            <a:srgbClr val="E4DFD2"/>
          </a:solidFill>
          <a:ln/>
        </p:spPr>
      </p:sp>
      <p:sp>
        <p:nvSpPr>
          <p:cNvPr id="34" name="Shape 32"/>
          <p:cNvSpPr/>
          <p:nvPr/>
        </p:nvSpPr>
        <p:spPr>
          <a:xfrm>
            <a:off x="5452904" y="3972558"/>
            <a:ext cx="4002643" cy="139700"/>
          </a:xfrm>
          <a:custGeom>
            <a:avLst/>
            <a:gdLst/>
            <a:ahLst/>
            <a:cxnLst/>
            <a:rect l="l" t="t" r="r" b="b"/>
            <a:pathLst>
              <a:path w="4002643" h="139700">
                <a:moveTo>
                  <a:pt x="0" y="69850"/>
                </a:moveTo>
                <a:arcTo hR="69850" wR="69850" stAng="10800000" swAng="5400000"/>
                <a:lnTo>
                  <a:pt x="4002643" y="0"/>
                </a:lnTo>
                <a:lnTo>
                  <a:pt x="4002643" y="139700"/>
                </a:lnTo>
                <a:lnTo>
                  <a:pt x="69850" y="139700"/>
                </a:lnTo>
                <a:arcTo hR="69850" wR="69850" stAng="5400000" swAng="5400000"/>
                <a:close/>
              </a:path>
            </a:pathLst>
          </a:custGeom>
          <a:solidFill>
            <a:srgbClr val="0F766E"/>
          </a:solidFill>
          <a:ln/>
        </p:spPr>
      </p:sp>
      <p:sp>
        <p:nvSpPr>
          <p:cNvPr id="35" name="Text 33"/>
          <p:cNvSpPr/>
          <p:nvPr/>
        </p:nvSpPr>
        <p:spPr>
          <a:xfrm>
            <a:off x="5452904" y="4201158"/>
            <a:ext cx="1726883"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1141B"/>
                </a:solidFill>
                <a:latin typeface="IBM Plex Sans" pitchFamily="34" charset="0"/>
                <a:ea typeface="IBM Plex Sans" pitchFamily="34" charset="-122"/>
                <a:cs typeface="IBM Plex Sans" pitchFamily="34" charset="-120"/>
              </a:rPr>
              <a:t>Conexões no banco</a:t>
            </a:r>
            <a:endParaRPr lang="en-US" sz="1300" dirty="0"/>
          </a:p>
        </p:txBody>
      </p:sp>
      <p:sp>
        <p:nvSpPr>
          <p:cNvPr id="36" name="Text 34"/>
          <p:cNvSpPr/>
          <p:nvPr/>
        </p:nvSpPr>
        <p:spPr>
          <a:xfrm>
            <a:off x="10183368" y="4201158"/>
            <a:ext cx="987552" cy="25654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0F766E"/>
                </a:solidFill>
                <a:latin typeface="JetBrains Mono" pitchFamily="49" charset="0"/>
                <a:ea typeface="JetBrains Mono" pitchFamily="49" charset="-122"/>
                <a:cs typeface="JetBrains Mono" pitchFamily="49" charset="-120"/>
              </a:rPr>
              <a:t>40 de 100</a:t>
            </a:r>
            <a:endParaRPr lang="en-US" sz="1200" dirty="0"/>
          </a:p>
        </p:txBody>
      </p:sp>
      <p:sp>
        <p:nvSpPr>
          <p:cNvPr id="37" name="Shape 35"/>
          <p:cNvSpPr/>
          <p:nvPr/>
        </p:nvSpPr>
        <p:spPr>
          <a:xfrm>
            <a:off x="5452904" y="4470400"/>
            <a:ext cx="5718016" cy="139700"/>
          </a:xfrm>
          <a:prstGeom prst="roundRect">
            <a:avLst>
              <a:gd name="adj" fmla="val 50000"/>
            </a:avLst>
          </a:prstGeom>
          <a:solidFill>
            <a:srgbClr val="E4DFD2"/>
          </a:solidFill>
          <a:ln/>
        </p:spPr>
      </p:sp>
      <p:sp>
        <p:nvSpPr>
          <p:cNvPr id="38" name="Shape 36"/>
          <p:cNvSpPr/>
          <p:nvPr/>
        </p:nvSpPr>
        <p:spPr>
          <a:xfrm>
            <a:off x="5452904" y="4470400"/>
            <a:ext cx="2287191" cy="139700"/>
          </a:xfrm>
          <a:custGeom>
            <a:avLst/>
            <a:gdLst/>
            <a:ahLst/>
            <a:cxnLst/>
            <a:rect l="l" t="t" r="r" b="b"/>
            <a:pathLst>
              <a:path w="2287191" h="139700">
                <a:moveTo>
                  <a:pt x="0" y="69850"/>
                </a:moveTo>
                <a:arcTo hR="69850" wR="69850" stAng="10800000" swAng="5400000"/>
                <a:lnTo>
                  <a:pt x="2287191" y="0"/>
                </a:lnTo>
                <a:lnTo>
                  <a:pt x="2287191" y="139700"/>
                </a:lnTo>
                <a:lnTo>
                  <a:pt x="69850" y="139700"/>
                </a:lnTo>
                <a:arcTo hR="69850" wR="69850" stAng="5400000" swAng="5400000"/>
                <a:close/>
              </a:path>
            </a:pathLst>
          </a:custGeom>
          <a:solidFill>
            <a:srgbClr val="0F766E"/>
          </a:solidFill>
          <a:ln/>
        </p:spPr>
      </p:sp>
      <p:sp>
        <p:nvSpPr>
          <p:cNvPr id="39" name="Text 37"/>
          <p:cNvSpPr/>
          <p:nvPr/>
        </p:nvSpPr>
        <p:spPr>
          <a:xfrm>
            <a:off x="812800" y="5021585"/>
            <a:ext cx="10883392" cy="24828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4A5568"/>
                </a:solidFill>
                <a:latin typeface="IBM Plex Sans" pitchFamily="34" charset="0"/>
                <a:ea typeface="IBM Plex Sans" pitchFamily="34" charset="-122"/>
                <a:cs typeface="IBM Plex Sans" pitchFamily="34" charset="-120"/>
              </a:rPr>
              <a:t>Também vale olhar: o atraso da fila de jobs e a taxa de acerto do cache e do OPcache.</a:t>
            </a:r>
            <a:endParaRPr lang="en-US" sz="1300" dirty="0"/>
          </a:p>
        </p:txBody>
      </p:sp>
      <p:sp>
        <p:nvSpPr>
          <p:cNvPr id="40" name="Text 38"/>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Sinais de saúde · Tráfego e saturação · Valores de exemplo, só para ilustrar</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SINAIS DE SAÚDE · JUNTANDO TUDO</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Do sinal até a causa</a:t>
            </a:r>
            <a:endParaRPr lang="en-US" sz="3600" dirty="0"/>
          </a:p>
        </p:txBody>
      </p:sp>
      <p:sp>
        <p:nvSpPr>
          <p:cNvPr id="4" name="Shape 2"/>
          <p:cNvSpPr/>
          <p:nvPr/>
        </p:nvSpPr>
        <p:spPr>
          <a:xfrm>
            <a:off x="812800" y="2055502"/>
            <a:ext cx="3056414" cy="2077720"/>
          </a:xfrm>
          <a:prstGeom prst="roundRect">
            <a:avLst>
              <a:gd name="adj" fmla="val 4890"/>
            </a:avLst>
          </a:prstGeom>
          <a:solidFill>
            <a:srgbClr val="1B212C"/>
          </a:solidFill>
          <a:ln/>
        </p:spPr>
      </p:sp>
      <p:pic>
        <p:nvPicPr>
          <p:cNvPr id="5" name="Image 0" descr="Warning">    </p:cNvPr>
          <p:cNvPicPr>
            <a:picLocks noChangeAspect="1"/>
          </p:cNvPicPr>
          <p:nvPr/>
        </p:nvPicPr>
        <p:blipFill>
          <a:blip r:embed="rId1"/>
          <a:srcRect l="0" r="0" t="0" b="0"/>
          <a:stretch/>
        </p:blipFill>
        <p:spPr>
          <a:xfrm>
            <a:off x="1041400" y="2284102"/>
            <a:ext cx="355600" cy="355600"/>
          </a:xfrm>
          <a:prstGeom prst="rect">
            <a:avLst/>
          </a:prstGeom>
        </p:spPr>
      </p:pic>
      <p:sp>
        <p:nvSpPr>
          <p:cNvPr id="6" name="Text 3"/>
          <p:cNvSpPr/>
          <p:nvPr/>
        </p:nvSpPr>
        <p:spPr>
          <a:xfrm>
            <a:off x="1041400" y="2728602"/>
            <a:ext cx="26771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7A3D"/>
                </a:solidFill>
                <a:latin typeface="JetBrains Mono" pitchFamily="49" charset="0"/>
                <a:ea typeface="JetBrains Mono" pitchFamily="49" charset="-122"/>
                <a:cs typeface="JetBrains Mono" pitchFamily="49" charset="-120"/>
              </a:rPr>
              <a:t>1 · SINAL</a:t>
            </a:r>
            <a:endParaRPr lang="en-US" sz="1200" dirty="0"/>
          </a:p>
        </p:txBody>
      </p:sp>
      <p:sp>
        <p:nvSpPr>
          <p:cNvPr id="7" name="Text 4"/>
          <p:cNvSpPr/>
          <p:nvPr/>
        </p:nvSpPr>
        <p:spPr>
          <a:xfrm>
            <a:off x="1041400" y="3030860"/>
            <a:ext cx="267719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Algo mudou</a:t>
            </a:r>
            <a:endParaRPr lang="en-US" sz="2000" dirty="0"/>
          </a:p>
        </p:txBody>
      </p:sp>
      <p:sp>
        <p:nvSpPr>
          <p:cNvPr id="8" name="Text 5"/>
          <p:cNvSpPr/>
          <p:nvPr/>
        </p:nvSpPr>
        <p:spPr>
          <a:xfrm>
            <a:off x="1041400" y="3424560"/>
            <a:ext cx="2677190"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C7D5"/>
                </a:solidFill>
                <a:latin typeface="IBM Plex Sans" pitchFamily="34" charset="0"/>
                <a:ea typeface="IBM Plex Sans" pitchFamily="34" charset="-122"/>
                <a:cs typeface="IBM Plex Sans" pitchFamily="34" charset="-120"/>
              </a:rPr>
              <a:t>O p95 do /api/pedidos subiu e o alerta disparou.</a:t>
            </a:r>
            <a:endParaRPr lang="en-US" sz="1400" dirty="0"/>
          </a:p>
        </p:txBody>
      </p:sp>
      <p:pic>
        <p:nvPicPr>
          <p:cNvPr id="9" name="Image 1" descr="arrow-right">    </p:cNvPr>
          <p:cNvPicPr>
            <a:picLocks noChangeAspect="1"/>
          </p:cNvPicPr>
          <p:nvPr/>
        </p:nvPicPr>
        <p:blipFill>
          <a:blip r:embed="rId2"/>
          <a:srcRect l="0" r="0" t="0" b="0"/>
          <a:stretch/>
        </p:blipFill>
        <p:spPr>
          <a:xfrm>
            <a:off x="3989864" y="2992760"/>
            <a:ext cx="457200" cy="203200"/>
          </a:xfrm>
          <a:prstGeom prst="rect">
            <a:avLst/>
          </a:prstGeom>
        </p:spPr>
      </p:pic>
      <p:sp>
        <p:nvSpPr>
          <p:cNvPr id="10" name="Shape 6"/>
          <p:cNvSpPr/>
          <p:nvPr/>
        </p:nvSpPr>
        <p:spPr>
          <a:xfrm>
            <a:off x="4567714" y="1935485"/>
            <a:ext cx="3056493" cy="2317750"/>
          </a:xfrm>
          <a:prstGeom prst="roundRect">
            <a:avLst>
              <a:gd name="adj" fmla="val 4384"/>
            </a:avLst>
          </a:prstGeom>
          <a:solidFill>
            <a:srgbClr val="1B212C"/>
          </a:solidFill>
          <a:ln/>
        </p:spPr>
      </p:sp>
      <p:pic>
        <p:nvPicPr>
          <p:cNvPr id="11" name="Image 2" descr="Link">    </p:cNvPr>
          <p:cNvPicPr>
            <a:picLocks noChangeAspect="1"/>
          </p:cNvPicPr>
          <p:nvPr/>
        </p:nvPicPr>
        <p:blipFill>
          <a:blip r:embed="rId3"/>
          <a:srcRect l="0" r="0" t="0" b="0"/>
          <a:stretch/>
        </p:blipFill>
        <p:spPr>
          <a:xfrm>
            <a:off x="4796314" y="2164085"/>
            <a:ext cx="355600" cy="355600"/>
          </a:xfrm>
          <a:prstGeom prst="rect">
            <a:avLst/>
          </a:prstGeom>
        </p:spPr>
      </p:pic>
      <p:sp>
        <p:nvSpPr>
          <p:cNvPr id="12" name="Text 7"/>
          <p:cNvSpPr/>
          <p:nvPr/>
        </p:nvSpPr>
        <p:spPr>
          <a:xfrm>
            <a:off x="4796314" y="2608585"/>
            <a:ext cx="2677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2 · TRACE</a:t>
            </a:r>
            <a:endParaRPr lang="en-US" sz="1200" dirty="0"/>
          </a:p>
        </p:txBody>
      </p:sp>
      <p:sp>
        <p:nvSpPr>
          <p:cNvPr id="13" name="Text 8"/>
          <p:cNvSpPr/>
          <p:nvPr/>
        </p:nvSpPr>
        <p:spPr>
          <a:xfrm>
            <a:off x="4796314" y="2910842"/>
            <a:ext cx="26772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Onde e por quê</a:t>
            </a:r>
            <a:endParaRPr lang="en-US" sz="2000" dirty="0"/>
          </a:p>
        </p:txBody>
      </p:sp>
      <p:sp>
        <p:nvSpPr>
          <p:cNvPr id="14" name="Text 9"/>
          <p:cNvSpPr/>
          <p:nvPr/>
        </p:nvSpPr>
        <p:spPr>
          <a:xfrm>
            <a:off x="4796314" y="3304542"/>
            <a:ext cx="2677272"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C7D5"/>
                </a:solidFill>
                <a:latin typeface="IBM Plex Sans" pitchFamily="34" charset="0"/>
                <a:ea typeface="IBM Plex Sans" pitchFamily="34" charset="-122"/>
                <a:cs typeface="IBM Plex Sans" pitchFamily="34" charset="-120"/>
              </a:rPr>
              <a:t>Um trace lento mostra 201 spans de banco dentro da request.</a:t>
            </a:r>
            <a:endParaRPr lang="en-US" sz="1400" dirty="0"/>
          </a:p>
        </p:txBody>
      </p:sp>
      <p:pic>
        <p:nvPicPr>
          <p:cNvPr id="15" name="Image 3" descr="arrow-right">    </p:cNvPr>
          <p:cNvPicPr>
            <a:picLocks noChangeAspect="1"/>
          </p:cNvPicPr>
          <p:nvPr/>
        </p:nvPicPr>
        <p:blipFill>
          <a:blip r:embed="rId4"/>
          <a:srcRect l="0" r="0" t="0" b="0"/>
          <a:stretch/>
        </p:blipFill>
        <p:spPr>
          <a:xfrm>
            <a:off x="7744857" y="2992760"/>
            <a:ext cx="457200" cy="203200"/>
          </a:xfrm>
          <a:prstGeom prst="rect">
            <a:avLst/>
          </a:prstGeom>
        </p:spPr>
      </p:pic>
      <p:sp>
        <p:nvSpPr>
          <p:cNvPr id="16" name="Shape 10"/>
          <p:cNvSpPr/>
          <p:nvPr/>
        </p:nvSpPr>
        <p:spPr>
          <a:xfrm>
            <a:off x="8322707" y="2055502"/>
            <a:ext cx="3056493" cy="2077720"/>
          </a:xfrm>
          <a:prstGeom prst="roundRect">
            <a:avLst>
              <a:gd name="adj" fmla="val 4890"/>
            </a:avLst>
          </a:prstGeom>
          <a:solidFill>
            <a:srgbClr val="1B212C"/>
          </a:solidFill>
          <a:ln/>
        </p:spPr>
      </p:sp>
      <p:pic>
        <p:nvPicPr>
          <p:cNvPr id="17" name="Image 4" descr="Book">    </p:cNvPr>
          <p:cNvPicPr>
            <a:picLocks noChangeAspect="1"/>
          </p:cNvPicPr>
          <p:nvPr/>
        </p:nvPicPr>
        <p:blipFill>
          <a:blip r:embed="rId5"/>
          <a:srcRect l="0" r="0" t="0" b="0"/>
          <a:stretch/>
        </p:blipFill>
        <p:spPr>
          <a:xfrm>
            <a:off x="8551307" y="2284102"/>
            <a:ext cx="355600" cy="355600"/>
          </a:xfrm>
          <a:prstGeom prst="rect">
            <a:avLst/>
          </a:prstGeom>
        </p:spPr>
      </p:pic>
      <p:sp>
        <p:nvSpPr>
          <p:cNvPr id="18" name="Text 11"/>
          <p:cNvSpPr/>
          <p:nvPr/>
        </p:nvSpPr>
        <p:spPr>
          <a:xfrm>
            <a:off x="8551307" y="2728602"/>
            <a:ext cx="26772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CC8B4"/>
                </a:solidFill>
                <a:latin typeface="JetBrains Mono" pitchFamily="49" charset="0"/>
                <a:ea typeface="JetBrains Mono" pitchFamily="49" charset="-122"/>
                <a:cs typeface="JetBrains Mono" pitchFamily="49" charset="-120"/>
              </a:rPr>
              <a:t>3 · LOG</a:t>
            </a:r>
            <a:endParaRPr lang="en-US" sz="1200" dirty="0"/>
          </a:p>
        </p:txBody>
      </p:sp>
      <p:sp>
        <p:nvSpPr>
          <p:cNvPr id="19" name="Text 12"/>
          <p:cNvSpPr/>
          <p:nvPr/>
        </p:nvSpPr>
        <p:spPr>
          <a:xfrm>
            <a:off x="8551307" y="3030860"/>
            <a:ext cx="267727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3F0E8"/>
                </a:solidFill>
                <a:latin typeface="IBM Plex Sans" pitchFamily="34" charset="0"/>
                <a:ea typeface="IBM Plex Sans" pitchFamily="34" charset="-122"/>
                <a:cs typeface="IBM Plex Sans" pitchFamily="34" charset="-120"/>
              </a:rPr>
              <a:t>Os detalhes</a:t>
            </a:r>
            <a:endParaRPr lang="en-US" sz="2000" dirty="0"/>
          </a:p>
        </p:txBody>
      </p:sp>
      <p:sp>
        <p:nvSpPr>
          <p:cNvPr id="20" name="Text 13"/>
          <p:cNvSpPr/>
          <p:nvPr/>
        </p:nvSpPr>
        <p:spPr>
          <a:xfrm>
            <a:off x="8551307" y="3424560"/>
            <a:ext cx="2677272"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BFC7D5"/>
                </a:solidFill>
                <a:latin typeface="IBM Plex Sans" pitchFamily="34" charset="0"/>
                <a:ea typeface="IBM Plex Sans" pitchFamily="34" charset="-122"/>
                <a:cs typeface="IBM Plex Sans" pitchFamily="34" charset="-120"/>
              </a:rPr>
              <a:t>O log da mesma request, pelo mesmo trace_id.</a:t>
            </a:r>
            <a:endParaRPr lang="en-US" sz="1400" dirty="0"/>
          </a:p>
        </p:txBody>
      </p:sp>
      <p:sp>
        <p:nvSpPr>
          <p:cNvPr id="21" name="Text 14"/>
          <p:cNvSpPr/>
          <p:nvPr/>
        </p:nvSpPr>
        <p:spPr>
          <a:xfrm>
            <a:off x="812800" y="4558035"/>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7A3D"/>
                </a:solidFill>
                <a:latin typeface="IBM Plex Sans" pitchFamily="34" charset="0"/>
                <a:ea typeface="IBM Plex Sans" pitchFamily="34" charset="-122"/>
                <a:cs typeface="IBM Plex Sans" pitchFamily="34" charset="-120"/>
              </a:rPr>
              <a:t>Métrica</a:t>
            </a:r>
            <a:r>
              <a:rPr lang="en-US" sz="2200" b="1" dirty="0">
                <a:solidFill>
                  <a:srgbClr val="F3F0E8"/>
                </a:solidFill>
                <a:latin typeface="IBM Plex Sans" pitchFamily="34" charset="0"/>
                <a:ea typeface="IBM Plex Sans" pitchFamily="34" charset="-122"/>
                <a:cs typeface="IBM Plex Sans" pitchFamily="34" charset="-120"/>
              </a:rPr>
              <a:t> avisa. </a:t>
            </a:r>
            <a:r>
              <a:rPr lang="en-US" sz="2200" b="1" dirty="0">
                <a:solidFill>
                  <a:srgbClr val="3CC8B4"/>
                </a:solidFill>
                <a:latin typeface="IBM Plex Sans" pitchFamily="34" charset="0"/>
                <a:ea typeface="IBM Plex Sans" pitchFamily="34" charset="-122"/>
                <a:cs typeface="IBM Plex Sans" pitchFamily="34" charset="-120"/>
              </a:rPr>
              <a:t>Trace</a:t>
            </a:r>
            <a:r>
              <a:rPr lang="en-US" sz="2200" b="1" dirty="0">
                <a:solidFill>
                  <a:srgbClr val="F3F0E8"/>
                </a:solidFill>
                <a:latin typeface="IBM Plex Sans" pitchFamily="34" charset="0"/>
                <a:ea typeface="IBM Plex Sans" pitchFamily="34" charset="-122"/>
                <a:cs typeface="IBM Plex Sans" pitchFamily="34" charset="-120"/>
              </a:rPr>
              <a:t> localiza. </a:t>
            </a:r>
            <a:r>
              <a:rPr lang="en-US" sz="2200" b="1" dirty="0">
                <a:solidFill>
                  <a:srgbClr val="3CC8B4"/>
                </a:solidFill>
                <a:latin typeface="IBM Plex Sans" pitchFamily="34" charset="0"/>
                <a:ea typeface="IBM Plex Sans" pitchFamily="34" charset="-122"/>
                <a:cs typeface="IBM Plex Sans" pitchFamily="34" charset="-120"/>
              </a:rPr>
              <a:t>Log</a:t>
            </a:r>
            <a:r>
              <a:rPr lang="en-US" sz="2200" b="1" dirty="0">
                <a:solidFill>
                  <a:srgbClr val="F3F0E8"/>
                </a:solidFill>
                <a:latin typeface="IBM Plex Sans" pitchFamily="34" charset="0"/>
                <a:ea typeface="IBM Plex Sans" pitchFamily="34" charset="-122"/>
                <a:cs typeface="IBM Plex Sans" pitchFamily="34" charset="-120"/>
              </a:rPr>
              <a:t> detalha.</a:t>
            </a:r>
            <a:endParaRPr lang="en-US" sz="2200" dirty="0"/>
          </a:p>
        </p:txBody>
      </p:sp>
      <p:sp>
        <p:nvSpPr>
          <p:cNvPr id="22" name="Text 15"/>
          <p:cNvSpPr/>
          <p:nvPr/>
        </p:nvSpPr>
        <p:spPr>
          <a:xfrm>
            <a:off x="812800" y="6238242"/>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Sinais de saúde · Do sinal ao trace, usando o caso da demo</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BUSINESS CASE</a:t>
            </a:r>
            <a:endParaRPr lang="en-US" sz="1200" dirty="0"/>
          </a:p>
        </p:txBody>
      </p:sp>
      <p:sp>
        <p:nvSpPr>
          <p:cNvPr id="3" name="Text 1"/>
          <p:cNvSpPr/>
          <p:nvPr>
            <p:ph type="title"/>
          </p:nvPr>
        </p:nvSpPr>
        <p:spPr>
          <a:xfrm>
            <a:off x="812800" y="1127758"/>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Tempo para achar a causa</a:t>
            </a:r>
            <a:endParaRPr lang="en-US" sz="3600" dirty="0"/>
          </a:p>
        </p:txBody>
      </p:sp>
      <p:sp>
        <p:nvSpPr>
          <p:cNvPr id="4" name="Shape 2"/>
          <p:cNvSpPr/>
          <p:nvPr/>
        </p:nvSpPr>
        <p:spPr>
          <a:xfrm>
            <a:off x="812800" y="1935485"/>
            <a:ext cx="10566400" cy="1503680"/>
          </a:xfrm>
          <a:prstGeom prst="roundRect">
            <a:avLst>
              <a:gd name="adj" fmla="val 6757"/>
            </a:avLst>
          </a:prstGeom>
          <a:solidFill>
            <a:srgbClr val="11141B"/>
          </a:solidFill>
          <a:ln/>
        </p:spPr>
      </p:sp>
      <p:sp>
        <p:nvSpPr>
          <p:cNvPr id="5" name="Text 3"/>
          <p:cNvSpPr/>
          <p:nvPr/>
        </p:nvSpPr>
        <p:spPr>
          <a:xfrm>
            <a:off x="1066800" y="2192027"/>
            <a:ext cx="2792920"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Sem observability</a:t>
            </a:r>
            <a:endParaRPr lang="en-US" sz="2200" dirty="0"/>
          </a:p>
        </p:txBody>
      </p:sp>
      <p:sp>
        <p:nvSpPr>
          <p:cNvPr id="6" name="Text 4"/>
          <p:cNvSpPr/>
          <p:nvPr/>
        </p:nvSpPr>
        <p:spPr>
          <a:xfrm>
            <a:off x="9113425" y="2164085"/>
            <a:ext cx="2011775"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FF7A3D"/>
                </a:solidFill>
                <a:latin typeface="JetBrains Mono" pitchFamily="49" charset="0"/>
                <a:ea typeface="JetBrains Mono" pitchFamily="49" charset="-122"/>
                <a:cs typeface="JetBrains Mono" pitchFamily="49" charset="-120"/>
              </a:rPr>
              <a:t>[__ horas]</a:t>
            </a:r>
            <a:endParaRPr lang="en-US" sz="2200" dirty="0"/>
          </a:p>
        </p:txBody>
      </p:sp>
      <p:sp>
        <p:nvSpPr>
          <p:cNvPr id="7" name="Text 5"/>
          <p:cNvSpPr/>
          <p:nvPr/>
        </p:nvSpPr>
        <p:spPr>
          <a:xfrm>
            <a:off x="1066800" y="2707655"/>
            <a:ext cx="1645920" cy="502920"/>
          </a:xfrm>
          <a:prstGeom prst="roundRect">
            <a:avLst>
              <a:gd name="adj" fmla="val 12626"/>
            </a:avLst>
          </a:prstGeom>
          <a:solidFill>
            <a:srgbClr val="1B212C"/>
          </a:solidFill>
          <a:ln/>
        </p:spPr>
        <p:txBody>
          <a:bodyPr wrap="square" lIns="32201" tIns="108401" rIns="32201" bIns="83001" rtlCol="0" anchor="t">
            <a:normAutofit/>
          </a:bodyPr>
          <a:lstStyle/>
          <a:p>
            <a:pPr algn="ct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Alerta</a:t>
            </a:r>
            <a:endParaRPr lang="en-US" sz="1400" dirty="0"/>
          </a:p>
        </p:txBody>
      </p:sp>
      <p:pic>
        <p:nvPicPr>
          <p:cNvPr id="8" name="Image 0" descr="arrow-right">    </p:cNvPr>
          <p:cNvPicPr>
            <a:picLocks noChangeAspect="1"/>
          </p:cNvPicPr>
          <p:nvPr/>
        </p:nvPicPr>
        <p:blipFill>
          <a:blip r:embed="rId1"/>
          <a:srcRect l="0" r="0" t="0" b="0"/>
          <a:stretch/>
        </p:blipFill>
        <p:spPr>
          <a:xfrm>
            <a:off x="2814320" y="2882900"/>
            <a:ext cx="254000" cy="152400"/>
          </a:xfrm>
          <a:prstGeom prst="rect">
            <a:avLst/>
          </a:prstGeom>
        </p:spPr>
      </p:pic>
      <p:sp>
        <p:nvSpPr>
          <p:cNvPr id="9" name="Text 6"/>
          <p:cNvSpPr/>
          <p:nvPr/>
        </p:nvSpPr>
        <p:spPr>
          <a:xfrm>
            <a:off x="3169920" y="2707655"/>
            <a:ext cx="1645920" cy="502920"/>
          </a:xfrm>
          <a:prstGeom prst="roundRect">
            <a:avLst>
              <a:gd name="adj" fmla="val 12626"/>
            </a:avLst>
          </a:prstGeom>
          <a:solidFill>
            <a:srgbClr val="1B212C"/>
          </a:solidFill>
          <a:ln/>
        </p:spPr>
        <p:txBody>
          <a:bodyPr wrap="square" lIns="32201" tIns="108401" rIns="32201" bIns="83001" rtlCol="0" anchor="t">
            <a:normAutofit/>
          </a:bodyPr>
          <a:lstStyle/>
          <a:p>
            <a:pPr algn="ct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Palpites</a:t>
            </a:r>
            <a:endParaRPr lang="en-US" sz="1400" dirty="0"/>
          </a:p>
        </p:txBody>
      </p:sp>
      <p:pic>
        <p:nvPicPr>
          <p:cNvPr id="10" name="Image 1" descr="arrow-right">    </p:cNvPr>
          <p:cNvPicPr>
            <a:picLocks noChangeAspect="1"/>
          </p:cNvPicPr>
          <p:nvPr/>
        </p:nvPicPr>
        <p:blipFill>
          <a:blip r:embed="rId2"/>
          <a:srcRect l="0" r="0" t="0" b="0"/>
          <a:stretch/>
        </p:blipFill>
        <p:spPr>
          <a:xfrm>
            <a:off x="4917440" y="2882900"/>
            <a:ext cx="254000" cy="152400"/>
          </a:xfrm>
          <a:prstGeom prst="rect">
            <a:avLst/>
          </a:prstGeom>
        </p:spPr>
      </p:pic>
      <p:sp>
        <p:nvSpPr>
          <p:cNvPr id="11" name="Text 7"/>
          <p:cNvSpPr/>
          <p:nvPr/>
        </p:nvSpPr>
        <p:spPr>
          <a:xfrm>
            <a:off x="5273040" y="2707655"/>
            <a:ext cx="1645920" cy="502920"/>
          </a:xfrm>
          <a:prstGeom prst="roundRect">
            <a:avLst>
              <a:gd name="adj" fmla="val 12626"/>
            </a:avLst>
          </a:prstGeom>
          <a:solidFill>
            <a:srgbClr val="1B212C"/>
          </a:solidFill>
          <a:ln/>
        </p:spPr>
        <p:txBody>
          <a:bodyPr wrap="square" lIns="32201" tIns="108401" rIns="32201" bIns="83001" rtlCol="0" anchor="t">
            <a:normAutofit/>
          </a:bodyPr>
          <a:lstStyle/>
          <a:p>
            <a:pPr algn="ct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Logs</a:t>
            </a:r>
            <a:endParaRPr lang="en-US" sz="1400" dirty="0"/>
          </a:p>
        </p:txBody>
      </p:sp>
      <p:pic>
        <p:nvPicPr>
          <p:cNvPr id="12" name="Image 2" descr="arrow-right">    </p:cNvPr>
          <p:cNvPicPr>
            <a:picLocks noChangeAspect="1"/>
          </p:cNvPicPr>
          <p:nvPr/>
        </p:nvPicPr>
        <p:blipFill>
          <a:blip r:embed="rId3"/>
          <a:srcRect l="0" r="0" t="0" b="0"/>
          <a:stretch/>
        </p:blipFill>
        <p:spPr>
          <a:xfrm>
            <a:off x="7020560" y="2882900"/>
            <a:ext cx="254000" cy="152400"/>
          </a:xfrm>
          <a:prstGeom prst="rect">
            <a:avLst/>
          </a:prstGeom>
        </p:spPr>
      </p:pic>
      <p:sp>
        <p:nvSpPr>
          <p:cNvPr id="13" name="Text 8"/>
          <p:cNvSpPr/>
          <p:nvPr/>
        </p:nvSpPr>
        <p:spPr>
          <a:xfrm>
            <a:off x="7376160" y="2707655"/>
            <a:ext cx="1645920" cy="502920"/>
          </a:xfrm>
          <a:prstGeom prst="roundRect">
            <a:avLst>
              <a:gd name="adj" fmla="val 12626"/>
            </a:avLst>
          </a:prstGeom>
          <a:solidFill>
            <a:srgbClr val="1B212C"/>
          </a:solidFill>
          <a:ln/>
        </p:spPr>
        <p:txBody>
          <a:bodyPr wrap="square" lIns="32201" tIns="108401" rIns="32201" bIns="83001" rtlCol="0" anchor="t">
            <a:normAutofit/>
          </a:bodyPr>
          <a:lstStyle/>
          <a:p>
            <a:pPr algn="ct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Reproduzir</a:t>
            </a:r>
            <a:endParaRPr lang="en-US" sz="1400" dirty="0"/>
          </a:p>
        </p:txBody>
      </p:sp>
      <p:pic>
        <p:nvPicPr>
          <p:cNvPr id="14" name="Image 3" descr="arrow-right">    </p:cNvPr>
          <p:cNvPicPr>
            <a:picLocks noChangeAspect="1"/>
          </p:cNvPicPr>
          <p:nvPr/>
        </p:nvPicPr>
        <p:blipFill>
          <a:blip r:embed="rId4"/>
          <a:srcRect l="0" r="0" t="0" b="0"/>
          <a:stretch/>
        </p:blipFill>
        <p:spPr>
          <a:xfrm>
            <a:off x="9123680" y="2882900"/>
            <a:ext cx="254000" cy="152400"/>
          </a:xfrm>
          <a:prstGeom prst="rect">
            <a:avLst/>
          </a:prstGeom>
        </p:spPr>
      </p:pic>
      <p:sp>
        <p:nvSpPr>
          <p:cNvPr id="15" name="Text 9"/>
          <p:cNvSpPr/>
          <p:nvPr/>
        </p:nvSpPr>
        <p:spPr>
          <a:xfrm>
            <a:off x="9479280" y="2707655"/>
            <a:ext cx="1645920" cy="502920"/>
          </a:xfrm>
          <a:prstGeom prst="roundRect">
            <a:avLst>
              <a:gd name="adj" fmla="val 12626"/>
            </a:avLst>
          </a:prstGeom>
          <a:solidFill>
            <a:srgbClr val="1B212C"/>
          </a:solidFill>
          <a:ln/>
        </p:spPr>
        <p:txBody>
          <a:bodyPr wrap="square" lIns="32201" tIns="108401" rIns="32201" bIns="83001" rtlCol="0" anchor="t">
            <a:normAutofit/>
          </a:bodyPr>
          <a:lstStyle/>
          <a:p>
            <a:pPr algn="ctr" indent="0" marL="0">
              <a:lnSpc>
                <a:spcPts val="1960"/>
              </a:lnSpc>
              <a:buNone/>
            </a:pPr>
            <a:r>
              <a:rPr lang="en-US" sz="1400" dirty="0">
                <a:solidFill>
                  <a:srgbClr val="F3F0E8"/>
                </a:solidFill>
                <a:latin typeface="IBM Plex Sans" pitchFamily="34" charset="0"/>
                <a:ea typeface="IBM Plex Sans" pitchFamily="34" charset="-122"/>
                <a:cs typeface="IBM Plex Sans" pitchFamily="34" charset="-120"/>
              </a:rPr>
              <a:t>Causa</a:t>
            </a:r>
            <a:endParaRPr lang="en-US" sz="1400" dirty="0"/>
          </a:p>
        </p:txBody>
      </p:sp>
      <p:sp>
        <p:nvSpPr>
          <p:cNvPr id="16" name="Shape 10"/>
          <p:cNvSpPr/>
          <p:nvPr/>
        </p:nvSpPr>
        <p:spPr>
          <a:xfrm>
            <a:off x="819150" y="3750320"/>
            <a:ext cx="10553700" cy="1511300"/>
          </a:xfrm>
          <a:prstGeom prst="roundRect">
            <a:avLst>
              <a:gd name="adj" fmla="val 6303"/>
            </a:avLst>
          </a:prstGeom>
          <a:solidFill>
            <a:srgbClr val="FBFAF6"/>
          </a:solidFill>
          <a:ln w="12700">
            <a:solidFill>
              <a:srgbClr val="0F766E"/>
            </a:solidFill>
            <a:prstDash val="solid"/>
          </a:ln>
        </p:spPr>
      </p:sp>
      <p:sp>
        <p:nvSpPr>
          <p:cNvPr id="17" name="Text 11"/>
          <p:cNvSpPr/>
          <p:nvPr/>
        </p:nvSpPr>
        <p:spPr>
          <a:xfrm>
            <a:off x="1076960" y="4010670"/>
            <a:ext cx="186585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Com tracing</a:t>
            </a:r>
            <a:endParaRPr lang="en-US" sz="2200" dirty="0"/>
          </a:p>
        </p:txBody>
      </p:sp>
      <p:sp>
        <p:nvSpPr>
          <p:cNvPr id="18" name="Text 12"/>
          <p:cNvSpPr/>
          <p:nvPr/>
        </p:nvSpPr>
        <p:spPr>
          <a:xfrm>
            <a:off x="9505601" y="3982715"/>
            <a:ext cx="1609439" cy="416560"/>
          </a:xfrm>
          <a:prstGeom prst="rect">
            <a:avLst/>
          </a:prstGeom>
          <a:noFill/>
          <a:ln/>
        </p:spPr>
        <p:txBody>
          <a:bodyPr wrap="square" lIns="0" tIns="0" rIns="0" bIns="0" rtlCol="0" anchor="t">
            <a:normAutofit/>
          </a:bodyPr>
          <a:lstStyle/>
          <a:p>
            <a:pPr algn="r" indent="0" marL="0">
              <a:lnSpc>
                <a:spcPts val="3080"/>
              </a:lnSpc>
              <a:buNone/>
            </a:pPr>
            <a:r>
              <a:rPr lang="en-US" sz="2200" b="1" dirty="0">
                <a:solidFill>
                  <a:srgbClr val="0F766E"/>
                </a:solidFill>
                <a:latin typeface="JetBrains Mono" pitchFamily="49" charset="0"/>
                <a:ea typeface="JetBrains Mono" pitchFamily="49" charset="-122"/>
                <a:cs typeface="JetBrains Mono" pitchFamily="49" charset="-120"/>
              </a:rPr>
              <a:t>[__ min]</a:t>
            </a:r>
            <a:endParaRPr lang="en-US" sz="2200" dirty="0"/>
          </a:p>
        </p:txBody>
      </p:sp>
      <p:sp>
        <p:nvSpPr>
          <p:cNvPr id="19" name="Text 13"/>
          <p:cNvSpPr/>
          <p:nvPr/>
        </p:nvSpPr>
        <p:spPr>
          <a:xfrm>
            <a:off x="1076960" y="4526285"/>
            <a:ext cx="3041174" cy="502920"/>
          </a:xfrm>
          <a:prstGeom prst="roundRect">
            <a:avLst>
              <a:gd name="adj" fmla="val 12626"/>
            </a:avLst>
          </a:prstGeom>
          <a:solidFill>
            <a:srgbClr val="E4DFD2"/>
          </a:solidFill>
          <a:ln/>
        </p:spPr>
        <p:txBody>
          <a:bodyPr wrap="square" lIns="14270" tIns="108401" rIns="14270" bIns="83001" rtlCol="0" anchor="t">
            <a:normAutofit/>
          </a:bodyPr>
          <a:lstStyle/>
          <a:p>
            <a:pPr algn="ctr"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Alerta</a:t>
            </a:r>
            <a:endParaRPr lang="en-US" sz="1400" dirty="0"/>
          </a:p>
        </p:txBody>
      </p:sp>
      <p:pic>
        <p:nvPicPr>
          <p:cNvPr id="20" name="Image 4" descr="arrow-right">    </p:cNvPr>
          <p:cNvPicPr>
            <a:picLocks noChangeAspect="1"/>
          </p:cNvPicPr>
          <p:nvPr/>
        </p:nvPicPr>
        <p:blipFill>
          <a:blip r:embed="rId5"/>
          <a:srcRect l="0" r="0" t="0" b="0"/>
          <a:stretch/>
        </p:blipFill>
        <p:spPr>
          <a:xfrm>
            <a:off x="4219734" y="4701555"/>
            <a:ext cx="254000" cy="152400"/>
          </a:xfrm>
          <a:prstGeom prst="rect">
            <a:avLst/>
          </a:prstGeom>
        </p:spPr>
      </p:pic>
      <p:sp>
        <p:nvSpPr>
          <p:cNvPr id="21" name="Text 14"/>
          <p:cNvSpPr/>
          <p:nvPr/>
        </p:nvSpPr>
        <p:spPr>
          <a:xfrm>
            <a:off x="4575334" y="4526285"/>
            <a:ext cx="3041253" cy="502920"/>
          </a:xfrm>
          <a:prstGeom prst="roundRect">
            <a:avLst>
              <a:gd name="adj" fmla="val 12626"/>
            </a:avLst>
          </a:prstGeom>
          <a:solidFill>
            <a:srgbClr val="E4DFD2"/>
          </a:solidFill>
          <a:ln/>
        </p:spPr>
        <p:txBody>
          <a:bodyPr wrap="square" lIns="14269" tIns="108401" rIns="14269" bIns="83001" rtlCol="0" anchor="t">
            <a:normAutofit/>
          </a:bodyPr>
          <a:lstStyle/>
          <a:p>
            <a:pPr algn="ctr"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Abrir o trace</a:t>
            </a:r>
            <a:endParaRPr lang="en-US" sz="1400" dirty="0"/>
          </a:p>
        </p:txBody>
      </p:sp>
      <p:pic>
        <p:nvPicPr>
          <p:cNvPr id="22" name="Image 5" descr="arrow-right">    </p:cNvPr>
          <p:cNvPicPr>
            <a:picLocks noChangeAspect="1"/>
          </p:cNvPicPr>
          <p:nvPr/>
        </p:nvPicPr>
        <p:blipFill>
          <a:blip r:embed="rId6"/>
          <a:srcRect l="0" r="0" t="0" b="0"/>
          <a:stretch/>
        </p:blipFill>
        <p:spPr>
          <a:xfrm>
            <a:off x="7718187" y="4701555"/>
            <a:ext cx="254000" cy="152400"/>
          </a:xfrm>
          <a:prstGeom prst="rect">
            <a:avLst/>
          </a:prstGeom>
        </p:spPr>
      </p:pic>
      <p:sp>
        <p:nvSpPr>
          <p:cNvPr id="23" name="Text 15"/>
          <p:cNvSpPr/>
          <p:nvPr/>
        </p:nvSpPr>
        <p:spPr>
          <a:xfrm>
            <a:off x="8073787" y="4526285"/>
            <a:ext cx="3041253" cy="502920"/>
          </a:xfrm>
          <a:prstGeom prst="roundRect">
            <a:avLst>
              <a:gd name="adj" fmla="val 12626"/>
            </a:avLst>
          </a:prstGeom>
          <a:solidFill>
            <a:srgbClr val="E4DFD2"/>
          </a:solidFill>
          <a:ln/>
        </p:spPr>
        <p:txBody>
          <a:bodyPr wrap="square" lIns="14269" tIns="108401" rIns="14269" bIns="83001" rtlCol="0" anchor="t">
            <a:normAutofit/>
          </a:bodyPr>
          <a:lstStyle/>
          <a:p>
            <a:pPr algn="ctr" indent="0" marL="0">
              <a:lnSpc>
                <a:spcPts val="1960"/>
              </a:lnSpc>
              <a:buNone/>
            </a:pPr>
            <a:r>
              <a:rPr lang="en-US" sz="1400" dirty="0">
                <a:solidFill>
                  <a:srgbClr val="11141B"/>
                </a:solidFill>
                <a:latin typeface="IBM Plex Sans" pitchFamily="34" charset="0"/>
                <a:ea typeface="IBM Plex Sans" pitchFamily="34" charset="-122"/>
                <a:cs typeface="IBM Plex Sans" pitchFamily="34" charset="-120"/>
              </a:rPr>
              <a:t>Causa</a:t>
            </a:r>
            <a:endParaRPr lang="en-US" sz="1400" dirty="0"/>
          </a:p>
        </p:txBody>
      </p:sp>
      <p:sp>
        <p:nvSpPr>
          <p:cNvPr id="24" name="Text 16"/>
          <p:cNvSpPr/>
          <p:nvPr/>
        </p:nvSpPr>
        <p:spPr>
          <a:xfrm>
            <a:off x="812800" y="6238255"/>
            <a:ext cx="981075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Business case · Valores entre colchetes: troque pelos números do seu time ou pergunte à plateia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BUSINESS CASE</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Os dois custos</a:t>
            </a:r>
            <a:endParaRPr lang="en-US" sz="3600" dirty="0"/>
          </a:p>
        </p:txBody>
      </p:sp>
      <p:sp>
        <p:nvSpPr>
          <p:cNvPr id="4" name="Shape 2"/>
          <p:cNvSpPr/>
          <p:nvPr/>
        </p:nvSpPr>
        <p:spPr>
          <a:xfrm>
            <a:off x="812800" y="1986285"/>
            <a:ext cx="5181600" cy="1899920"/>
          </a:xfrm>
          <a:prstGeom prst="roundRect">
            <a:avLst>
              <a:gd name="adj" fmla="val 5348"/>
            </a:avLst>
          </a:prstGeom>
          <a:solidFill>
            <a:srgbClr val="1B212C"/>
          </a:solidFill>
          <a:ln/>
        </p:spPr>
      </p:sp>
      <p:sp>
        <p:nvSpPr>
          <p:cNvPr id="5" name="Text 3"/>
          <p:cNvSpPr/>
          <p:nvPr/>
        </p:nvSpPr>
        <p:spPr>
          <a:xfrm>
            <a:off x="1092200" y="2265685"/>
            <a:ext cx="47614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7A3D"/>
                </a:solidFill>
                <a:latin typeface="IBM Plex Sans" pitchFamily="34" charset="0"/>
                <a:ea typeface="IBM Plex Sans" pitchFamily="34" charset="-122"/>
                <a:cs typeface="IBM Plex Sans" pitchFamily="34" charset="-120"/>
              </a:rPr>
              <a:t>Custo de não observar</a:t>
            </a:r>
            <a:endParaRPr lang="en-US" sz="2200" dirty="0"/>
          </a:p>
        </p:txBody>
      </p:sp>
      <p:sp>
        <p:nvSpPr>
          <p:cNvPr id="6" name="Text 4"/>
          <p:cNvSpPr/>
          <p:nvPr/>
        </p:nvSpPr>
        <p:spPr>
          <a:xfrm>
            <a:off x="1149858" y="2753370"/>
            <a:ext cx="4696206" cy="87884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Horas de engenharia gastas em palpite</a:t>
            </a:r>
            <a:endParaRPr lang="en-US" sz="1600" dirty="0"/>
          </a:p>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Servidor maior para esconder código lento</a:t>
            </a:r>
            <a:endParaRPr lang="en-US" sz="1600" dirty="0"/>
          </a:p>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Cliente que percebe antes de você</a:t>
            </a:r>
            <a:endParaRPr lang="en-US" sz="1600" dirty="0"/>
          </a:p>
        </p:txBody>
      </p:sp>
      <p:sp>
        <p:nvSpPr>
          <p:cNvPr id="7" name="Shape 5"/>
          <p:cNvSpPr/>
          <p:nvPr/>
        </p:nvSpPr>
        <p:spPr>
          <a:xfrm>
            <a:off x="6197600" y="1986285"/>
            <a:ext cx="5181600" cy="1899920"/>
          </a:xfrm>
          <a:prstGeom prst="roundRect">
            <a:avLst>
              <a:gd name="adj" fmla="val 5348"/>
            </a:avLst>
          </a:prstGeom>
          <a:solidFill>
            <a:srgbClr val="1B212C"/>
          </a:solidFill>
          <a:ln/>
        </p:spPr>
      </p:sp>
      <p:sp>
        <p:nvSpPr>
          <p:cNvPr id="8" name="Text 6"/>
          <p:cNvSpPr/>
          <p:nvPr/>
        </p:nvSpPr>
        <p:spPr>
          <a:xfrm>
            <a:off x="6477000" y="2265685"/>
            <a:ext cx="4761484"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3CC8B4"/>
                </a:solidFill>
                <a:latin typeface="IBM Plex Sans" pitchFamily="34" charset="0"/>
                <a:ea typeface="IBM Plex Sans" pitchFamily="34" charset="-122"/>
                <a:cs typeface="IBM Plex Sans" pitchFamily="34" charset="-120"/>
              </a:rPr>
              <a:t>Custo de instrumentar</a:t>
            </a:r>
            <a:endParaRPr lang="en-US" sz="2200" dirty="0"/>
          </a:p>
        </p:txBody>
      </p:sp>
      <p:sp>
        <p:nvSpPr>
          <p:cNvPr id="9" name="Text 7"/>
          <p:cNvSpPr/>
          <p:nvPr/>
        </p:nvSpPr>
        <p:spPr>
          <a:xfrm>
            <a:off x="6534658" y="2753370"/>
            <a:ext cx="4696206" cy="878840"/>
          </a:xfrm>
          <a:prstGeom prst="rect">
            <a:avLst/>
          </a:prstGeom>
          <a:noFill/>
          <a:ln/>
        </p:spPr>
        <p:txBody>
          <a:bodyPr wrap="square" lIns="0" tIns="0" rIns="0" bIns="0" rtlCol="0" anchor="t">
            <a:normAutofit/>
          </a:bodyPr>
          <a:lstStyle/>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Uma extensão e alguns pacotes</a:t>
            </a:r>
            <a:endParaRPr lang="en-US" sz="1600" dirty="0"/>
          </a:p>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Volume de dados para armazenar</a:t>
            </a:r>
            <a:endParaRPr lang="en-US" sz="1600" dirty="0"/>
          </a:p>
          <a:p>
            <a:pPr algn="l" marL="196342" indent="-196342">
              <a:lnSpc>
                <a:spcPts val="2240"/>
              </a:lnSpc>
              <a:buSzPct val="100000"/>
              <a:buChar char="•"/>
            </a:pPr>
            <a:r>
              <a:rPr lang="en-US" sz="1600" dirty="0">
                <a:solidFill>
                  <a:srgbClr val="F3F0E8"/>
                </a:solidFill>
                <a:latin typeface="IBM Plex Sans" pitchFamily="34" charset="0"/>
                <a:ea typeface="IBM Plex Sans" pitchFamily="34" charset="-122"/>
                <a:cs typeface="IBM Plex Sans" pitchFamily="34" charset="-120"/>
              </a:rPr>
              <a:t>Amostragem para segurar a conta</a:t>
            </a:r>
            <a:endParaRPr lang="en-US" sz="1600" dirty="0"/>
          </a:p>
        </p:txBody>
      </p:sp>
      <p:sp>
        <p:nvSpPr>
          <p:cNvPr id="10" name="Text 8"/>
          <p:cNvSpPr/>
          <p:nvPr/>
        </p:nvSpPr>
        <p:spPr>
          <a:xfrm>
            <a:off x="812800" y="4241800"/>
            <a:ext cx="10883392" cy="29972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Observabilidade também custa. A diferença é que você escolhe quanto, e vê o retorno.</a:t>
            </a:r>
            <a:endParaRPr lang="en-US" sz="1600" dirty="0"/>
          </a:p>
        </p:txBody>
      </p:sp>
      <p:sp>
        <p:nvSpPr>
          <p:cNvPr id="11" name="Text 9"/>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Business case · Custo de não observar versus custo de instrumentar</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7A3D"/>
        </a:solidFill>
      </p:bgPr>
    </p:bg>
    <p:spTree>
      <p:nvGrpSpPr>
        <p:cNvPr id="1" name=""/>
        <p:cNvGrpSpPr/>
        <p:nvPr/>
      </p:nvGrpSpPr>
      <p:grpSpPr>
        <a:xfrm>
          <a:off x="0" y="0"/>
          <a:ext cx="0" cy="0"/>
          <a:chOff x="0" y="0"/>
          <a:chExt cx="0" cy="0"/>
        </a:xfrm>
      </p:grpSpPr>
      <p:sp>
        <p:nvSpPr>
          <p:cNvPr id="2" name="Text 0"/>
          <p:cNvSpPr/>
          <p:nvPr/>
        </p:nvSpPr>
        <p:spPr>
          <a:xfrm>
            <a:off x="812800" y="23545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11141B"/>
                </a:solidFill>
                <a:latin typeface="JetBrains Mono" pitchFamily="49" charset="0"/>
                <a:ea typeface="JetBrains Mono" pitchFamily="49" charset="-122"/>
                <a:cs typeface="JetBrains Mono" pitchFamily="49" charset="-120"/>
              </a:rPr>
              <a:t>PARA LEVAR</a:t>
            </a:r>
            <a:endParaRPr lang="en-US" sz="1400" dirty="0"/>
          </a:p>
        </p:txBody>
      </p:sp>
      <p:sp>
        <p:nvSpPr>
          <p:cNvPr id="3" name="Text 1"/>
          <p:cNvSpPr/>
          <p:nvPr>
            <p:ph type="title"/>
          </p:nvPr>
        </p:nvSpPr>
        <p:spPr>
          <a:xfrm>
            <a:off x="812800" y="2959100"/>
            <a:ext cx="10883392" cy="1366520"/>
          </a:xfrm>
          <a:prstGeom prst="rect">
            <a:avLst/>
          </a:prstGeom>
          <a:noFill/>
          <a:ln/>
        </p:spPr>
        <p:txBody>
          <a:bodyPr wrap="square" lIns="0" tIns="0" rIns="0" bIns="0" rtlCol="0" anchor="t">
            <a:normAutofit/>
          </a:bodyPr>
          <a:lstStyle/>
          <a:p>
            <a:pPr algn="l" indent="0" marL="0">
              <a:lnSpc>
                <a:spcPts val="5280"/>
              </a:lnSpc>
              <a:buNone/>
            </a:pPr>
            <a:r>
              <a:rPr lang="en-US" sz="4800" b="1" i="0" dirty="0">
                <a:solidFill>
                  <a:srgbClr val="11141B"/>
                </a:solidFill>
                <a:latin typeface="IBM Plex Sans" pitchFamily="34" charset="0"/>
                <a:ea typeface="IBM Plex Sans" pitchFamily="34" charset="-122"/>
                <a:cs typeface="IBM Plex Sans" pitchFamily="34" charset="-120"/>
              </a:rPr>
              <a:t>Observabilidade não é custo. É seguro contra horas de war rooms.</a:t>
            </a:r>
            <a:endParaRPr lang="en-US" sz="4800" dirty="0"/>
          </a:p>
        </p:txBody>
      </p:sp>
      <p:sp>
        <p:nvSpPr>
          <p:cNvPr id="4" name="Text 2"/>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1141B"/>
                </a:solidFill>
                <a:latin typeface="IBM Plex Sans" pitchFamily="34" charset="0"/>
                <a:ea typeface="IBM Plex Sans" pitchFamily="34" charset="-122"/>
                <a:cs typeface="IBM Plex Sans" pitchFamily="34" charset="-120"/>
              </a:rPr>
              <a:t>Business case · Resumo</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3F0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C2410C"/>
                </a:solidFill>
                <a:latin typeface="JetBrains Mono" pitchFamily="49" charset="0"/>
                <a:ea typeface="JetBrains Mono" pitchFamily="49" charset="-122"/>
                <a:cs typeface="JetBrains Mono" pitchFamily="49" charset="-120"/>
              </a:rPr>
              <a:t>ENCERRAMENTO</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11141B"/>
                </a:solidFill>
                <a:latin typeface="IBM Plex Sans" pitchFamily="34" charset="0"/>
                <a:ea typeface="IBM Plex Sans" pitchFamily="34" charset="-122"/>
                <a:cs typeface="IBM Plex Sans" pitchFamily="34" charset="-120"/>
              </a:rPr>
              <a:t>Comece pequeno: três passos</a:t>
            </a:r>
            <a:endParaRPr lang="en-US" sz="3600" dirty="0"/>
          </a:p>
        </p:txBody>
      </p:sp>
      <p:sp>
        <p:nvSpPr>
          <p:cNvPr id="4" name="Shape 2"/>
          <p:cNvSpPr/>
          <p:nvPr/>
        </p:nvSpPr>
        <p:spPr>
          <a:xfrm>
            <a:off x="815975" y="1989460"/>
            <a:ext cx="3383677" cy="1990090"/>
          </a:xfrm>
          <a:prstGeom prst="roundRect">
            <a:avLst>
              <a:gd name="adj" fmla="val 4946"/>
            </a:avLst>
          </a:prstGeom>
          <a:solidFill>
            <a:srgbClr val="FBFAF6"/>
          </a:solidFill>
          <a:ln w="6350">
            <a:solidFill>
              <a:srgbClr val="DAD5C8"/>
            </a:solidFill>
            <a:prstDash val="solid"/>
          </a:ln>
        </p:spPr>
      </p:sp>
      <p:sp>
        <p:nvSpPr>
          <p:cNvPr id="5" name="Text 3"/>
          <p:cNvSpPr/>
          <p:nvPr/>
        </p:nvSpPr>
        <p:spPr>
          <a:xfrm>
            <a:off x="1071880" y="2245370"/>
            <a:ext cx="295802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JetBrains Mono" pitchFamily="49" charset="0"/>
                <a:ea typeface="JetBrains Mono" pitchFamily="49" charset="-122"/>
                <a:cs typeface="JetBrains Mono" pitchFamily="49" charset="-120"/>
              </a:rPr>
              <a:t>1</a:t>
            </a:r>
            <a:endParaRPr lang="en-US" sz="2200" dirty="0"/>
          </a:p>
        </p:txBody>
      </p:sp>
      <p:sp>
        <p:nvSpPr>
          <p:cNvPr id="6" name="Text 4"/>
          <p:cNvSpPr/>
          <p:nvPr/>
        </p:nvSpPr>
        <p:spPr>
          <a:xfrm>
            <a:off x="1071880" y="2738115"/>
            <a:ext cx="295802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Instale</a:t>
            </a:r>
            <a:endParaRPr lang="en-US" sz="2200" dirty="0"/>
          </a:p>
        </p:txBody>
      </p:sp>
      <p:sp>
        <p:nvSpPr>
          <p:cNvPr id="7" name="Text 5"/>
          <p:cNvSpPr/>
          <p:nvPr/>
        </p:nvSpPr>
        <p:spPr>
          <a:xfrm>
            <a:off x="1071880" y="3175000"/>
            <a:ext cx="295802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Extensão, SDK e o pacote do seu framework, em staging.</a:t>
            </a:r>
            <a:endParaRPr lang="en-US" sz="1600" dirty="0"/>
          </a:p>
        </p:txBody>
      </p:sp>
      <p:sp>
        <p:nvSpPr>
          <p:cNvPr id="8" name="Shape 6"/>
          <p:cNvSpPr/>
          <p:nvPr/>
        </p:nvSpPr>
        <p:spPr>
          <a:xfrm>
            <a:off x="4409202" y="1989460"/>
            <a:ext cx="3383756" cy="1990090"/>
          </a:xfrm>
          <a:prstGeom prst="roundRect">
            <a:avLst>
              <a:gd name="adj" fmla="val 4946"/>
            </a:avLst>
          </a:prstGeom>
          <a:solidFill>
            <a:srgbClr val="FBFAF6"/>
          </a:solidFill>
          <a:ln w="6350">
            <a:solidFill>
              <a:srgbClr val="DAD5C8"/>
            </a:solidFill>
            <a:prstDash val="solid"/>
          </a:ln>
        </p:spPr>
      </p:sp>
      <p:sp>
        <p:nvSpPr>
          <p:cNvPr id="9" name="Text 7"/>
          <p:cNvSpPr/>
          <p:nvPr/>
        </p:nvSpPr>
        <p:spPr>
          <a:xfrm>
            <a:off x="4665107" y="2245370"/>
            <a:ext cx="2958105"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C2410C"/>
                </a:solidFill>
                <a:latin typeface="JetBrains Mono" pitchFamily="49" charset="0"/>
                <a:ea typeface="JetBrains Mono" pitchFamily="49" charset="-122"/>
                <a:cs typeface="JetBrains Mono" pitchFamily="49" charset="-120"/>
              </a:rPr>
              <a:t>2</a:t>
            </a:r>
            <a:endParaRPr lang="en-US" sz="2200" dirty="0"/>
          </a:p>
        </p:txBody>
      </p:sp>
      <p:sp>
        <p:nvSpPr>
          <p:cNvPr id="10" name="Text 8"/>
          <p:cNvSpPr/>
          <p:nvPr/>
        </p:nvSpPr>
        <p:spPr>
          <a:xfrm>
            <a:off x="4665107" y="2738115"/>
            <a:ext cx="2958105"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Um dashboard</a:t>
            </a:r>
            <a:endParaRPr lang="en-US" sz="2200" dirty="0"/>
          </a:p>
        </p:txBody>
      </p:sp>
      <p:sp>
        <p:nvSpPr>
          <p:cNvPr id="11" name="Text 9"/>
          <p:cNvSpPr/>
          <p:nvPr/>
        </p:nvSpPr>
        <p:spPr>
          <a:xfrm>
            <a:off x="4665107" y="3175000"/>
            <a:ext cx="2958105"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4A5568"/>
                </a:solidFill>
                <a:latin typeface="IBM Plex Sans" pitchFamily="34" charset="0"/>
                <a:ea typeface="IBM Plex Sans" pitchFamily="34" charset="-122"/>
                <a:cs typeface="IBM Plex Sans" pitchFamily="34" charset="-120"/>
              </a:rPr>
              <a:t>Latência por endpoint e a lista dos traces mais lentos.</a:t>
            </a:r>
            <a:endParaRPr lang="en-US" sz="1600" dirty="0"/>
          </a:p>
        </p:txBody>
      </p:sp>
      <p:sp>
        <p:nvSpPr>
          <p:cNvPr id="12" name="Shape 10"/>
          <p:cNvSpPr/>
          <p:nvPr/>
        </p:nvSpPr>
        <p:spPr>
          <a:xfrm>
            <a:off x="7999333" y="1986285"/>
            <a:ext cx="3379867" cy="1996440"/>
          </a:xfrm>
          <a:prstGeom prst="roundRect">
            <a:avLst>
              <a:gd name="adj" fmla="val 5089"/>
            </a:avLst>
          </a:prstGeom>
          <a:solidFill>
            <a:srgbClr val="11141B"/>
          </a:solidFill>
          <a:ln/>
        </p:spPr>
      </p:sp>
      <p:sp>
        <p:nvSpPr>
          <p:cNvPr id="13" name="Text 11"/>
          <p:cNvSpPr/>
          <p:nvPr/>
        </p:nvSpPr>
        <p:spPr>
          <a:xfrm>
            <a:off x="8253333" y="2240285"/>
            <a:ext cx="2958023" cy="41656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3CC8B4"/>
                </a:solidFill>
                <a:latin typeface="JetBrains Mono" pitchFamily="49" charset="0"/>
                <a:ea typeface="JetBrains Mono" pitchFamily="49" charset="-122"/>
                <a:cs typeface="JetBrains Mono" pitchFamily="49" charset="-120"/>
              </a:rPr>
              <a:t>3</a:t>
            </a:r>
            <a:endParaRPr lang="en-US" sz="2200" dirty="0"/>
          </a:p>
        </p:txBody>
      </p:sp>
      <p:sp>
        <p:nvSpPr>
          <p:cNvPr id="14" name="Text 12"/>
          <p:cNvSpPr/>
          <p:nvPr/>
        </p:nvSpPr>
        <p:spPr>
          <a:xfrm>
            <a:off x="8253333" y="2733055"/>
            <a:ext cx="2958023"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3F0E8"/>
                </a:solidFill>
                <a:latin typeface="IBM Plex Sans" pitchFamily="34" charset="0"/>
                <a:ea typeface="IBM Plex Sans" pitchFamily="34" charset="-122"/>
                <a:cs typeface="IBM Plex Sans" pitchFamily="34" charset="-120"/>
              </a:rPr>
              <a:t>Um alerta</a:t>
            </a:r>
            <a:endParaRPr lang="en-US" sz="2200" dirty="0"/>
          </a:p>
        </p:txBody>
      </p:sp>
      <p:sp>
        <p:nvSpPr>
          <p:cNvPr id="15" name="Text 13"/>
          <p:cNvSpPr/>
          <p:nvPr/>
        </p:nvSpPr>
        <p:spPr>
          <a:xfrm>
            <a:off x="8253333" y="3169915"/>
            <a:ext cx="2958023" cy="574040"/>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BFC7D5"/>
                </a:solidFill>
                <a:latin typeface="IBM Plex Sans" pitchFamily="34" charset="0"/>
                <a:ea typeface="IBM Plex Sans" pitchFamily="34" charset="-122"/>
                <a:cs typeface="IBM Plex Sans" pitchFamily="34" charset="-120"/>
              </a:rPr>
              <a:t>Só no endpoint mais crítico: latência alta ou erros.</a:t>
            </a:r>
            <a:endParaRPr lang="en-US" sz="1600" dirty="0"/>
          </a:p>
        </p:txBody>
      </p:sp>
      <p:sp>
        <p:nvSpPr>
          <p:cNvPr id="16" name="Text 14"/>
          <p:cNvSpPr/>
          <p:nvPr/>
        </p:nvSpPr>
        <p:spPr>
          <a:xfrm>
            <a:off x="812800" y="4338315"/>
            <a:ext cx="10883392" cy="36068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1141B"/>
                </a:solidFill>
                <a:latin typeface="IBM Plex Sans" pitchFamily="34" charset="0"/>
                <a:ea typeface="IBM Plex Sans" pitchFamily="34" charset="-122"/>
                <a:cs typeface="IBM Plex Sans" pitchFamily="34" charset="-120"/>
              </a:rPr>
              <a:t>Não tente observar tudo de uma vez.</a:t>
            </a:r>
            <a:endParaRPr lang="en-US" sz="2200" dirty="0"/>
          </a:p>
        </p:txBody>
      </p:sp>
      <p:sp>
        <p:nvSpPr>
          <p:cNvPr id="17" name="Text 15"/>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B6472"/>
                </a:solidFill>
                <a:latin typeface="IBM Plex Sans" pitchFamily="34" charset="0"/>
                <a:ea typeface="IBM Plex Sans" pitchFamily="34" charset="-122"/>
                <a:cs typeface="IBM Plex Sans" pitchFamily="34" charset="-120"/>
              </a:rPr>
              <a:t>Encerramento · Primeiros passos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FF7A3D"/>
                </a:solidFill>
                <a:latin typeface="JetBrains Mono" pitchFamily="49" charset="0"/>
                <a:ea typeface="JetBrains Mono" pitchFamily="49" charset="-122"/>
                <a:cs typeface="JetBrains Mono" pitchFamily="49" charset="-120"/>
              </a:rPr>
              <a:t>ENCERRAMENTO</a:t>
            </a:r>
            <a:endParaRPr lang="en-US" sz="1200" dirty="0"/>
          </a:p>
        </p:txBody>
      </p:sp>
      <p:sp>
        <p:nvSpPr>
          <p:cNvPr id="3" name="Text 1"/>
          <p:cNvSpPr/>
          <p:nvPr>
            <p:ph type="title"/>
          </p:nvPr>
        </p:nvSpPr>
        <p:spPr>
          <a:xfrm>
            <a:off x="812800" y="112777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3F0E8"/>
                </a:solidFill>
                <a:latin typeface="IBM Plex Sans" pitchFamily="34" charset="0"/>
                <a:ea typeface="IBM Plex Sans" pitchFamily="34" charset="-122"/>
                <a:cs typeface="IBM Plex Sans" pitchFamily="34" charset="-120"/>
              </a:rPr>
              <a:t>Para continuar estudando</a:t>
            </a:r>
            <a:endParaRPr lang="en-US" sz="3600" dirty="0"/>
          </a:p>
        </p:txBody>
      </p:sp>
      <p:sp>
        <p:nvSpPr>
          <p:cNvPr id="4" name="Shape 2"/>
          <p:cNvSpPr/>
          <p:nvPr/>
        </p:nvSpPr>
        <p:spPr>
          <a:xfrm>
            <a:off x="812800" y="1935485"/>
            <a:ext cx="10566400" cy="589280"/>
          </a:xfrm>
          <a:prstGeom prst="roundRect">
            <a:avLst>
              <a:gd name="adj" fmla="val 12931"/>
            </a:avLst>
          </a:prstGeom>
          <a:solidFill>
            <a:srgbClr val="1B212C"/>
          </a:solidFill>
          <a:ln/>
        </p:spPr>
      </p:sp>
      <p:sp>
        <p:nvSpPr>
          <p:cNvPr id="5" name="Text 3"/>
          <p:cNvSpPr/>
          <p:nvPr/>
        </p:nvSpPr>
        <p:spPr>
          <a:xfrm>
            <a:off x="1016000" y="2087885"/>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Documentação oficial</a:t>
            </a:r>
            <a:endParaRPr lang="en-US" sz="1600" dirty="0"/>
          </a:p>
        </p:txBody>
      </p:sp>
      <p:sp>
        <p:nvSpPr>
          <p:cNvPr id="6" name="Text 4"/>
          <p:cNvSpPr/>
          <p:nvPr/>
        </p:nvSpPr>
        <p:spPr>
          <a:xfrm>
            <a:off x="3886200" y="2114550"/>
            <a:ext cx="7508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C8B4"/>
                </a:solidFill>
                <a:latin typeface="JetBrains Mono" pitchFamily="49" charset="0"/>
                <a:ea typeface="JetBrains Mono" pitchFamily="49" charset="-122"/>
                <a:cs typeface="JetBrains Mono" pitchFamily="49" charset="-120"/>
              </a:rPr>
              <a:t>opentelemetry.io/docs/languages/php</a:t>
            </a:r>
            <a:endParaRPr lang="en-US" sz="1300" dirty="0"/>
          </a:p>
        </p:txBody>
      </p:sp>
      <p:sp>
        <p:nvSpPr>
          <p:cNvPr id="7" name="Shape 5"/>
          <p:cNvSpPr/>
          <p:nvPr/>
        </p:nvSpPr>
        <p:spPr>
          <a:xfrm>
            <a:off x="812800" y="2651770"/>
            <a:ext cx="10566400" cy="589280"/>
          </a:xfrm>
          <a:prstGeom prst="roundRect">
            <a:avLst>
              <a:gd name="adj" fmla="val 12931"/>
            </a:avLst>
          </a:prstGeom>
          <a:solidFill>
            <a:srgbClr val="1B212C"/>
          </a:solidFill>
          <a:ln/>
        </p:spPr>
      </p:sp>
      <p:sp>
        <p:nvSpPr>
          <p:cNvPr id="8" name="Text 6"/>
          <p:cNvSpPr/>
          <p:nvPr/>
        </p:nvSpPr>
        <p:spPr>
          <a:xfrm>
            <a:off x="1016000" y="2804170"/>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SDK e exemplos</a:t>
            </a:r>
            <a:endParaRPr lang="en-US" sz="1600" dirty="0"/>
          </a:p>
        </p:txBody>
      </p:sp>
      <p:sp>
        <p:nvSpPr>
          <p:cNvPr id="9" name="Text 7"/>
          <p:cNvSpPr/>
          <p:nvPr/>
        </p:nvSpPr>
        <p:spPr>
          <a:xfrm>
            <a:off x="3886200" y="2830835"/>
            <a:ext cx="7508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C8B4"/>
                </a:solidFill>
                <a:latin typeface="JetBrains Mono" pitchFamily="49" charset="0"/>
                <a:ea typeface="JetBrains Mono" pitchFamily="49" charset="-122"/>
                <a:cs typeface="JetBrains Mono" pitchFamily="49" charset="-120"/>
              </a:rPr>
              <a:t>github.com/open-telemetry/opentelemetry-php</a:t>
            </a:r>
            <a:endParaRPr lang="en-US" sz="1300" dirty="0"/>
          </a:p>
        </p:txBody>
      </p:sp>
      <p:sp>
        <p:nvSpPr>
          <p:cNvPr id="10" name="Shape 8"/>
          <p:cNvSpPr/>
          <p:nvPr/>
        </p:nvSpPr>
        <p:spPr>
          <a:xfrm>
            <a:off x="812800" y="3368055"/>
            <a:ext cx="10566400" cy="589280"/>
          </a:xfrm>
          <a:prstGeom prst="roundRect">
            <a:avLst>
              <a:gd name="adj" fmla="val 12931"/>
            </a:avLst>
          </a:prstGeom>
          <a:solidFill>
            <a:srgbClr val="1B212C"/>
          </a:solidFill>
          <a:ln/>
        </p:spPr>
      </p:sp>
      <p:sp>
        <p:nvSpPr>
          <p:cNvPr id="11" name="Text 9"/>
          <p:cNvSpPr/>
          <p:nvPr/>
        </p:nvSpPr>
        <p:spPr>
          <a:xfrm>
            <a:off x="1016000" y="3520455"/>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Instrumentações</a:t>
            </a:r>
            <a:endParaRPr lang="en-US" sz="1600" dirty="0"/>
          </a:p>
        </p:txBody>
      </p:sp>
      <p:sp>
        <p:nvSpPr>
          <p:cNvPr id="12" name="Text 10"/>
          <p:cNvSpPr/>
          <p:nvPr/>
        </p:nvSpPr>
        <p:spPr>
          <a:xfrm>
            <a:off x="3886200" y="3547120"/>
            <a:ext cx="7508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C8B4"/>
                </a:solidFill>
                <a:latin typeface="JetBrains Mono" pitchFamily="49" charset="0"/>
                <a:ea typeface="JetBrains Mono" pitchFamily="49" charset="-122"/>
                <a:cs typeface="JetBrains Mono" pitchFamily="49" charset="-120"/>
              </a:rPr>
              <a:t>github.com/open-telemetry/opentelemetry-php-contrib</a:t>
            </a:r>
            <a:endParaRPr lang="en-US" sz="1300" dirty="0"/>
          </a:p>
        </p:txBody>
      </p:sp>
      <p:sp>
        <p:nvSpPr>
          <p:cNvPr id="13" name="Shape 11"/>
          <p:cNvSpPr/>
          <p:nvPr/>
        </p:nvSpPr>
        <p:spPr>
          <a:xfrm>
            <a:off x="812800" y="4084315"/>
            <a:ext cx="10566400" cy="589280"/>
          </a:xfrm>
          <a:prstGeom prst="roundRect">
            <a:avLst>
              <a:gd name="adj" fmla="val 12931"/>
            </a:avLst>
          </a:prstGeom>
          <a:solidFill>
            <a:srgbClr val="1B212C"/>
          </a:solidFill>
          <a:ln/>
        </p:spPr>
      </p:sp>
      <p:sp>
        <p:nvSpPr>
          <p:cNvPr id="14" name="Text 12"/>
          <p:cNvSpPr/>
          <p:nvPr/>
        </p:nvSpPr>
        <p:spPr>
          <a:xfrm>
            <a:off x="1016000" y="4236715"/>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Pacotes no Packagist</a:t>
            </a:r>
            <a:endParaRPr lang="en-US" sz="1600" dirty="0"/>
          </a:p>
        </p:txBody>
      </p:sp>
      <p:sp>
        <p:nvSpPr>
          <p:cNvPr id="15" name="Text 13"/>
          <p:cNvSpPr/>
          <p:nvPr/>
        </p:nvSpPr>
        <p:spPr>
          <a:xfrm>
            <a:off x="3886200" y="4263405"/>
            <a:ext cx="7508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3CC8B4"/>
                </a:solidFill>
                <a:latin typeface="JetBrains Mono" pitchFamily="49" charset="0"/>
                <a:ea typeface="JetBrains Mono" pitchFamily="49" charset="-122"/>
                <a:cs typeface="JetBrains Mono" pitchFamily="49" charset="-120"/>
              </a:rPr>
              <a:t>open-telemetry/opentelemetry-auto-laravel</a:t>
            </a:r>
            <a:endParaRPr lang="en-US" sz="1300" dirty="0"/>
          </a:p>
        </p:txBody>
      </p:sp>
      <p:sp>
        <p:nvSpPr>
          <p:cNvPr id="16" name="Shape 14"/>
          <p:cNvSpPr/>
          <p:nvPr/>
        </p:nvSpPr>
        <p:spPr>
          <a:xfrm>
            <a:off x="812800" y="4800600"/>
            <a:ext cx="10566400" cy="589280"/>
          </a:xfrm>
          <a:prstGeom prst="roundRect">
            <a:avLst>
              <a:gd name="adj" fmla="val 12931"/>
            </a:avLst>
          </a:prstGeom>
          <a:solidFill>
            <a:srgbClr val="1B212C"/>
          </a:solidFill>
          <a:ln/>
        </p:spPr>
      </p:sp>
      <p:sp>
        <p:nvSpPr>
          <p:cNvPr id="17" name="Text 15"/>
          <p:cNvSpPr/>
          <p:nvPr/>
        </p:nvSpPr>
        <p:spPr>
          <a:xfrm>
            <a:off x="1016000" y="4953000"/>
            <a:ext cx="274701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Código desta demo</a:t>
            </a:r>
            <a:endParaRPr lang="en-US" sz="1600" dirty="0"/>
          </a:p>
        </p:txBody>
      </p:sp>
      <p:sp>
        <p:nvSpPr>
          <p:cNvPr id="18" name="Text 16"/>
          <p:cNvSpPr/>
          <p:nvPr/>
        </p:nvSpPr>
        <p:spPr>
          <a:xfrm>
            <a:off x="3886200" y="4979665"/>
            <a:ext cx="7508494" cy="25654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7A3D"/>
                </a:solidFill>
                <a:latin typeface="JetBrains Mono" pitchFamily="49" charset="0"/>
                <a:ea typeface="JetBrains Mono" pitchFamily="49" charset="-122"/>
                <a:cs typeface="JetBrains Mono" pitchFamily="49" charset="-120"/>
              </a:rPr>
              <a:t>Jhousyfran/php-conference-2026-demo</a:t>
            </a:r>
            <a:endParaRPr lang="en-US" sz="1300" dirty="0"/>
          </a:p>
        </p:txBody>
      </p:sp>
      <p:sp>
        <p:nvSpPr>
          <p:cNvPr id="19" name="Text 17"/>
          <p:cNvSpPr/>
          <p:nvPr/>
        </p:nvSpPr>
        <p:spPr>
          <a:xfrm>
            <a:off x="812800" y="6238255"/>
            <a:ext cx="78486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A93A3"/>
                </a:solidFill>
                <a:latin typeface="IBM Plex Sans" pitchFamily="34" charset="0"/>
                <a:ea typeface="IBM Plex Sans" pitchFamily="34" charset="-122"/>
                <a:cs typeface="IBM Plex Sans" pitchFamily="34" charset="-120"/>
              </a:rPr>
              <a:t>Encerramento · Recursos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1141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FF7A3D"/>
                </a:solidFill>
                <a:latin typeface="JetBrains Mono" pitchFamily="49" charset="0"/>
                <a:ea typeface="JetBrains Mono" pitchFamily="49" charset="-122"/>
                <a:cs typeface="JetBrains Mono" pitchFamily="49" charset="-120"/>
              </a:rPr>
              <a:t>PERGUNTAS?</a:t>
            </a:r>
            <a:endParaRPr lang="en-US" sz="1400" dirty="0"/>
          </a:p>
        </p:txBody>
      </p:sp>
      <p:sp>
        <p:nvSpPr>
          <p:cNvPr id="3" name="Text 1"/>
          <p:cNvSpPr/>
          <p:nvPr>
            <p:ph type="title"/>
          </p:nvPr>
        </p:nvSpPr>
        <p:spPr>
          <a:xfrm>
            <a:off x="812800" y="2384425"/>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3F0E8"/>
                </a:solidFill>
                <a:latin typeface="IBM Plex Sans" pitchFamily="34" charset="0"/>
                <a:ea typeface="IBM Plex Sans" pitchFamily="34" charset="-122"/>
                <a:cs typeface="IBM Plex Sans" pitchFamily="34" charset="-120"/>
              </a:rPr>
              <a:t>Obrigado!</a:t>
            </a:r>
            <a:endParaRPr lang="en-US" sz="6000" dirty="0"/>
          </a:p>
        </p:txBody>
      </p:sp>
      <p:sp>
        <p:nvSpPr>
          <p:cNvPr id="4" name="Text 2"/>
          <p:cNvSpPr/>
          <p:nvPr/>
        </p:nvSpPr>
        <p:spPr>
          <a:xfrm>
            <a:off x="812800" y="3387725"/>
            <a:ext cx="10883392"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BFC7D5"/>
                </a:solidFill>
                <a:latin typeface="IBM Plex Sans" pitchFamily="34" charset="0"/>
                <a:ea typeface="IBM Plex Sans" pitchFamily="34" charset="-122"/>
                <a:cs typeface="IBM Plex Sans" pitchFamily="34" charset="-120"/>
              </a:rPr>
              <a:t>De var_dump e reza a trace e certeza.</a:t>
            </a:r>
            <a:endParaRPr lang="en-US" sz="2200" dirty="0"/>
          </a:p>
        </p:txBody>
      </p:sp>
      <p:sp>
        <p:nvSpPr>
          <p:cNvPr id="5" name="Text 3"/>
          <p:cNvSpPr/>
          <p:nvPr/>
        </p:nvSpPr>
        <p:spPr>
          <a:xfrm>
            <a:off x="812800" y="5059685"/>
            <a:ext cx="10883392"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3F0E8"/>
                </a:solidFill>
                <a:latin typeface="IBM Plex Sans" pitchFamily="34" charset="0"/>
                <a:ea typeface="IBM Plex Sans" pitchFamily="34" charset="-122"/>
                <a:cs typeface="IBM Plex Sans" pitchFamily="34" charset="-120"/>
              </a:rPr>
              <a:t>Jhousyfran Costa</a:t>
            </a:r>
            <a:endParaRPr lang="en-US" sz="1600" dirty="0"/>
          </a:p>
        </p:txBody>
      </p:sp>
      <p:sp>
        <p:nvSpPr>
          <p:cNvPr id="6" name="Text 4"/>
          <p:cNvSpPr/>
          <p:nvPr/>
        </p:nvSpPr>
        <p:spPr>
          <a:xfrm>
            <a:off x="812800" y="544577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FC7D5"/>
                </a:solidFill>
                <a:latin typeface="IBM Plex Sans" pitchFamily="34" charset="0"/>
                <a:ea typeface="IBM Plex Sans" pitchFamily="34" charset="-122"/>
                <a:cs typeface="IBM Plex Sans" pitchFamily="34" charset="-120"/>
              </a:rPr>
              <a:t>DevOps/SRE · consultoria em DevOps e FinOps</a:t>
            </a:r>
            <a:endParaRPr lang="en-US" sz="1400" dirty="0"/>
          </a:p>
        </p:txBody>
      </p:sp>
      <p:sp>
        <p:nvSpPr>
          <p:cNvPr id="7" name="Text 5"/>
          <p:cNvSpPr/>
          <p:nvPr/>
        </p:nvSpPr>
        <p:spPr>
          <a:xfrm>
            <a:off x="812800" y="5796285"/>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CC8B4"/>
                </a:solidFill>
                <a:latin typeface="JetBrains Mono" pitchFamily="49" charset="0"/>
                <a:ea typeface="JetBrains Mono" pitchFamily="49" charset="-122"/>
                <a:cs typeface="JetBrains Mono" pitchFamily="49" charset="-120"/>
              </a:rPr>
              <a:t>@deploypro.br · /in/jhousyfran · jhousyfrancosta@gmail.com</a:t>
            </a:r>
            <a:endParaRPr lang="en-US" sz="1400" dirty="0"/>
          </a:p>
        </p:txBody>
      </p:sp>
    </p:spTree>
  </p:cSld>
  <p:clrMapOvr>
    <a:masterClrMapping/>
  </p:clrMapOvr>
</p:sld>
</file>

<file path=ppt/theme/theme1.xml><?xml version="1.0" encoding="utf-8"?>
<a:theme xmlns:a="http://schemas.openxmlformats.org/drawingml/2006/main" name="500 Internal Server Error: E Agora?">
  <a:themeElements>
    <a:clrScheme name="500 Internal Server Error: E Agora?">
      <a:dk1>
        <a:srgbClr val="11141B"/>
      </a:dk1>
      <a:lt1>
        <a:srgbClr val="F3F0E8"/>
      </a:lt1>
      <a:dk2>
        <a:srgbClr val="282A30"/>
      </a:dk2>
      <a:lt2>
        <a:srgbClr val="BBB9B5"/>
      </a:lt2>
      <a:accent1>
        <a:srgbClr val="FF7A3D"/>
      </a:accent1>
      <a:accent2>
        <a:srgbClr val="3CC8B4"/>
      </a:accent2>
      <a:accent3>
        <a:srgbClr val="C2410C"/>
      </a:accent3>
      <a:accent4>
        <a:srgbClr val="0F766E"/>
      </a:accent4>
      <a:accent5>
        <a:srgbClr val="7CCFC3"/>
      </a:accent5>
      <a:accent6>
        <a:srgbClr val="6C7A96"/>
      </a:accent6>
      <a:hlink>
        <a:srgbClr val="0563C1"/>
      </a:hlink>
      <a:folHlink>
        <a:srgbClr val="954F72"/>
      </a:folHlink>
    </a:clrScheme>
    <a:fontScheme name="500 Internal Server Error: E Agor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500 Internal Server Error: E Agora?</dc:title>
  <dc:subject/>
  <dc:creator/>
  <cp:lastModifiedBy/>
  <cp:revision>1</cp:revision>
  <dcterms:created xsi:type="dcterms:W3CDTF">2026-10-24T10:58:33Z</dcterms:created>
  <dcterms:modified xsi:type="dcterms:W3CDTF">2026-10-24T10:58:33Z</dcterms:modified>
</cp:coreProperties>
</file>